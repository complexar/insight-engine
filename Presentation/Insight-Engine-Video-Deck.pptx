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Engine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841248" y="2148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you can defend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2697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when investigating Complex Scenarios and Wicked Problems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41248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6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stands on · how it's built · how it runs · how you steer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4343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9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a Claude Code &amp; Claude Cowork plugin    ·    v0.1.8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C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+ ENGINE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part of the name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303520" cy="254203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627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— the seeing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157984"/>
            <a:ext cx="4800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what is actually happening — the cost moved out of view, the party with no say, the assumption no one questions any more. On a capable LLM, most of this comes from the LLM; the engine's fixed questioning aims it where attention does not naturally go.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81344" y="1481328"/>
            <a:ext cx="5367528" cy="2542032"/>
          </a:xfrm>
          <a:prstGeom prst="roundRect">
            <a:avLst>
              <a:gd name="adj" fmla="val 2878"/>
            </a:avLst>
          </a:prstGeom>
          <a:solidFill>
            <a:srgbClr val="E9F5EE"/>
          </a:solidFill>
          <a:ln w="12700">
            <a:solidFill>
              <a:srgbClr val="A9CBB6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55664" y="16276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the processing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55664" y="2157984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each finding through the same steps every time: verify each claim against an outside source, search for what would prove it wrong, separate fact from value, and return the judgement calls to you — then assemble a graded, defensible brief.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08792" cy="1060704"/>
          </a:xfrm>
          <a:prstGeom prst="roundRect">
            <a:avLst>
              <a:gd name="adj" fmla="val 6897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0120" y="4160520"/>
            <a:ext cx="102412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establishes what is true and important.  The Engine establishes how strongly it is known — and turns it into an analysis you can defend.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PURPOSE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Insight Engine is built to 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10896" cy="310896"/>
          </a:xfrm>
          <a:prstGeom prst="ellipse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hidden — the material things that sit where attention doesn't go.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310896" cy="310896"/>
          </a:xfrm>
          <a:prstGeom prst="ellipse">
            <a:avLst/>
          </a:prstGeom>
          <a:solidFill>
            <a:srgbClr val="2F7A5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65176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conventional analysis misses on complex, ill-defined problems.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310896" cy="310896"/>
          </a:xfrm>
          <a:prstGeom prst="ellipse">
            <a:avLst/>
          </a:prstGeom>
          <a:solidFill>
            <a:srgbClr val="C478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5204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the field for the non-specialist — expert-grade rigour, applied for you.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" y="4434840"/>
            <a:ext cx="310896" cy="310896"/>
          </a:xfrm>
          <a:prstGeom prst="ellipse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389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first, then assurance — every finding verified, graded, and defensible.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APPLIES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scenarios &amp; wicked problems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6002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Post-incident &amp; failure reviews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really went wrong, beneath the official account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81344" y="14813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37376" y="16002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Regulatory, contract &amp; compliance disputes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37376" y="19385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contested obligations and exposure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3957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25146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incidents &amp; threats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28529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reached — and what is still exposed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23957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37376" y="25146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&amp; investment under deep uncertainty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28529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high-stakes calls with mixed, interested evidence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3101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34290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Healthcare, infrastructure &amp; policy decisions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6112" y="37673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third parties are bound by the outcome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81344" y="33101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37376" y="34290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Financial-crime &amp; AML scoping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37376" y="37673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in scope, and what is being assumed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2245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96112" y="43434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Geopolitical &amp; security assessments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96112" y="46817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that must not over-claim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81344" y="42245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37376" y="43434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&amp; interpersonal conflict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37376" y="46817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interests and harms beneath the dispute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PRINCIPLES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engine stands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310896" cy="310896"/>
          </a:xfrm>
          <a:prstGeom prst="ellipse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508760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provides the insight; the engine assures it.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31520" y="2322576"/>
            <a:ext cx="310896" cy="310896"/>
          </a:xfrm>
          <a:prstGeom prst="ellipse">
            <a:avLst/>
          </a:prstGeom>
          <a:solidFill>
            <a:srgbClr val="2F7A5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276856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Grade-lock — every claim marked [V] or [N], set once, never silently changed.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31520" y="3090672"/>
            <a:ext cx="310896" cy="310896"/>
          </a:xfrm>
          <a:prstGeom prst="ellipse">
            <a:avLst/>
          </a:prstGeom>
          <a:solidFill>
            <a:srgbClr val="2F7A5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044952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Disconfirmation — it searches for what would prove each claim wrong.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" y="3858768"/>
            <a:ext cx="310896" cy="310896"/>
          </a:xfrm>
          <a:prstGeom prst="ellipse">
            <a:avLst/>
          </a:prstGeom>
          <a:solidFill>
            <a:srgbClr val="C4781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8130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separated from value — and the value calls routed to you.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31520" y="4626864"/>
            <a:ext cx="310896" cy="310896"/>
          </a:xfrm>
          <a:prstGeom prst="ellipse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" y="4626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581144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Proportionate — light by default, deep only when the problem demands it.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engine is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818120" y="384048"/>
            <a:ext cx="3703320" cy="47548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 w="12700">
            <a:solidFill>
              <a:srgbClr val="9CC0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18120" y="3840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Architected to ICD-203 · 9 standards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10908792" cy="457200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4173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 PROPORTIONALITY TRIAGE  —  decides how much machinery to run at all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057400"/>
            <a:ext cx="10908792" cy="2788920"/>
          </a:xfrm>
          <a:prstGeom prst="roundRect">
            <a:avLst>
              <a:gd name="adj" fmla="val 2623"/>
            </a:avLst>
          </a:prstGeom>
          <a:solidFill>
            <a:srgbClr val="FBFCF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ENGINE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228600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87552" y="235000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87552" y="235000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64208" y="2286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Provocation page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283464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87552" y="289864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7552" y="289864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64208" y="2834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914400" y="338328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87552" y="344728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7552" y="344728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L2.5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64208" y="3383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pass  · conditional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914400" y="393192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87552" y="399592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87552" y="399592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664208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Deep-core routing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263640" y="228600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DF1DF"/>
          </a:solidFill>
          <a:ln w="19050">
            <a:solidFill>
              <a:srgbClr val="C4781A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336792" y="235000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C4781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336792" y="235000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13448" y="2286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forced gate  · YOU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6263640" y="283464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336792" y="289864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336792" y="289864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13448" y="2834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— the brief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263640" y="338328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336792" y="344728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336792" y="344728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13448" y="3383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6263640" y="393192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336792" y="399592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336792" y="399592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013448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914400" y="4498848"/>
            <a:ext cx="9692640" cy="2743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BCC7D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914400" y="448056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 · Strong model — the substrate that provides the insight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0080" y="4937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together by one invariant: the GRADE-LOCK SPINE — grades set once, never silently changed.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runtime, step by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64792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276856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 the effort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505456" y="1746504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505456" y="1746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236976" y="160020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47872" y="160020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730752" y="1764792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30752" y="2276856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what hides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13248" y="1746504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13248" y="1746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60020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55664" y="160020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638544" y="1764792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38544" y="2276856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every claim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321040" y="1746504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321040" y="1746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52560" y="160020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363456" y="160020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546336" y="1764792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pass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546336" y="2276856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it's dynamic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1228832" y="1746504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1228832" y="1746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L2.5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" y="3355848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22960" y="352044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Deep-core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2960" y="4032504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aside the un-answerable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2505456" y="350215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05456" y="3502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36976" y="3355848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3547872" y="3355848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730752" y="352044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Grade-lock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730752" y="4032504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+ stress-test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5413248" y="350215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413248" y="3502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44768" y="3355848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6455664" y="3355848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DF1DF"/>
          </a:solidFill>
          <a:ln w="25400">
            <a:solidFill>
              <a:srgbClr val="C4781A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638544" y="352044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638544" y="4032504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judgment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8321040" y="350215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C4781A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321040" y="3502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052560" y="3355848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363456" y="3355848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9546336" y="352044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brief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546336" y="4032504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 · what flips it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11228832" y="350215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1228832" y="3502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40080" y="50292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tags map to the architecture layers (L1–L4); the triage, spine and gate sit alongside them.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GATE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questions it puts to you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70078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121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really being decided here?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181344" y="15544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55664" y="170078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Legitimacy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55664" y="2121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bound by this without a say?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302666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cost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4472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roads not taken — what is given up?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181344" y="288036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55664" y="302666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55664" y="34472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value is being traded against which?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0080" y="434340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60120" y="43434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take a one-line position on each — or defer — and you may override its framing. It will not finalise until you do.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 — and how you steer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brief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084832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— how sure, what changes it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unknown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verify first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flip the call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181344" y="1417320"/>
            <a:ext cx="5367528" cy="2743200"/>
          </a:xfrm>
          <a:prstGeom prst="roundRect">
            <a:avLst>
              <a:gd name="adj" fmla="val 2667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55664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steer 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55664" y="2084832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framing at the gate</a:t>
            </a:r>
            <a:endParaRPr lang="en-US" sz="15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on any weak grade ([V3] or [N])</a:t>
            </a:r>
            <a:endParaRPr lang="en-US" sz="15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— keep it live as new facts arrive</a:t>
            </a:r>
            <a:endParaRPr lang="en-US" sz="15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— re-voice for any audience, grades intact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4315968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EEF4FF"/>
          </a:solidFill>
          <a:ln w="12700">
            <a:solidFill>
              <a:srgbClr val="C2D4F0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442569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for a specific reader: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4736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Adviser / Advocate     ·     Board     ·     Regulator     ·     Counsel     ·     Family     ·     Adversarial opponent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Verified. Defensible. Yours to steer.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41248" y="2606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free, open plugin for Claude Code &amp; Cowork.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41248" y="33375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6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download from the GitHub repo: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41248" y="3886200"/>
            <a:ext cx="5852160" cy="566928"/>
          </a:xfrm>
          <a:prstGeom prst="roundRect">
            <a:avLst>
              <a:gd name="adj" fmla="val 5000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38862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github.com/ComplexAR/Insight-Engine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C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Insight Engine</dc:creator>
  <cp:lastModifiedBy>Insight Engine</cp:lastModifiedBy>
  <cp:revision>1</cp:revision>
  <dcterms:created xsi:type="dcterms:W3CDTF">2026-06-30T10:45:40Z</dcterms:created>
  <dcterms:modified xsi:type="dcterms:W3CDTF">2026-06-30T10:45:40Z</dcterms:modified>
</cp:coreProperties>
</file>