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Insight Engine — a tool for analysis you can actually defend. The idea behind it fits in one sentence: the language model supplies the insight; the engine makes that insight verified, graded, and honest about its own limits. It doesn't try to think better than the model. It makes the model show its work — and checks that work against the world.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walk it, here is the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Insight from the model; verification, assurance, and adjudication from the engine.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confident guess is not verified evidence. High-stakes, complex, or wicked problems — the ones with no clean solution — tend to share three features. The things that matter most hide — they sit where attention doesn't naturally go. The evidence is mixed, or it comes from people with a stake in the answer. And the questions that actually decide the outcome are value judgments, which no amount of analysis can settle for you. Hand a problem like that to a strong model and you get a fluent, confident answer. But fluent isn't the same as verified — and it certainly isn't the same as defensible.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engine's move isn't to be smarter — it's to be more honest, and it has two jobs, not one. The first is to reveal what's hidden: the voice that's absent, the fact that's been normalised until no one questions it, the thing left conspicuously out — some of it simply missed, some kept out of view on purpose. The second is to verify what's there: check what can be checked, grade how strongly each checkable claim stands, and try to break its own findings. Seeing and checking — and then it makes you own the value calls, instead of quietly making them for you. Everything that follows serves those two jobs.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S4 overview note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thing it does is decide how hard to look. Not every question deserves the full machine — but that call is deliberately fail-safe. Depth is the default. It only scales down when a problem is unambiguously routine, reversible, and binds nobody. If there's any doubt at all — anything irreversible, anyone affected who isn't in the room, real money, legal exposure, or a party who benefits from light scrutiny — it runs the full method. A little over-analysis is cheap. Treating a serious problem as routine is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S5b scoping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before it verifies anything, it goes hunting for your blind spots — the things a fluent first reading glides straight past. This is the provocation pass — a disciplined set of probes, a couple always run and the rest chosen to fit the case, aimed at what the page hides and at what it quietly smuggles in. Whose voice is absent? Who benefits from the way the problem's been framed? What's being treated as normal that shouldn't be? And hardest of all — what's conspicuously missing: the document that isn't there, the question nobody asked? Some of what matters is simply overlooked; some is kept out of view by someone it would inconvenience. Either way, the engine's job here is to make the invisible visible — then it steelmans your strongest findings and names everyone the outcome materially touches, including those not in the room — so you decide with the whole picture, not the convenient part of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it verifies. Every claim the conclusion leans on gets sorted into one of three: a public fact that can be checked, a private document only some party holds, or a value that no evidence can settle. The checkable ones are searched and graded. V, for verified, means independently corroborated. N, for not, means not independently verified — including when a claim rests only on an interested party's own account. And every V carries a strength tier — V1 primary, V2 secondary, V3 weak or contested. Here's the part the engine is careful about: a tier marks how close a source is, not how far you should trust it. A company's own incident report is a primary document — but on a claim that company has a stake in, its own paperwork does not earn a V1. That grade has to come from something independent. And once verification is complete — including the disconfirmation pass you'll see next — the grades lock: nothing downstream can change them, only restate them. That's what lets the analysis hold up after the fact.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does a load-bearing claim get its grade? First it's routed. Is it a public fact you can check, a private document some party holds, or a judgement call — a value, a framing, a forecast — that no search can settle? The judgement call is handed to you; the private document is parked with a note of exactly what would settle it. A public fact gets searched — against independent current sources. If it's backed by a primary source independent of any interested party — the regulation itself, the official statistic, the ruling — that's V1. Reputable reporting resting on those is V2. If independent backing exists but it's weak, or credible sources genuinely disagree, it's V3. If the search turns up nothing independent behind it — including when all it rests on is an interested party's own account — it's N. Then each of those claims is disconfirmed — searched at its own negation, which can pull a grade down — and only then does it lock. That's the machine: route, search, tier by strength and independence, try to break it, lock.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alone isn't enough, because a single confirming search is exactly how a wrong fact survives. So for every claim the conclusion really rests on, the engine runs a second search — aimed at the opposite. It actively hunts for the evidence that would break the claim. If credible counter-evidence of comparable weight turns up, the claim is downgraded and the dispute is recorded. If a genuine search for the negation finds nothing, the claim is marked as having survived — but only when the support comes from at least two independent sources. If it all traces back to a single origin echoed around, that's flagged as unopposed, not survived. This is the direct counter to confirmation bias — the failure mode any single-pass search quietly invites.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problems aren't a list of facts — they're a structure that feeds back on itself. When a problem shows more than one signature of real feedback — loops, delays, things that accumulate, a possible tipping point — the engine runs a conditional systems pass. It maps the problem as causal links, marks the reinforcing and balancing loops, and names where a small push would move the most. But it holds a hard line: the map is a hypothesis to investigate, not a simulation to trust. It will tell you a loop exists; it will not tell you, as established fact, which loop wins — that routes back to you. And it states plainly whose framing the map takes and who is affected but missing from it. A tidy map that hides its own blind spot is false precision — and the engine treats that as a failure, not thoroughness.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deep-core routing.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grade-lock and resilience.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comes the one step the engine refuses to take from you. Running underneath every hard problem are questions no evidence can settle — how the decision is framed, who is bound by it without a say, what you are willing to trade against what. The engine separates those out, and instead of answering them, it stops and hands them to you, one at a time, and won't finalise until you take a position — or explicitly defer, which is logged, not ignored. Why force it? Because controlled testing showed that merely showing a decision-maker these questions doesn't work — they read them, then drift back to the verifiable. Being made to answer is what actually gets them addressed. The engine articulates the questions; you own the judgment.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your positions on the record, it assembles the brief — not an essay, but a short brief you can act on. First the call — and where the problem is wicked, that call is a provisional stance, marked re-openable, not a verdict. Then, kept deliberately apart, two kinds of confidence people usually blur together: how solid the evidence is — naming the single weakest grade the call leans on — and whether the action will actually work, which can fail even when every fact is rock-solid. Then the one unknown that would most move the answer; the cheapest thing to check next; and what would flip the call, written as a plain condition — “I am treating this as true; if it's false, the call reverses.” Every hedge has to name what it depends on. A caveat that points at nothing isn't allowed.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is that second pass actually invoked? As a subagent — a separate agent with its own isolated context, handed the facts and the grade-locked spine from the Anthropic model's analysis, but not that model's reasoning, so it can't anchor on it. Be clear on one thing: adjudication always uses two or more models. The different-lab model never runs on its own — it checks the work of the Anthropic frontier model that produced the analysis. It runs blind first — re-derive, and see if it reaches the same call — then adversarial: try to break the load-bearing claims and the call. It hands back a list of discrepancies, which fold in under grade-lock; you still own the final call. The rung it runs on depends on what is set up, strongest first. Strongest is a different-lab model — GPT-5.6 Sol, or GPT-5.5 while Sol is in limited preview — because a different training lineage gives the most decorrelated blind spots; it is built and live-verified, opt-in and off by default, and blocked by default for confidential or legal matters — overridable only by a deliberate, logged act. Next best is a different in-house model like Fable 5. If neither is set up, run a panel of two or more blind Opus instances and read where they diverge — a same-model cross-check, not independent adjudication. Weakest of all, a self-adversarial reset. Every rung is opt-in and costs credits or setup, so nothing runs on its own. Whichever rung it lands on, the engine should say so — because same-model agreement is stability, not proof.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second pass doesn't redo the whole analysis — it goes where judgment, not fact, decides the answer: the claims graded weak or uncorroborated, the disconfirmation verdicts, any allocation of blame, the value questions at the gate, which loop dominates. There it reliably sharpens — catching where a dominance claim isn't yet established, where an exonerating metric is itself confounded, where an argument contradicts itself — and it does so without reversing a sound call. One caveat from testing: it is verbose, so rank its objections and surface only the few that would actually change the decision.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thing about that second pass before we step back to the model itself: you are in control of all of it, and it is honest about when it is not needed. Every part is switchable, and nothing is locked — whether it is offered at all, which rung runs, how many Opus instances, how many different labs, how many runs each. All yours to set, standing or per run. The governance is asked-first: before anything leaves Anthropic's boundary, the engine asks whether the matter is privileged or confidential, and shows you the exact redacted package to confirm, edit, or cancel. A privileged block is the default, and it lifts only by a deliberate, logged act — never silently. This is a personal-use tool: you own even the boundary decision. And the layer is honest about its own worth: every real run is logged to a use-monitor, and a pre-registered, per-class rule reads that ledger — if a whole class of problem shows no decision-relevant catches over enough runs, the rule recommends demoting adjudication to on-request for that class — reversible, and still spot-audited — deciding from real use rather than argument where it no longer adds decision value.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practical question: which model should run this? The engine is designed for a strong model — a top-tier frontier model for execution, because nearly every step leans on the model's own reasoning: judging a source, running a real search for counter-evidence, catching its own confident mistakes. In building the engine we ran it on Opus 4.8. But for the highest-stakes work — legal exposure, contested blame, a decision that binds people — add a second pass: a different frontier model, brought in to adjudicate. We used Fable 5. Here's the honest, tested part: its benefit at catching an error the disciplined first pass missed is unproven — on our own testing, the first pass already caught the constructible ones. What the second pass does do, reliably and safely, is sharpen a sound analysis: it flags where a load-bearing claim isn't yet established, without corrupting a correct call. Treat it as a rigour-and-defensibility check, not a safety net.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other direction — what if you run it on a weaker model? The scaffolding survives: the gate still makes you own the value calls, the grades and caveats still travel. But what fills that scaffold degrades. A weaker model grades sources less reliably, runs a thinner search for counter-evidence, and carries more confident errors while being worse at catching them — and the engine relies on the model catching itself. The warning worth stating plainly: the engine cannot add reasoning the model doesn't have. It disciplines and exposes the model's work; it does not rescue it. And its own polish is a risk — the grades and caveats can make a weak answer look more defensible than it is. The assurance is only ever as good as the model underneath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this runs through five commands. Analyse runs the whole pipeline you've just seen. Verify runs the fact-checking layer on its own — a set of claims, or a single premise you want pressure-tested. Render re-voices a finished analysis for a particular reader — a board, a regulator, opposing counsel, a family — without ever changing a claim or a grade to suit the audience, and carrying a core of caveats no version is allowed to drop. Track keeps an investigation alive as new facts arrive, re-verifying the spine and telling you if the call has moved. And adjudicate is the opt-in independent second pass — the L4.5 layer — that brings in one or more separate models to check a finished high-stakes analysis.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S14b render note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S14c track note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this is invented from nothing. The engine is architected around ICD 203 — the U.S. intelligence community's Analytic Standards directive — and specifically its nine analytic tradecraft standards: describing the quality of sources, expressing uncertainty, separating evidence from judgment, weighing alternatives. In a blind assessment against those nine standards, the engine scored ninety-two percent, where a strong model unaided scored seventy-five. To be honest about what that is: it's architected around ICD 203 and assessed once — not a formal certification. The number is a signal, not a seal.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 bring it your hardest problem. It's an open plug-in for Claude Code and Cowork. Hand it a real problem, let the gate make you take a position, and get back an analysis you can stand behind.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822960" y="1188720"/>
            <a:ext cx="10515600" cy="640080"/>
          </a:xfrm>
          <a:prstGeom prst="rect">
            <a:avLst/>
          </a:prstGeom>
          <a:noFill/>
        </p:spPr>
        <p:txBody>
          <a:bodyPr wrap="square" anchor="t" lIns="0" rIns="0" tIns="0" bIns="0">
            <a:spAutoFit/>
          </a:bodyPr>
          <a:lstStyle/>
          <a:p>
            <a:pPr algn="l"/>
            <a:r>
              <a:rPr sz="3000" b="1" i="0">
                <a:solidFill>
                  <a:srgbClr val="D97757"/>
                </a:solidFill>
                <a:latin typeface="Arial"/>
              </a:rPr>
              <a:t>Insight Engine</a:t>
            </a:r>
          </a:p>
        </p:txBody>
      </p:sp>
      <p:sp>
        <p:nvSpPr>
          <p:cNvPr id="3" name="TextBox 2"/>
          <p:cNvSpPr txBox="1"/>
          <p:nvPr/>
        </p:nvSpPr>
        <p:spPr>
          <a:xfrm>
            <a:off x="804672" y="1965960"/>
            <a:ext cx="10607040" cy="1280160"/>
          </a:xfrm>
          <a:prstGeom prst="rect">
            <a:avLst/>
          </a:prstGeom>
          <a:noFill/>
        </p:spPr>
        <p:txBody>
          <a:bodyPr wrap="square" anchor="t" lIns="0" rIns="0" tIns="0" bIns="0">
            <a:spAutoFit/>
          </a:bodyPr>
          <a:lstStyle/>
          <a:p>
            <a:pPr algn="l"/>
            <a:r>
              <a:rPr sz="5400" b="1" i="0">
                <a:solidFill>
                  <a:srgbClr val="141413"/>
                </a:solidFill>
                <a:latin typeface="Arial"/>
              </a:rPr>
              <a:t>Analysis defended with assurance.</a:t>
            </a:r>
          </a:p>
        </p:txBody>
      </p:sp>
      <p:sp>
        <p:nvSpPr>
          <p:cNvPr id="4" name="TextBox 3"/>
          <p:cNvSpPr txBox="1"/>
          <p:nvPr/>
        </p:nvSpPr>
        <p:spPr>
          <a:xfrm>
            <a:off x="841248" y="3794760"/>
            <a:ext cx="9966960" cy="1554480"/>
          </a:xfrm>
          <a:prstGeom prst="rect">
            <a:avLst/>
          </a:prstGeom>
          <a:noFill/>
        </p:spPr>
        <p:txBody>
          <a:bodyPr wrap="square" anchor="t" lIns="0" rIns="0" tIns="0" bIns="0">
            <a:spAutoFit/>
          </a:bodyPr>
          <a:lstStyle/>
          <a:p>
            <a:pPr algn="l">
              <a:spcAft>
                <a:spcPts val="600"/>
              </a:spcAft>
            </a:pPr>
            <a:r>
              <a:rPr sz="2200" b="1" i="0">
                <a:solidFill>
                  <a:srgbClr val="4A453D"/>
                </a:solidFill>
                <a:latin typeface="Arial"/>
              </a:rPr>
              <a:t>Insight</a:t>
            </a:r>
            <a:r>
              <a:rPr sz="2200" b="0" i="0">
                <a:solidFill>
                  <a:srgbClr val="4A453D"/>
                </a:solidFill>
                <a:latin typeface="Arial"/>
              </a:rPr>
              <a:t> supplied by a Large Language Model;</a:t>
            </a:r>
          </a:p>
          <a:p>
            <a:pPr algn="l">
              <a:spcAft>
                <a:spcPts val="600"/>
              </a:spcAft>
            </a:pPr>
            <a:r>
              <a:rPr sz="2200" b="1" i="0">
                <a:solidFill>
                  <a:srgbClr val="4A453D"/>
                </a:solidFill>
                <a:latin typeface="Arial"/>
              </a:rPr>
              <a:t>Engine</a:t>
            </a:r>
            <a:r>
              <a:rPr sz="2200" b="0" i="0">
                <a:solidFill>
                  <a:srgbClr val="4A453D"/>
                </a:solidFill>
                <a:latin typeface="Arial"/>
              </a:rPr>
              <a:t> makes that insight verified, defensible, and audience-ready.</a:t>
            </a:r>
          </a:p>
        </p:txBody>
      </p:sp>
      <p:sp>
        <p:nvSpPr>
          <p:cNvPr id="5" name="TextBox 4"/>
          <p:cNvSpPr txBox="1"/>
          <p:nvPr/>
        </p:nvSpPr>
        <p:spPr>
          <a:xfrm>
            <a:off x="841248" y="5943600"/>
            <a:ext cx="10241280" cy="365760"/>
          </a:xfrm>
          <a:prstGeom prst="rect">
            <a:avLst/>
          </a:prstGeom>
          <a:noFill/>
        </p:spPr>
        <p:txBody>
          <a:bodyPr wrap="square" anchor="t" lIns="0" rIns="0" tIns="0" bIns="0">
            <a:spAutoFit/>
          </a:bodyPr>
          <a:lstStyle/>
          <a:p>
            <a:pPr algn="l"/>
            <a:r>
              <a:rPr sz="1600" b="0" i="0">
                <a:solidFill>
                  <a:srgbClr val="8A8578"/>
                </a:solidFill>
                <a:latin typeface="Arial"/>
              </a:rPr>
              <a:t>An open plugin for Claude Code &amp; Cowork   ·   v0.1.17</a:t>
            </a:r>
          </a:p>
        </p:txBody>
      </p:sp>
      <p:sp>
        <p:nvSpPr>
          <p:cNvPr id="6" name="TextBox 5"/>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MAP</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One architecture — here is the whole of it.</a:t>
            </a:r>
          </a:p>
        </p:txBody>
      </p:sp>
      <p:sp>
        <p:nvSpPr>
          <p:cNvPr id="4" name="Rounded Rectangle 3"/>
          <p:cNvSpPr/>
          <p:nvPr/>
        </p:nvSpPr>
        <p:spPr>
          <a:xfrm>
            <a:off x="640080" y="1645920"/>
            <a:ext cx="5303520" cy="1591056"/>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10512"/>
            <a:ext cx="4754880" cy="457200"/>
          </a:xfrm>
          <a:prstGeom prst="rect">
            <a:avLst/>
          </a:prstGeom>
          <a:noFill/>
        </p:spPr>
        <p:txBody>
          <a:bodyPr wrap="square" anchor="t" lIns="0" rIns="0" tIns="0" bIns="0">
            <a:spAutoFit/>
          </a:bodyPr>
          <a:lstStyle/>
          <a:p>
            <a:pPr algn="l"/>
            <a:r>
              <a:rPr sz="1500" b="1" i="0">
                <a:solidFill>
                  <a:srgbClr val="4E79A6"/>
                </a:solidFill>
                <a:latin typeface="Arial"/>
              </a:rPr>
              <a:t>THE IDEA — two jobs, one rule</a:t>
            </a:r>
          </a:p>
        </p:txBody>
      </p:sp>
      <p:sp>
        <p:nvSpPr>
          <p:cNvPr id="6" name="TextBox 5"/>
          <p:cNvSpPr txBox="1"/>
          <p:nvPr/>
        </p:nvSpPr>
        <p:spPr>
          <a:xfrm>
            <a:off x="914400" y="2286000"/>
            <a:ext cx="4754880" cy="868680"/>
          </a:xfrm>
          <a:prstGeom prst="rect">
            <a:avLst/>
          </a:prstGeom>
          <a:noFill/>
        </p:spPr>
        <p:txBody>
          <a:bodyPr wrap="square" anchor="t" lIns="0" rIns="0" tIns="0" bIns="0">
            <a:spAutoFit/>
          </a:bodyPr>
          <a:lstStyle/>
          <a:p>
            <a:pPr algn="l"/>
            <a:r>
              <a:rPr sz="1300" b="0" i="0">
                <a:solidFill>
                  <a:srgbClr val="4A453D"/>
                </a:solidFill>
                <a:latin typeface="Arial"/>
              </a:rPr>
              <a:t>Reveal what's hidden  ·  Verify what's there  ·  the value calls stay yours</a:t>
            </a:r>
          </a:p>
        </p:txBody>
      </p:sp>
      <p:sp>
        <p:nvSpPr>
          <p:cNvPr id="7" name="Rounded Rectangle 6"/>
          <p:cNvSpPr/>
          <p:nvPr/>
        </p:nvSpPr>
        <p:spPr>
          <a:xfrm>
            <a:off x="6190488" y="1645920"/>
            <a:ext cx="5303520" cy="1591056"/>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1810512"/>
            <a:ext cx="4754880" cy="457200"/>
          </a:xfrm>
          <a:prstGeom prst="rect">
            <a:avLst/>
          </a:prstGeom>
          <a:noFill/>
        </p:spPr>
        <p:txBody>
          <a:bodyPr wrap="square" anchor="t" lIns="0" rIns="0" tIns="0" bIns="0">
            <a:spAutoFit/>
          </a:bodyPr>
          <a:lstStyle/>
          <a:p>
            <a:pPr algn="l"/>
            <a:r>
              <a:rPr sz="1500" b="1" i="0">
                <a:solidFill>
                  <a:srgbClr val="5F7249"/>
                </a:solidFill>
                <a:latin typeface="Arial"/>
              </a:rPr>
              <a:t>THE PIPELINE — runs silently, except the gate</a:t>
            </a:r>
          </a:p>
        </p:txBody>
      </p:sp>
      <p:sp>
        <p:nvSpPr>
          <p:cNvPr id="9" name="TextBox 8"/>
          <p:cNvSpPr txBox="1"/>
          <p:nvPr/>
        </p:nvSpPr>
        <p:spPr>
          <a:xfrm>
            <a:off x="6464808" y="2286000"/>
            <a:ext cx="4754880" cy="868680"/>
          </a:xfrm>
          <a:prstGeom prst="rect">
            <a:avLst/>
          </a:prstGeom>
          <a:noFill/>
        </p:spPr>
        <p:txBody>
          <a:bodyPr wrap="square" anchor="t" lIns="0" rIns="0" tIns="0" bIns="0">
            <a:spAutoFit/>
          </a:bodyPr>
          <a:lstStyle/>
          <a:p>
            <a:pPr algn="l"/>
            <a:r>
              <a:rPr sz="1300" b="0" i="0">
                <a:solidFill>
                  <a:srgbClr val="4A453D"/>
                </a:solidFill>
                <a:latin typeface="Arial"/>
              </a:rPr>
              <a:t>Triage → Provocation → Verify &amp; grade → Disconfirm → Systems pass (conditional) → Deep-core routing → Grade-lock → Forced gate → Decision brief</a:t>
            </a:r>
          </a:p>
        </p:txBody>
      </p:sp>
      <p:sp>
        <p:nvSpPr>
          <p:cNvPr id="10" name="Rounded Rectangle 9"/>
          <p:cNvSpPr/>
          <p:nvPr/>
        </p:nvSpPr>
        <p:spPr>
          <a:xfrm>
            <a:off x="640080" y="3401568"/>
            <a:ext cx="5303520" cy="1591056"/>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566160"/>
            <a:ext cx="4754880" cy="457200"/>
          </a:xfrm>
          <a:prstGeom prst="rect">
            <a:avLst/>
          </a:prstGeom>
          <a:noFill/>
        </p:spPr>
        <p:txBody>
          <a:bodyPr wrap="square" anchor="t" lIns="0" rIns="0" tIns="0" bIns="0">
            <a:spAutoFit/>
          </a:bodyPr>
          <a:lstStyle/>
          <a:p>
            <a:pPr algn="l"/>
            <a:r>
              <a:rPr sz="1500" b="1" i="0">
                <a:solidFill>
                  <a:srgbClr val="4E79A6"/>
                </a:solidFill>
                <a:latin typeface="Arial"/>
              </a:rPr>
              <a:t>THE INTERFACE — five commands</a:t>
            </a:r>
          </a:p>
        </p:txBody>
      </p:sp>
      <p:sp>
        <p:nvSpPr>
          <p:cNvPr id="12" name="TextBox 11"/>
          <p:cNvSpPr txBox="1"/>
          <p:nvPr/>
        </p:nvSpPr>
        <p:spPr>
          <a:xfrm>
            <a:off x="914400" y="4041648"/>
            <a:ext cx="4754880" cy="868680"/>
          </a:xfrm>
          <a:prstGeom prst="rect">
            <a:avLst/>
          </a:prstGeom>
          <a:noFill/>
        </p:spPr>
        <p:txBody>
          <a:bodyPr wrap="square" anchor="t" lIns="0" rIns="0" tIns="0" bIns="0">
            <a:spAutoFit/>
          </a:bodyPr>
          <a:lstStyle/>
          <a:p>
            <a:pPr algn="l"/>
            <a:r>
              <a:rPr sz="1300" b="0" i="0">
                <a:solidFill>
                  <a:srgbClr val="4A453D"/>
                </a:solidFill>
                <a:latin typeface="Arial"/>
              </a:rPr>
              <a:t>analyse  ·  verify  ·  render  ·  track  ·  adjudicate</a:t>
            </a:r>
          </a:p>
        </p:txBody>
      </p:sp>
      <p:sp>
        <p:nvSpPr>
          <p:cNvPr id="13" name="Rounded Rectangle 12"/>
          <p:cNvSpPr/>
          <p:nvPr/>
        </p:nvSpPr>
        <p:spPr>
          <a:xfrm>
            <a:off x="6190488" y="3401568"/>
            <a:ext cx="5303520" cy="1591056"/>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3566160"/>
            <a:ext cx="4754880" cy="457200"/>
          </a:xfrm>
          <a:prstGeom prst="rect">
            <a:avLst/>
          </a:prstGeom>
          <a:noFill/>
        </p:spPr>
        <p:txBody>
          <a:bodyPr wrap="square" anchor="t" lIns="0" rIns="0" tIns="0" bIns="0">
            <a:spAutoFit/>
          </a:bodyPr>
          <a:lstStyle/>
          <a:p>
            <a:pPr algn="l"/>
            <a:r>
              <a:rPr sz="1500" b="1" i="0">
                <a:solidFill>
                  <a:srgbClr val="5F7249"/>
                </a:solidFill>
                <a:latin typeface="Arial"/>
              </a:rPr>
              <a:t>THE MODEL LAYER — execution + assurance</a:t>
            </a:r>
          </a:p>
        </p:txBody>
      </p:sp>
      <p:sp>
        <p:nvSpPr>
          <p:cNvPr id="15" name="TextBox 14"/>
          <p:cNvSpPr txBox="1"/>
          <p:nvPr/>
        </p:nvSpPr>
        <p:spPr>
          <a:xfrm>
            <a:off x="6464808" y="4041648"/>
            <a:ext cx="4754880" cy="868680"/>
          </a:xfrm>
          <a:prstGeom prst="rect">
            <a:avLst/>
          </a:prstGeom>
          <a:noFill/>
        </p:spPr>
        <p:txBody>
          <a:bodyPr wrap="square" anchor="t" lIns="0" rIns="0" tIns="0" bIns="0">
            <a:spAutoFit/>
          </a:bodyPr>
          <a:lstStyle/>
          <a:p>
            <a:pPr algn="l"/>
            <a:r>
              <a:rPr sz="1300" b="0" i="0">
                <a:solidFill>
                  <a:srgbClr val="4A453D"/>
                </a:solidFill>
                <a:latin typeface="Arial"/>
              </a:rPr>
              <a:t>A frontier model executes. For the highest stakes, an independent adjudication pass (Step 10) — opt-in, off by default.</a:t>
            </a:r>
          </a:p>
        </p:txBody>
      </p:sp>
      <p:sp>
        <p:nvSpPr>
          <p:cNvPr id="16" name="Rounded Rectangle 15"/>
          <p:cNvSpPr/>
          <p:nvPr/>
        </p:nvSpPr>
        <p:spPr>
          <a:xfrm>
            <a:off x="640080" y="512064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120640"/>
            <a:ext cx="10177272" cy="1188720"/>
          </a:xfrm>
          <a:prstGeom prst="rect">
            <a:avLst/>
          </a:prstGeom>
          <a:noFill/>
        </p:spPr>
        <p:txBody>
          <a:bodyPr wrap="square" anchor="ctr" lIns="0" rIns="0" tIns="0" bIns="0">
            <a:spAutoFit/>
          </a:bodyPr>
          <a:lstStyle/>
          <a:p>
            <a:pPr algn="l"/>
            <a:r>
              <a:rPr sz="1800" b="1" i="0">
                <a:solidFill>
                  <a:srgbClr val="FFFFFF"/>
                </a:solidFill>
                <a:latin typeface="Arial"/>
              </a:rPr>
              <a:t>Architected around ICD 203 — the U.S. intelligence community's Analytic Standards.</a:t>
            </a:r>
          </a:p>
          <a:p>
            <a:pPr algn="l"/>
            <a:r>
              <a:rPr sz="1800" b="1" i="0">
                <a:solidFill>
                  <a:srgbClr val="FFFFFF"/>
                </a:solidFill>
                <a:latin typeface="Arial"/>
              </a:rPr>
              <a:t>Each part is explained in the slides ahead.</a:t>
            </a:r>
          </a:p>
        </p:txBody>
      </p:sp>
      <p:sp>
        <p:nvSpPr>
          <p:cNvPr id="18" name="TextBox 17"/>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NAME IS THE DESIGN</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Insight from the model. Assurance from the engine.</a:t>
            </a:r>
          </a:p>
        </p:txBody>
      </p:sp>
      <p:sp>
        <p:nvSpPr>
          <p:cNvPr id="4" name="Rounded Rectangle 3"/>
          <p:cNvSpPr/>
          <p:nvPr/>
        </p:nvSpPr>
        <p:spPr>
          <a:xfrm>
            <a:off x="640080" y="1783080"/>
            <a:ext cx="5440680" cy="3017520"/>
          </a:xfrm>
          <a:prstGeom prst="roundRect">
            <a:avLst>
              <a:gd name="adj" fmla="val 5500"/>
            </a:avLst>
          </a:prstGeom>
          <a:solidFill>
            <a:srgbClr val="FFFFFF"/>
          </a:solidFill>
          <a:ln w="12700">
            <a:solidFill>
              <a:srgbClr val="4E79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548640"/>
          </a:xfrm>
          <a:prstGeom prst="rect">
            <a:avLst/>
          </a:prstGeom>
          <a:noFill/>
        </p:spPr>
        <p:txBody>
          <a:bodyPr wrap="square" anchor="t" lIns="0" rIns="0" tIns="0" bIns="0">
            <a:spAutoFit/>
          </a:bodyPr>
          <a:lstStyle/>
          <a:p>
            <a:pPr algn="l"/>
            <a:r>
              <a:rPr sz="2000" b="1" i="0">
                <a:solidFill>
                  <a:srgbClr val="4E79A6"/>
                </a:solidFill>
                <a:latin typeface="Arial"/>
              </a:rPr>
              <a:t>INSIGHT · a strong LLM</a:t>
            </a:r>
          </a:p>
        </p:txBody>
      </p:sp>
      <p:sp>
        <p:nvSpPr>
          <p:cNvPr id="6" name="TextBox 5"/>
          <p:cNvSpPr txBox="1"/>
          <p:nvPr/>
        </p:nvSpPr>
        <p:spPr>
          <a:xfrm>
            <a:off x="914400" y="2788920"/>
            <a:ext cx="4937760" cy="1920240"/>
          </a:xfrm>
          <a:prstGeom prst="rect">
            <a:avLst/>
          </a:prstGeom>
          <a:noFill/>
        </p:spPr>
        <p:txBody>
          <a:bodyPr wrap="square" anchor="t" lIns="0" rIns="0" tIns="0" bIns="0">
            <a:spAutoFit/>
          </a:bodyPr>
          <a:lstStyle/>
          <a:p>
            <a:pPr algn="l"/>
            <a:r>
              <a:rPr sz="1700" b="0" i="0">
                <a:solidFill>
                  <a:srgbClr val="4A453D"/>
                </a:solidFill>
                <a:latin typeface="Arial"/>
              </a:rPr>
              <a:t>The language model supplies the raw material — the reasoning, the reading, the first draft, the searches. All the intelligence comes from the model; the engine assumes it.</a:t>
            </a:r>
          </a:p>
        </p:txBody>
      </p:sp>
      <p:sp>
        <p:nvSpPr>
          <p:cNvPr id="7" name="Rounded Rectangle 6"/>
          <p:cNvSpPr/>
          <p:nvPr/>
        </p:nvSpPr>
        <p:spPr>
          <a:xfrm>
            <a:off x="6263640" y="1783080"/>
            <a:ext cx="5285232" cy="301752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548640"/>
          </a:xfrm>
          <a:prstGeom prst="rect">
            <a:avLst/>
          </a:prstGeom>
          <a:noFill/>
        </p:spPr>
        <p:txBody>
          <a:bodyPr wrap="square" anchor="t" lIns="0" rIns="0" tIns="0" bIns="0">
            <a:spAutoFit/>
          </a:bodyPr>
          <a:lstStyle/>
          <a:p>
            <a:pPr algn="l"/>
            <a:r>
              <a:rPr sz="2000" b="1" i="0">
                <a:solidFill>
                  <a:srgbClr val="5F7249"/>
                </a:solidFill>
                <a:latin typeface="Arial"/>
              </a:rPr>
              <a:t>ENGINE · verify · assure · adjudicate</a:t>
            </a:r>
          </a:p>
        </p:txBody>
      </p:sp>
      <p:sp>
        <p:nvSpPr>
          <p:cNvPr id="9" name="TextBox 8"/>
          <p:cNvSpPr txBox="1"/>
          <p:nvPr/>
        </p:nvSpPr>
        <p:spPr>
          <a:xfrm>
            <a:off x="6537960" y="2788920"/>
            <a:ext cx="4754880" cy="1920240"/>
          </a:xfrm>
          <a:prstGeom prst="rect">
            <a:avLst/>
          </a:prstGeom>
          <a:noFill/>
        </p:spPr>
        <p:txBody>
          <a:bodyPr wrap="square" anchor="t" lIns="0" rIns="0" tIns="0" bIns="0">
            <a:spAutoFit/>
          </a:bodyPr>
          <a:lstStyle/>
          <a:p>
            <a:pPr algn="l">
              <a:spcAft>
                <a:spcPts val="800"/>
              </a:spcAft>
            </a:pPr>
            <a:r>
              <a:rPr sz="1600" b="0" i="0">
                <a:solidFill>
                  <a:srgbClr val="141413"/>
                </a:solidFill>
                <a:latin typeface="Arial"/>
              </a:rPr>
              <a:t>• Verify — check what can be checked against the world</a:t>
            </a:r>
          </a:p>
          <a:p>
            <a:pPr algn="l">
              <a:spcAft>
                <a:spcPts val="800"/>
              </a:spcAft>
            </a:pPr>
            <a:r>
              <a:rPr sz="1600" b="0" i="0">
                <a:solidFill>
                  <a:srgbClr val="141413"/>
                </a:solidFill>
                <a:latin typeface="Arial"/>
              </a:rPr>
              <a:t>• Assure — grade how strongly each claim stands, and lock it</a:t>
            </a:r>
          </a:p>
          <a:p>
            <a:pPr algn="l">
              <a:spcAft>
                <a:spcPts val="800"/>
              </a:spcAft>
            </a:pPr>
            <a:r>
              <a:rPr sz="1600" b="0" i="0">
                <a:solidFill>
                  <a:srgbClr val="141413"/>
                </a:solidFill>
                <a:latin typeface="Arial"/>
              </a:rPr>
              <a:t>• Adjudicate — for the highest stakes, an independent model checks the result</a:t>
            </a:r>
          </a:p>
        </p:txBody>
      </p:sp>
      <p:sp>
        <p:nvSpPr>
          <p:cNvPr id="10" name="Rounded Rectangle 9"/>
          <p:cNvSpPr/>
          <p:nvPr/>
        </p:nvSpPr>
        <p:spPr>
          <a:xfrm>
            <a:off x="640080" y="512064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120640"/>
            <a:ext cx="10177272" cy="1005840"/>
          </a:xfrm>
          <a:prstGeom prst="rect">
            <a:avLst/>
          </a:prstGeom>
          <a:noFill/>
        </p:spPr>
        <p:txBody>
          <a:bodyPr wrap="square" anchor="ctr" lIns="0" rIns="0" tIns="0" bIns="0">
            <a:spAutoFit/>
          </a:bodyPr>
          <a:lstStyle/>
          <a:p>
            <a:pPr algn="l"/>
            <a:r>
              <a:rPr sz="1800" b="1" i="0">
                <a:solidFill>
                  <a:srgbClr val="FFFFFF"/>
                </a:solidFill>
                <a:latin typeface="Arial"/>
              </a:rPr>
              <a:t>The model provides the insight; the engine makes it verified, defensible, and — when it matters most — independently checked.</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3/27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PROBLEM</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 confident guess is not verified evidence.</a:t>
            </a:r>
          </a:p>
        </p:txBody>
      </p:sp>
      <p:sp>
        <p:nvSpPr>
          <p:cNvPr id="4" name="Rounded Rectangle 3"/>
          <p:cNvSpPr/>
          <p:nvPr/>
        </p:nvSpPr>
        <p:spPr>
          <a:xfrm>
            <a:off x="640080" y="1783080"/>
            <a:ext cx="3474720" cy="25146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2926080" cy="914400"/>
          </a:xfrm>
          <a:prstGeom prst="rect">
            <a:avLst/>
          </a:prstGeom>
          <a:noFill/>
        </p:spPr>
        <p:txBody>
          <a:bodyPr wrap="square" anchor="t" lIns="0" rIns="0" tIns="0" bIns="0">
            <a:spAutoFit/>
          </a:bodyPr>
          <a:lstStyle/>
          <a:p>
            <a:pPr algn="l"/>
            <a:r>
              <a:rPr sz="1900" b="1" i="0">
                <a:solidFill>
                  <a:srgbClr val="4E79A6"/>
                </a:solidFill>
                <a:latin typeface="Arial"/>
              </a:rPr>
              <a:t>The important things hide</a:t>
            </a:r>
          </a:p>
        </p:txBody>
      </p:sp>
      <p:sp>
        <p:nvSpPr>
          <p:cNvPr id="6" name="TextBox 5"/>
          <p:cNvSpPr txBox="1"/>
          <p:nvPr/>
        </p:nvSpPr>
        <p:spPr>
          <a:xfrm>
            <a:off x="914400" y="3063240"/>
            <a:ext cx="2926080" cy="1143000"/>
          </a:xfrm>
          <a:prstGeom prst="rect">
            <a:avLst/>
          </a:prstGeom>
          <a:noFill/>
        </p:spPr>
        <p:txBody>
          <a:bodyPr wrap="square" anchor="t" lIns="0" rIns="0" tIns="0" bIns="0">
            <a:spAutoFit/>
          </a:bodyPr>
          <a:lstStyle/>
          <a:p>
            <a:pPr algn="l"/>
            <a:r>
              <a:rPr sz="1700" b="0" i="0">
                <a:solidFill>
                  <a:srgbClr val="4A453D"/>
                </a:solidFill>
                <a:latin typeface="Arial"/>
              </a:rPr>
              <a:t>What matters most sits where attention doesn't go.</a:t>
            </a:r>
          </a:p>
        </p:txBody>
      </p:sp>
      <p:sp>
        <p:nvSpPr>
          <p:cNvPr id="7" name="Rounded Rectangle 6"/>
          <p:cNvSpPr/>
          <p:nvPr/>
        </p:nvSpPr>
        <p:spPr>
          <a:xfrm>
            <a:off x="4361688" y="1783080"/>
            <a:ext cx="3474720" cy="25146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6008" y="2011680"/>
            <a:ext cx="2926080" cy="914400"/>
          </a:xfrm>
          <a:prstGeom prst="rect">
            <a:avLst/>
          </a:prstGeom>
          <a:noFill/>
        </p:spPr>
        <p:txBody>
          <a:bodyPr wrap="square" anchor="t" lIns="0" rIns="0" tIns="0" bIns="0">
            <a:spAutoFit/>
          </a:bodyPr>
          <a:lstStyle/>
          <a:p>
            <a:pPr algn="l"/>
            <a:r>
              <a:rPr sz="1900" b="1" i="0">
                <a:solidFill>
                  <a:srgbClr val="4E79A6"/>
                </a:solidFill>
                <a:latin typeface="Arial"/>
              </a:rPr>
              <a:t>The evidence is mixed, or interested</a:t>
            </a:r>
          </a:p>
        </p:txBody>
      </p:sp>
      <p:sp>
        <p:nvSpPr>
          <p:cNvPr id="9" name="TextBox 8"/>
          <p:cNvSpPr txBox="1"/>
          <p:nvPr/>
        </p:nvSpPr>
        <p:spPr>
          <a:xfrm>
            <a:off x="4636008" y="3063240"/>
            <a:ext cx="2926080" cy="1143000"/>
          </a:xfrm>
          <a:prstGeom prst="rect">
            <a:avLst/>
          </a:prstGeom>
          <a:noFill/>
        </p:spPr>
        <p:txBody>
          <a:bodyPr wrap="square" anchor="t" lIns="0" rIns="0" tIns="0" bIns="0">
            <a:spAutoFit/>
          </a:bodyPr>
          <a:lstStyle/>
          <a:p>
            <a:pPr algn="l"/>
            <a:r>
              <a:rPr sz="1700" b="0" i="0">
                <a:solidFill>
                  <a:srgbClr val="4A453D"/>
                </a:solidFill>
                <a:latin typeface="Arial"/>
              </a:rPr>
              <a:t>Sources disagree — and some benefit from the answer.</a:t>
            </a:r>
          </a:p>
        </p:txBody>
      </p:sp>
      <p:sp>
        <p:nvSpPr>
          <p:cNvPr id="10" name="Rounded Rectangle 9"/>
          <p:cNvSpPr/>
          <p:nvPr/>
        </p:nvSpPr>
        <p:spPr>
          <a:xfrm>
            <a:off x="8083296" y="1783080"/>
            <a:ext cx="3474720" cy="25146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7616" y="2011680"/>
            <a:ext cx="2926080" cy="914400"/>
          </a:xfrm>
          <a:prstGeom prst="rect">
            <a:avLst/>
          </a:prstGeom>
          <a:noFill/>
        </p:spPr>
        <p:txBody>
          <a:bodyPr wrap="square" anchor="t" lIns="0" rIns="0" tIns="0" bIns="0">
            <a:spAutoFit/>
          </a:bodyPr>
          <a:lstStyle/>
          <a:p>
            <a:pPr algn="l"/>
            <a:r>
              <a:rPr sz="1900" b="1" i="0">
                <a:solidFill>
                  <a:srgbClr val="4E79A6"/>
                </a:solidFill>
                <a:latin typeface="Arial"/>
              </a:rPr>
              <a:t>The deciding questions are value judgments</a:t>
            </a:r>
          </a:p>
        </p:txBody>
      </p:sp>
      <p:sp>
        <p:nvSpPr>
          <p:cNvPr id="12" name="TextBox 11"/>
          <p:cNvSpPr txBox="1"/>
          <p:nvPr/>
        </p:nvSpPr>
        <p:spPr>
          <a:xfrm>
            <a:off x="8357616" y="3063240"/>
            <a:ext cx="2926080" cy="1143000"/>
          </a:xfrm>
          <a:prstGeom prst="rect">
            <a:avLst/>
          </a:prstGeom>
          <a:noFill/>
        </p:spPr>
        <p:txBody>
          <a:bodyPr wrap="square" anchor="t" lIns="0" rIns="0" tIns="0" bIns="0">
            <a:spAutoFit/>
          </a:bodyPr>
          <a:lstStyle/>
          <a:p>
            <a:pPr algn="l"/>
            <a:r>
              <a:rPr sz="1700" b="0" i="0">
                <a:solidFill>
                  <a:srgbClr val="4A453D"/>
                </a:solidFill>
                <a:latin typeface="Arial"/>
              </a:rPr>
              <a:t>No analysis settles what you should value.</a:t>
            </a:r>
          </a:p>
        </p:txBody>
      </p:sp>
      <p:sp>
        <p:nvSpPr>
          <p:cNvPr id="13" name="Rounded Rectangle 12"/>
          <p:cNvSpPr/>
          <p:nvPr/>
        </p:nvSpPr>
        <p:spPr>
          <a:xfrm>
            <a:off x="640080" y="4617720"/>
            <a:ext cx="10908792" cy="12801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617720"/>
            <a:ext cx="10177272" cy="1280160"/>
          </a:xfrm>
          <a:prstGeom prst="rect">
            <a:avLst/>
          </a:prstGeom>
          <a:noFill/>
        </p:spPr>
        <p:txBody>
          <a:bodyPr wrap="square" anchor="ctr" lIns="0" rIns="0" tIns="0" bIns="0">
            <a:spAutoFit/>
          </a:bodyPr>
          <a:lstStyle/>
          <a:p>
            <a:pPr algn="l"/>
            <a:r>
              <a:rPr sz="1800" b="1" i="0">
                <a:solidFill>
                  <a:srgbClr val="FFFFFF"/>
                </a:solidFill>
                <a:latin typeface="Arial"/>
              </a:rPr>
              <a:t>A strong model gives you a fluent answer.  </a:t>
            </a:r>
          </a:p>
          <a:p>
            <a:pPr algn="l"/>
            <a:r>
              <a:rPr sz="1800" b="1" i="0">
                <a:solidFill>
                  <a:srgbClr val="FAF9F5"/>
                </a:solidFill>
                <a:latin typeface="Arial"/>
              </a:rPr>
              <a:t>Fluent isn't the same as verified — or defensible.</a:t>
            </a:r>
          </a:p>
        </p:txBody>
      </p:sp>
      <p:sp>
        <p:nvSpPr>
          <p:cNvPr id="15" name="TextBox 14"/>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4/27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IDEA</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Two jobs: reveal what's hidden, and verify what's there.</a:t>
            </a:r>
          </a:p>
        </p:txBody>
      </p:sp>
      <p:sp>
        <p:nvSpPr>
          <p:cNvPr id="4" name="Rounded Rectangle 3"/>
          <p:cNvSpPr/>
          <p:nvPr/>
        </p:nvSpPr>
        <p:spPr>
          <a:xfrm>
            <a:off x="640080" y="1783080"/>
            <a:ext cx="5440680" cy="2971800"/>
          </a:xfrm>
          <a:prstGeom prst="roundRect">
            <a:avLst>
              <a:gd name="adj" fmla="val 5500"/>
            </a:avLst>
          </a:prstGeom>
          <a:solidFill>
            <a:srgbClr val="FFFFFF"/>
          </a:solidFill>
          <a:ln w="12700">
            <a:solidFill>
              <a:srgbClr val="4E79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548640"/>
          </a:xfrm>
          <a:prstGeom prst="rect">
            <a:avLst/>
          </a:prstGeom>
          <a:noFill/>
        </p:spPr>
        <p:txBody>
          <a:bodyPr wrap="square" anchor="t" lIns="0" rIns="0" tIns="0" bIns="0">
            <a:spAutoFit/>
          </a:bodyPr>
          <a:lstStyle/>
          <a:p>
            <a:pPr algn="l"/>
            <a:r>
              <a:rPr sz="2000" b="1" i="0">
                <a:solidFill>
                  <a:srgbClr val="4E79A6"/>
                </a:solidFill>
                <a:latin typeface="Arial"/>
              </a:rPr>
              <a:t>1 · Reveal what's hidden</a:t>
            </a:r>
          </a:p>
        </p:txBody>
      </p:sp>
      <p:sp>
        <p:nvSpPr>
          <p:cNvPr id="6" name="TextBox 5"/>
          <p:cNvSpPr txBox="1"/>
          <p:nvPr/>
        </p:nvSpPr>
        <p:spPr>
          <a:xfrm>
            <a:off x="914400" y="2743200"/>
            <a:ext cx="4937760" cy="192024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 the voice that's absent</a:t>
            </a:r>
          </a:p>
          <a:p>
            <a:pPr algn="l">
              <a:spcAft>
                <a:spcPts val="600"/>
              </a:spcAft>
            </a:pPr>
            <a:r>
              <a:rPr sz="1600" b="0" i="0">
                <a:solidFill>
                  <a:srgbClr val="141413"/>
                </a:solidFill>
                <a:latin typeface="Arial"/>
              </a:rPr>
              <a:t>• what's been normalised until no one questions it</a:t>
            </a:r>
          </a:p>
          <a:p>
            <a:pPr algn="l">
              <a:spcAft>
                <a:spcPts val="600"/>
              </a:spcAft>
            </a:pPr>
            <a:r>
              <a:rPr sz="1600" b="0" i="0">
                <a:solidFill>
                  <a:srgbClr val="141413"/>
                </a:solidFill>
                <a:latin typeface="Arial"/>
              </a:rPr>
              <a:t>• the thing left conspicuously out</a:t>
            </a:r>
          </a:p>
          <a:p>
            <a:pPr algn="l">
              <a:spcAft>
                <a:spcPts val="600"/>
              </a:spcAft>
            </a:pPr>
            <a:r>
              <a:rPr sz="1600" b="0" i="0">
                <a:solidFill>
                  <a:srgbClr val="141413"/>
                </a:solidFill>
                <a:latin typeface="Arial"/>
              </a:rPr>
              <a:t>• some missed — some kept out of view on purpose</a:t>
            </a:r>
          </a:p>
        </p:txBody>
      </p:sp>
      <p:sp>
        <p:nvSpPr>
          <p:cNvPr id="7" name="Rounded Rectangle 6"/>
          <p:cNvSpPr/>
          <p:nvPr/>
        </p:nvSpPr>
        <p:spPr>
          <a:xfrm>
            <a:off x="6263640" y="1783080"/>
            <a:ext cx="5285232" cy="297180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548640"/>
          </a:xfrm>
          <a:prstGeom prst="rect">
            <a:avLst/>
          </a:prstGeom>
          <a:noFill/>
        </p:spPr>
        <p:txBody>
          <a:bodyPr wrap="square" anchor="t" lIns="0" rIns="0" tIns="0" bIns="0">
            <a:spAutoFit/>
          </a:bodyPr>
          <a:lstStyle/>
          <a:p>
            <a:pPr algn="l"/>
            <a:r>
              <a:rPr sz="2000" b="1" i="0">
                <a:solidFill>
                  <a:srgbClr val="5F7249"/>
                </a:solidFill>
                <a:latin typeface="Arial"/>
              </a:rPr>
              <a:t>2 · Verify what's there</a:t>
            </a:r>
          </a:p>
        </p:txBody>
      </p:sp>
      <p:sp>
        <p:nvSpPr>
          <p:cNvPr id="9" name="TextBox 8"/>
          <p:cNvSpPr txBox="1"/>
          <p:nvPr/>
        </p:nvSpPr>
        <p:spPr>
          <a:xfrm>
            <a:off x="6537960" y="2743200"/>
            <a:ext cx="4754880" cy="192024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 check what can be checked</a:t>
            </a:r>
          </a:p>
          <a:p>
            <a:pPr algn="l">
              <a:spcAft>
                <a:spcPts val="600"/>
              </a:spcAft>
            </a:pPr>
            <a:r>
              <a:rPr sz="1600" b="0" i="0">
                <a:solidFill>
                  <a:srgbClr val="141413"/>
                </a:solidFill>
                <a:latin typeface="Arial"/>
              </a:rPr>
              <a:t>• grade how strongly each claim stands</a:t>
            </a:r>
          </a:p>
          <a:p>
            <a:pPr algn="l">
              <a:spcAft>
                <a:spcPts val="600"/>
              </a:spcAft>
            </a:pPr>
            <a:r>
              <a:rPr sz="1600" b="0" i="0">
                <a:solidFill>
                  <a:srgbClr val="141413"/>
                </a:solidFill>
                <a:latin typeface="Arial"/>
              </a:rPr>
              <a:t>• try to break its own findings</a:t>
            </a:r>
          </a:p>
        </p:txBody>
      </p:sp>
      <p:sp>
        <p:nvSpPr>
          <p:cNvPr id="10" name="Rounded Rectangle 9"/>
          <p:cNvSpPr/>
          <p:nvPr/>
        </p:nvSpPr>
        <p:spPr>
          <a:xfrm>
            <a:off x="640080" y="502920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29200"/>
            <a:ext cx="10177272" cy="1005840"/>
          </a:xfrm>
          <a:prstGeom prst="rect">
            <a:avLst/>
          </a:prstGeom>
          <a:noFill/>
        </p:spPr>
        <p:txBody>
          <a:bodyPr wrap="square" anchor="ctr" lIns="0" rIns="0" tIns="0" bIns="0">
            <a:spAutoFit/>
          </a:bodyPr>
          <a:lstStyle/>
          <a:p>
            <a:pPr algn="l"/>
            <a:r>
              <a:rPr sz="1800" b="1" i="0">
                <a:solidFill>
                  <a:srgbClr val="FFFFFF"/>
                </a:solidFill>
                <a:latin typeface="Arial"/>
              </a:rPr>
              <a:t>Seeing and checking — then it makes you own the value calls, instead of quietly making them for you.</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5/27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HOW IT WORKS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What happens when you hand it a problem</a:t>
            </a:r>
          </a:p>
        </p:txBody>
      </p:sp>
      <p:sp>
        <p:nvSpPr>
          <p:cNvPr id="4" name="Rounded Rectangle 3"/>
          <p:cNvSpPr/>
          <p:nvPr/>
        </p:nvSpPr>
        <p:spPr>
          <a:xfrm>
            <a:off x="640080" y="1371600"/>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435608"/>
            <a:ext cx="3108960" cy="219456"/>
          </a:xfrm>
          <a:prstGeom prst="rect">
            <a:avLst/>
          </a:prstGeom>
          <a:noFill/>
        </p:spPr>
        <p:txBody>
          <a:bodyPr wrap="square" anchor="t" lIns="0" rIns="0" tIns="0" bIns="0">
            <a:spAutoFit/>
          </a:bodyPr>
          <a:lstStyle/>
          <a:p>
            <a:pPr algn="l"/>
            <a:r>
              <a:rPr sz="1000" b="1" i="0">
                <a:solidFill>
                  <a:srgbClr val="8A8578"/>
                </a:solidFill>
                <a:latin typeface="Arial"/>
              </a:rPr>
              <a:t>STEP 1</a:t>
            </a:r>
          </a:p>
        </p:txBody>
      </p:sp>
      <p:sp>
        <p:nvSpPr>
          <p:cNvPr id="6" name="TextBox 5"/>
          <p:cNvSpPr txBox="1"/>
          <p:nvPr/>
        </p:nvSpPr>
        <p:spPr>
          <a:xfrm>
            <a:off x="822959" y="1645920"/>
            <a:ext cx="3108960" cy="365760"/>
          </a:xfrm>
          <a:prstGeom prst="rect">
            <a:avLst/>
          </a:prstGeom>
          <a:noFill/>
        </p:spPr>
        <p:txBody>
          <a:bodyPr wrap="square" anchor="t" lIns="0" rIns="0" tIns="0" bIns="0">
            <a:spAutoFit/>
          </a:bodyPr>
          <a:lstStyle/>
          <a:p>
            <a:pPr algn="l"/>
            <a:r>
              <a:rPr sz="1500" b="1" i="0">
                <a:solidFill>
                  <a:srgbClr val="4E79A6"/>
                </a:solidFill>
                <a:latin typeface="Arial"/>
              </a:rPr>
              <a:t>Triage</a:t>
            </a:r>
          </a:p>
        </p:txBody>
      </p:sp>
      <p:sp>
        <p:nvSpPr>
          <p:cNvPr id="7" name="TextBox 6"/>
          <p:cNvSpPr txBox="1"/>
          <p:nvPr/>
        </p:nvSpPr>
        <p:spPr>
          <a:xfrm>
            <a:off x="822959" y="2011680"/>
            <a:ext cx="3108960" cy="237744"/>
          </a:xfrm>
          <a:prstGeom prst="rect">
            <a:avLst/>
          </a:prstGeom>
          <a:noFill/>
        </p:spPr>
        <p:txBody>
          <a:bodyPr wrap="square" anchor="t" lIns="0" rIns="0" tIns="0" bIns="0">
            <a:spAutoFit/>
          </a:bodyPr>
          <a:lstStyle/>
          <a:p>
            <a:pPr algn="l"/>
            <a:r>
              <a:rPr sz="1200" b="0" i="0">
                <a:solidFill>
                  <a:srgbClr val="4A453D"/>
                </a:solidFill>
                <a:latin typeface="Arial"/>
              </a:rPr>
              <a:t>size the effort first</a:t>
            </a:r>
          </a:p>
        </p:txBody>
      </p:sp>
      <p:sp>
        <p:nvSpPr>
          <p:cNvPr id="8" name="TextBox 7"/>
          <p:cNvSpPr txBox="1"/>
          <p:nvPr/>
        </p:nvSpPr>
        <p:spPr>
          <a:xfrm>
            <a:off x="822959" y="2267712"/>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9" name="TextBox 8"/>
          <p:cNvSpPr txBox="1"/>
          <p:nvPr/>
        </p:nvSpPr>
        <p:spPr>
          <a:xfrm>
            <a:off x="4087368" y="1371600"/>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10" name="Rounded Rectangle 9"/>
          <p:cNvSpPr/>
          <p:nvPr/>
        </p:nvSpPr>
        <p:spPr>
          <a:xfrm>
            <a:off x="4343400" y="1371600"/>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435608"/>
            <a:ext cx="3108960" cy="219456"/>
          </a:xfrm>
          <a:prstGeom prst="rect">
            <a:avLst/>
          </a:prstGeom>
          <a:noFill/>
        </p:spPr>
        <p:txBody>
          <a:bodyPr wrap="square" anchor="t" lIns="0" rIns="0" tIns="0" bIns="0">
            <a:spAutoFit/>
          </a:bodyPr>
          <a:lstStyle/>
          <a:p>
            <a:pPr algn="l"/>
            <a:r>
              <a:rPr sz="1000" b="1" i="0">
                <a:solidFill>
                  <a:srgbClr val="8A8578"/>
                </a:solidFill>
                <a:latin typeface="Arial"/>
              </a:rPr>
              <a:t>STEP 2</a:t>
            </a:r>
          </a:p>
        </p:txBody>
      </p:sp>
      <p:sp>
        <p:nvSpPr>
          <p:cNvPr id="12" name="TextBox 11"/>
          <p:cNvSpPr txBox="1"/>
          <p:nvPr/>
        </p:nvSpPr>
        <p:spPr>
          <a:xfrm>
            <a:off x="4526280" y="1645920"/>
            <a:ext cx="3108960" cy="365760"/>
          </a:xfrm>
          <a:prstGeom prst="rect">
            <a:avLst/>
          </a:prstGeom>
          <a:noFill/>
        </p:spPr>
        <p:txBody>
          <a:bodyPr wrap="square" anchor="t" lIns="0" rIns="0" tIns="0" bIns="0">
            <a:spAutoFit/>
          </a:bodyPr>
          <a:lstStyle/>
          <a:p>
            <a:pPr algn="l"/>
            <a:r>
              <a:rPr sz="1500" b="1" i="0">
                <a:solidFill>
                  <a:srgbClr val="4E79A6"/>
                </a:solidFill>
                <a:latin typeface="Arial"/>
              </a:rPr>
              <a:t>Scoping</a:t>
            </a:r>
          </a:p>
        </p:txBody>
      </p:sp>
      <p:sp>
        <p:nvSpPr>
          <p:cNvPr id="13" name="TextBox 12"/>
          <p:cNvSpPr txBox="1"/>
          <p:nvPr/>
        </p:nvSpPr>
        <p:spPr>
          <a:xfrm>
            <a:off x="4526280" y="2011680"/>
            <a:ext cx="3108960" cy="237744"/>
          </a:xfrm>
          <a:prstGeom prst="rect">
            <a:avLst/>
          </a:prstGeom>
          <a:noFill/>
        </p:spPr>
        <p:txBody>
          <a:bodyPr wrap="square" anchor="t" lIns="0" rIns="0" tIns="0" bIns="0">
            <a:spAutoFit/>
          </a:bodyPr>
          <a:lstStyle/>
          <a:p>
            <a:pPr algn="l"/>
            <a:r>
              <a:rPr sz="1200" b="0" i="0">
                <a:solidFill>
                  <a:srgbClr val="4A453D"/>
                </a:solidFill>
                <a:latin typeface="Arial"/>
              </a:rPr>
              <a:t>optional clarifying Qs</a:t>
            </a:r>
          </a:p>
        </p:txBody>
      </p:sp>
      <p:sp>
        <p:nvSpPr>
          <p:cNvPr id="14" name="TextBox 13"/>
          <p:cNvSpPr txBox="1"/>
          <p:nvPr/>
        </p:nvSpPr>
        <p:spPr>
          <a:xfrm>
            <a:off x="4526280" y="2267712"/>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15" name="TextBox 14"/>
          <p:cNvSpPr txBox="1"/>
          <p:nvPr/>
        </p:nvSpPr>
        <p:spPr>
          <a:xfrm>
            <a:off x="7790688" y="1371600"/>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16" name="Rounded Rectangle 15"/>
          <p:cNvSpPr/>
          <p:nvPr/>
        </p:nvSpPr>
        <p:spPr>
          <a:xfrm>
            <a:off x="8046719" y="1371600"/>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9" y="1435608"/>
            <a:ext cx="3108960" cy="219456"/>
          </a:xfrm>
          <a:prstGeom prst="rect">
            <a:avLst/>
          </a:prstGeom>
          <a:noFill/>
        </p:spPr>
        <p:txBody>
          <a:bodyPr wrap="square" anchor="t" lIns="0" rIns="0" tIns="0" bIns="0">
            <a:spAutoFit/>
          </a:bodyPr>
          <a:lstStyle/>
          <a:p>
            <a:pPr algn="l"/>
            <a:r>
              <a:rPr sz="1000" b="1" i="0">
                <a:solidFill>
                  <a:srgbClr val="8A8578"/>
                </a:solidFill>
                <a:latin typeface="Arial"/>
              </a:rPr>
              <a:t>STEP 3</a:t>
            </a:r>
          </a:p>
        </p:txBody>
      </p:sp>
      <p:sp>
        <p:nvSpPr>
          <p:cNvPr id="18" name="TextBox 17"/>
          <p:cNvSpPr txBox="1"/>
          <p:nvPr/>
        </p:nvSpPr>
        <p:spPr>
          <a:xfrm>
            <a:off x="8229599" y="1645920"/>
            <a:ext cx="3108960" cy="365760"/>
          </a:xfrm>
          <a:prstGeom prst="rect">
            <a:avLst/>
          </a:prstGeom>
          <a:noFill/>
        </p:spPr>
        <p:txBody>
          <a:bodyPr wrap="square" anchor="t" lIns="0" rIns="0" tIns="0" bIns="0">
            <a:spAutoFit/>
          </a:bodyPr>
          <a:lstStyle/>
          <a:p>
            <a:pPr algn="l"/>
            <a:r>
              <a:rPr sz="1500" b="1" i="0">
                <a:solidFill>
                  <a:srgbClr val="4E79A6"/>
                </a:solidFill>
                <a:latin typeface="Arial"/>
              </a:rPr>
              <a:t>Provocation</a:t>
            </a:r>
          </a:p>
        </p:txBody>
      </p:sp>
      <p:sp>
        <p:nvSpPr>
          <p:cNvPr id="19" name="TextBox 18"/>
          <p:cNvSpPr txBox="1"/>
          <p:nvPr/>
        </p:nvSpPr>
        <p:spPr>
          <a:xfrm>
            <a:off x="8229599" y="2011680"/>
            <a:ext cx="3108960" cy="237744"/>
          </a:xfrm>
          <a:prstGeom prst="rect">
            <a:avLst/>
          </a:prstGeom>
          <a:noFill/>
        </p:spPr>
        <p:txBody>
          <a:bodyPr wrap="square" anchor="t" lIns="0" rIns="0" tIns="0" bIns="0">
            <a:spAutoFit/>
          </a:bodyPr>
          <a:lstStyle/>
          <a:p>
            <a:pPr algn="l"/>
            <a:r>
              <a:rPr sz="1200" b="0" i="0">
                <a:solidFill>
                  <a:srgbClr val="4A453D"/>
                </a:solidFill>
                <a:latin typeface="Arial"/>
              </a:rPr>
              <a:t>surface what hides</a:t>
            </a:r>
          </a:p>
        </p:txBody>
      </p:sp>
      <p:sp>
        <p:nvSpPr>
          <p:cNvPr id="20" name="TextBox 19"/>
          <p:cNvSpPr txBox="1"/>
          <p:nvPr/>
        </p:nvSpPr>
        <p:spPr>
          <a:xfrm>
            <a:off x="8229599" y="2267712"/>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21" name="Rounded Rectangle 20"/>
          <p:cNvSpPr/>
          <p:nvPr/>
        </p:nvSpPr>
        <p:spPr>
          <a:xfrm>
            <a:off x="640080" y="2633472"/>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2697479"/>
            <a:ext cx="3108960" cy="219456"/>
          </a:xfrm>
          <a:prstGeom prst="rect">
            <a:avLst/>
          </a:prstGeom>
          <a:noFill/>
        </p:spPr>
        <p:txBody>
          <a:bodyPr wrap="square" anchor="t" lIns="0" rIns="0" tIns="0" bIns="0">
            <a:spAutoFit/>
          </a:bodyPr>
          <a:lstStyle/>
          <a:p>
            <a:pPr algn="l"/>
            <a:r>
              <a:rPr sz="1000" b="1" i="0">
                <a:solidFill>
                  <a:srgbClr val="8A8578"/>
                </a:solidFill>
                <a:latin typeface="Arial"/>
              </a:rPr>
              <a:t>STEP 4</a:t>
            </a:r>
          </a:p>
        </p:txBody>
      </p:sp>
      <p:sp>
        <p:nvSpPr>
          <p:cNvPr id="23" name="TextBox 22"/>
          <p:cNvSpPr txBox="1"/>
          <p:nvPr/>
        </p:nvSpPr>
        <p:spPr>
          <a:xfrm>
            <a:off x="822959" y="2907791"/>
            <a:ext cx="3108960" cy="365760"/>
          </a:xfrm>
          <a:prstGeom prst="rect">
            <a:avLst/>
          </a:prstGeom>
          <a:noFill/>
        </p:spPr>
        <p:txBody>
          <a:bodyPr wrap="square" anchor="t" lIns="0" rIns="0" tIns="0" bIns="0">
            <a:spAutoFit/>
          </a:bodyPr>
          <a:lstStyle/>
          <a:p>
            <a:pPr algn="l"/>
            <a:r>
              <a:rPr sz="1500" b="1" i="0">
                <a:solidFill>
                  <a:srgbClr val="5F7249"/>
                </a:solidFill>
                <a:latin typeface="Arial"/>
              </a:rPr>
              <a:t>Verification</a:t>
            </a:r>
          </a:p>
        </p:txBody>
      </p:sp>
      <p:sp>
        <p:nvSpPr>
          <p:cNvPr id="24" name="TextBox 23"/>
          <p:cNvSpPr txBox="1"/>
          <p:nvPr/>
        </p:nvSpPr>
        <p:spPr>
          <a:xfrm>
            <a:off x="822959" y="3273552"/>
            <a:ext cx="3108960" cy="237744"/>
          </a:xfrm>
          <a:prstGeom prst="rect">
            <a:avLst/>
          </a:prstGeom>
          <a:noFill/>
        </p:spPr>
        <p:txBody>
          <a:bodyPr wrap="square" anchor="t" lIns="0" rIns="0" tIns="0" bIns="0">
            <a:spAutoFit/>
          </a:bodyPr>
          <a:lstStyle/>
          <a:p>
            <a:pPr algn="l"/>
            <a:r>
              <a:rPr sz="1200" b="0" i="0">
                <a:solidFill>
                  <a:srgbClr val="4A453D"/>
                </a:solidFill>
                <a:latin typeface="Arial"/>
              </a:rPr>
              <a:t>grade every claim</a:t>
            </a:r>
          </a:p>
        </p:txBody>
      </p:sp>
      <p:sp>
        <p:nvSpPr>
          <p:cNvPr id="25" name="TextBox 24"/>
          <p:cNvSpPr txBox="1"/>
          <p:nvPr/>
        </p:nvSpPr>
        <p:spPr>
          <a:xfrm>
            <a:off x="822959" y="3529584"/>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/insight-engine:verify</a:t>
            </a:r>
          </a:p>
        </p:txBody>
      </p:sp>
      <p:sp>
        <p:nvSpPr>
          <p:cNvPr id="26" name="TextBox 25"/>
          <p:cNvSpPr txBox="1"/>
          <p:nvPr/>
        </p:nvSpPr>
        <p:spPr>
          <a:xfrm>
            <a:off x="4087368" y="2633472"/>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27" name="Rounded Rectangle 26"/>
          <p:cNvSpPr/>
          <p:nvPr/>
        </p:nvSpPr>
        <p:spPr>
          <a:xfrm>
            <a:off x="4343400" y="2633472"/>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26280" y="2697479"/>
            <a:ext cx="3108960" cy="219456"/>
          </a:xfrm>
          <a:prstGeom prst="rect">
            <a:avLst/>
          </a:prstGeom>
          <a:noFill/>
        </p:spPr>
        <p:txBody>
          <a:bodyPr wrap="square" anchor="t" lIns="0" rIns="0" tIns="0" bIns="0">
            <a:spAutoFit/>
          </a:bodyPr>
          <a:lstStyle/>
          <a:p>
            <a:pPr algn="l"/>
            <a:r>
              <a:rPr sz="1000" b="1" i="0">
                <a:solidFill>
                  <a:srgbClr val="8A8578"/>
                </a:solidFill>
                <a:latin typeface="Arial"/>
              </a:rPr>
              <a:t>STEP 5</a:t>
            </a:r>
          </a:p>
        </p:txBody>
      </p:sp>
      <p:sp>
        <p:nvSpPr>
          <p:cNvPr id="29" name="TextBox 28"/>
          <p:cNvSpPr txBox="1"/>
          <p:nvPr/>
        </p:nvSpPr>
        <p:spPr>
          <a:xfrm>
            <a:off x="4526280" y="2907791"/>
            <a:ext cx="3108960" cy="365760"/>
          </a:xfrm>
          <a:prstGeom prst="rect">
            <a:avLst/>
          </a:prstGeom>
          <a:noFill/>
        </p:spPr>
        <p:txBody>
          <a:bodyPr wrap="square" anchor="t" lIns="0" rIns="0" tIns="0" bIns="0">
            <a:spAutoFit/>
          </a:bodyPr>
          <a:lstStyle/>
          <a:p>
            <a:pPr algn="l"/>
            <a:r>
              <a:rPr sz="1500" b="1" i="0">
                <a:solidFill>
                  <a:srgbClr val="4E79A6"/>
                </a:solidFill>
                <a:latin typeface="Arial"/>
              </a:rPr>
              <a:t>Systems pass</a:t>
            </a:r>
          </a:p>
        </p:txBody>
      </p:sp>
      <p:sp>
        <p:nvSpPr>
          <p:cNvPr id="30" name="TextBox 29"/>
          <p:cNvSpPr txBox="1"/>
          <p:nvPr/>
        </p:nvSpPr>
        <p:spPr>
          <a:xfrm>
            <a:off x="4526280" y="3273552"/>
            <a:ext cx="3108960" cy="237744"/>
          </a:xfrm>
          <a:prstGeom prst="rect">
            <a:avLst/>
          </a:prstGeom>
          <a:noFill/>
        </p:spPr>
        <p:txBody>
          <a:bodyPr wrap="square" anchor="t" lIns="0" rIns="0" tIns="0" bIns="0">
            <a:spAutoFit/>
          </a:bodyPr>
          <a:lstStyle/>
          <a:p>
            <a:pPr algn="l"/>
            <a:r>
              <a:rPr sz="1200" b="0" i="0">
                <a:solidFill>
                  <a:srgbClr val="4A453D"/>
                </a:solidFill>
                <a:latin typeface="Arial"/>
              </a:rPr>
              <a:t>conditional</a:t>
            </a:r>
          </a:p>
        </p:txBody>
      </p:sp>
      <p:sp>
        <p:nvSpPr>
          <p:cNvPr id="31" name="TextBox 30"/>
          <p:cNvSpPr txBox="1"/>
          <p:nvPr/>
        </p:nvSpPr>
        <p:spPr>
          <a:xfrm>
            <a:off x="4526280" y="3529584"/>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32" name="TextBox 31"/>
          <p:cNvSpPr txBox="1"/>
          <p:nvPr/>
        </p:nvSpPr>
        <p:spPr>
          <a:xfrm>
            <a:off x="7790688" y="2633472"/>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33" name="Rounded Rectangle 32"/>
          <p:cNvSpPr/>
          <p:nvPr/>
        </p:nvSpPr>
        <p:spPr>
          <a:xfrm>
            <a:off x="8046719" y="2633472"/>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599" y="2697479"/>
            <a:ext cx="3108960" cy="219456"/>
          </a:xfrm>
          <a:prstGeom prst="rect">
            <a:avLst/>
          </a:prstGeom>
          <a:noFill/>
        </p:spPr>
        <p:txBody>
          <a:bodyPr wrap="square" anchor="t" lIns="0" rIns="0" tIns="0" bIns="0">
            <a:spAutoFit/>
          </a:bodyPr>
          <a:lstStyle/>
          <a:p>
            <a:pPr algn="l"/>
            <a:r>
              <a:rPr sz="1000" b="1" i="0">
                <a:solidFill>
                  <a:srgbClr val="8A8578"/>
                </a:solidFill>
                <a:latin typeface="Arial"/>
              </a:rPr>
              <a:t>STEP 6</a:t>
            </a:r>
          </a:p>
        </p:txBody>
      </p:sp>
      <p:sp>
        <p:nvSpPr>
          <p:cNvPr id="35" name="TextBox 34"/>
          <p:cNvSpPr txBox="1"/>
          <p:nvPr/>
        </p:nvSpPr>
        <p:spPr>
          <a:xfrm>
            <a:off x="8229599" y="2907791"/>
            <a:ext cx="3108960" cy="365760"/>
          </a:xfrm>
          <a:prstGeom prst="rect">
            <a:avLst/>
          </a:prstGeom>
          <a:noFill/>
        </p:spPr>
        <p:txBody>
          <a:bodyPr wrap="square" anchor="t" lIns="0" rIns="0" tIns="0" bIns="0">
            <a:spAutoFit/>
          </a:bodyPr>
          <a:lstStyle/>
          <a:p>
            <a:pPr algn="l"/>
            <a:r>
              <a:rPr sz="1500" b="1" i="0">
                <a:solidFill>
                  <a:srgbClr val="4E79A6"/>
                </a:solidFill>
                <a:latin typeface="Arial"/>
              </a:rPr>
              <a:t>Deep-core</a:t>
            </a:r>
          </a:p>
        </p:txBody>
      </p:sp>
      <p:sp>
        <p:nvSpPr>
          <p:cNvPr id="36" name="TextBox 35"/>
          <p:cNvSpPr txBox="1"/>
          <p:nvPr/>
        </p:nvSpPr>
        <p:spPr>
          <a:xfrm>
            <a:off x="8229599" y="3273552"/>
            <a:ext cx="3108960" cy="237744"/>
          </a:xfrm>
          <a:prstGeom prst="rect">
            <a:avLst/>
          </a:prstGeom>
          <a:noFill/>
        </p:spPr>
        <p:txBody>
          <a:bodyPr wrap="square" anchor="t" lIns="0" rIns="0" tIns="0" bIns="0">
            <a:spAutoFit/>
          </a:bodyPr>
          <a:lstStyle/>
          <a:p>
            <a:pPr algn="l"/>
            <a:r>
              <a:rPr sz="1200" b="0" i="0">
                <a:solidFill>
                  <a:srgbClr val="4A453D"/>
                </a:solidFill>
                <a:latin typeface="Arial"/>
              </a:rPr>
              <a:t>set aside un-answerable</a:t>
            </a:r>
          </a:p>
        </p:txBody>
      </p:sp>
      <p:sp>
        <p:nvSpPr>
          <p:cNvPr id="37" name="TextBox 36"/>
          <p:cNvSpPr txBox="1"/>
          <p:nvPr/>
        </p:nvSpPr>
        <p:spPr>
          <a:xfrm>
            <a:off x="8229599" y="3529584"/>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38" name="Rounded Rectangle 37"/>
          <p:cNvSpPr/>
          <p:nvPr/>
        </p:nvSpPr>
        <p:spPr>
          <a:xfrm>
            <a:off x="640080" y="3895344"/>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59" y="3959352"/>
            <a:ext cx="3108960" cy="219456"/>
          </a:xfrm>
          <a:prstGeom prst="rect">
            <a:avLst/>
          </a:prstGeom>
          <a:noFill/>
        </p:spPr>
        <p:txBody>
          <a:bodyPr wrap="square" anchor="t" lIns="0" rIns="0" tIns="0" bIns="0">
            <a:spAutoFit/>
          </a:bodyPr>
          <a:lstStyle/>
          <a:p>
            <a:pPr algn="l"/>
            <a:r>
              <a:rPr sz="1000" b="1" i="0">
                <a:solidFill>
                  <a:srgbClr val="8A8578"/>
                </a:solidFill>
                <a:latin typeface="Arial"/>
              </a:rPr>
              <a:t>STEP 7</a:t>
            </a:r>
          </a:p>
        </p:txBody>
      </p:sp>
      <p:sp>
        <p:nvSpPr>
          <p:cNvPr id="40" name="TextBox 39"/>
          <p:cNvSpPr txBox="1"/>
          <p:nvPr/>
        </p:nvSpPr>
        <p:spPr>
          <a:xfrm>
            <a:off x="822959" y="4169663"/>
            <a:ext cx="3108960" cy="365760"/>
          </a:xfrm>
          <a:prstGeom prst="rect">
            <a:avLst/>
          </a:prstGeom>
          <a:noFill/>
        </p:spPr>
        <p:txBody>
          <a:bodyPr wrap="square" anchor="t" lIns="0" rIns="0" tIns="0" bIns="0">
            <a:spAutoFit/>
          </a:bodyPr>
          <a:lstStyle/>
          <a:p>
            <a:pPr algn="l"/>
            <a:r>
              <a:rPr sz="1500" b="1" i="0">
                <a:solidFill>
                  <a:srgbClr val="5F7249"/>
                </a:solidFill>
                <a:latin typeface="Arial"/>
              </a:rPr>
              <a:t>Grade-lock</a:t>
            </a:r>
          </a:p>
        </p:txBody>
      </p:sp>
      <p:sp>
        <p:nvSpPr>
          <p:cNvPr id="41" name="TextBox 40"/>
          <p:cNvSpPr txBox="1"/>
          <p:nvPr/>
        </p:nvSpPr>
        <p:spPr>
          <a:xfrm>
            <a:off x="822959" y="4535424"/>
            <a:ext cx="3108960" cy="237744"/>
          </a:xfrm>
          <a:prstGeom prst="rect">
            <a:avLst/>
          </a:prstGeom>
          <a:noFill/>
        </p:spPr>
        <p:txBody>
          <a:bodyPr wrap="square" anchor="t" lIns="0" rIns="0" tIns="0" bIns="0">
            <a:spAutoFit/>
          </a:bodyPr>
          <a:lstStyle/>
          <a:p>
            <a:pPr algn="l"/>
            <a:r>
              <a:rPr sz="1200" b="0" i="0">
                <a:solidFill>
                  <a:srgbClr val="4A453D"/>
                </a:solidFill>
                <a:latin typeface="Arial"/>
              </a:rPr>
              <a:t>fix + stress-test</a:t>
            </a:r>
          </a:p>
        </p:txBody>
      </p:sp>
      <p:sp>
        <p:nvSpPr>
          <p:cNvPr id="42" name="TextBox 41"/>
          <p:cNvSpPr txBox="1"/>
          <p:nvPr/>
        </p:nvSpPr>
        <p:spPr>
          <a:xfrm>
            <a:off x="822959" y="4791456"/>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43" name="TextBox 42"/>
          <p:cNvSpPr txBox="1"/>
          <p:nvPr/>
        </p:nvSpPr>
        <p:spPr>
          <a:xfrm>
            <a:off x="4087368" y="3895344"/>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44" name="Rounded Rectangle 43"/>
          <p:cNvSpPr/>
          <p:nvPr/>
        </p:nvSpPr>
        <p:spPr>
          <a:xfrm>
            <a:off x="4343400" y="3895344"/>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26280" y="3959352"/>
            <a:ext cx="3108960" cy="219456"/>
          </a:xfrm>
          <a:prstGeom prst="rect">
            <a:avLst/>
          </a:prstGeom>
          <a:noFill/>
        </p:spPr>
        <p:txBody>
          <a:bodyPr wrap="square" anchor="t" lIns="0" rIns="0" tIns="0" bIns="0">
            <a:spAutoFit/>
          </a:bodyPr>
          <a:lstStyle/>
          <a:p>
            <a:pPr algn="l"/>
            <a:r>
              <a:rPr sz="1000" b="1" i="0">
                <a:solidFill>
                  <a:srgbClr val="8A8578"/>
                </a:solidFill>
                <a:latin typeface="Arial"/>
              </a:rPr>
              <a:t>STEP 8</a:t>
            </a:r>
          </a:p>
        </p:txBody>
      </p:sp>
      <p:sp>
        <p:nvSpPr>
          <p:cNvPr id="46" name="TextBox 45"/>
          <p:cNvSpPr txBox="1"/>
          <p:nvPr/>
        </p:nvSpPr>
        <p:spPr>
          <a:xfrm>
            <a:off x="4526280" y="4169663"/>
            <a:ext cx="3108960" cy="365760"/>
          </a:xfrm>
          <a:prstGeom prst="rect">
            <a:avLst/>
          </a:prstGeom>
          <a:noFill/>
        </p:spPr>
        <p:txBody>
          <a:bodyPr wrap="square" anchor="t" lIns="0" rIns="0" tIns="0" bIns="0">
            <a:spAutoFit/>
          </a:bodyPr>
          <a:lstStyle/>
          <a:p>
            <a:pPr algn="l"/>
            <a:r>
              <a:rPr sz="1500" b="1" i="0">
                <a:solidFill>
                  <a:srgbClr val="D97757"/>
                </a:solidFill>
                <a:latin typeface="Arial"/>
              </a:rPr>
              <a:t>THE GATE</a:t>
            </a:r>
          </a:p>
        </p:txBody>
      </p:sp>
      <p:sp>
        <p:nvSpPr>
          <p:cNvPr id="47" name="TextBox 46"/>
          <p:cNvSpPr txBox="1"/>
          <p:nvPr/>
        </p:nvSpPr>
        <p:spPr>
          <a:xfrm>
            <a:off x="4526280" y="4535424"/>
            <a:ext cx="3108960" cy="237744"/>
          </a:xfrm>
          <a:prstGeom prst="rect">
            <a:avLst/>
          </a:prstGeom>
          <a:noFill/>
        </p:spPr>
        <p:txBody>
          <a:bodyPr wrap="square" anchor="t" lIns="0" rIns="0" tIns="0" bIns="0">
            <a:spAutoFit/>
          </a:bodyPr>
          <a:lstStyle/>
          <a:p>
            <a:pPr algn="l"/>
            <a:r>
              <a:rPr sz="1200" b="0" i="0">
                <a:solidFill>
                  <a:srgbClr val="4A453D"/>
                </a:solidFill>
                <a:latin typeface="Arial"/>
              </a:rPr>
              <a:t>your judgment</a:t>
            </a:r>
          </a:p>
        </p:txBody>
      </p:sp>
      <p:sp>
        <p:nvSpPr>
          <p:cNvPr id="48" name="TextBox 47"/>
          <p:cNvSpPr txBox="1"/>
          <p:nvPr/>
        </p:nvSpPr>
        <p:spPr>
          <a:xfrm>
            <a:off x="4526280" y="4791456"/>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49" name="TextBox 48"/>
          <p:cNvSpPr txBox="1"/>
          <p:nvPr/>
        </p:nvSpPr>
        <p:spPr>
          <a:xfrm>
            <a:off x="7790688" y="3895344"/>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50" name="Rounded Rectangle 49"/>
          <p:cNvSpPr/>
          <p:nvPr/>
        </p:nvSpPr>
        <p:spPr>
          <a:xfrm>
            <a:off x="8046719" y="3895344"/>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599" y="3959352"/>
            <a:ext cx="3108960" cy="219456"/>
          </a:xfrm>
          <a:prstGeom prst="rect">
            <a:avLst/>
          </a:prstGeom>
          <a:noFill/>
        </p:spPr>
        <p:txBody>
          <a:bodyPr wrap="square" anchor="t" lIns="0" rIns="0" tIns="0" bIns="0">
            <a:spAutoFit/>
          </a:bodyPr>
          <a:lstStyle/>
          <a:p>
            <a:pPr algn="l"/>
            <a:r>
              <a:rPr sz="1000" b="1" i="0">
                <a:solidFill>
                  <a:srgbClr val="8A8578"/>
                </a:solidFill>
                <a:latin typeface="Arial"/>
              </a:rPr>
              <a:t>STEP 9</a:t>
            </a:r>
          </a:p>
        </p:txBody>
      </p:sp>
      <p:sp>
        <p:nvSpPr>
          <p:cNvPr id="52" name="TextBox 51"/>
          <p:cNvSpPr txBox="1"/>
          <p:nvPr/>
        </p:nvSpPr>
        <p:spPr>
          <a:xfrm>
            <a:off x="8229599" y="4169663"/>
            <a:ext cx="3108960" cy="365760"/>
          </a:xfrm>
          <a:prstGeom prst="rect">
            <a:avLst/>
          </a:prstGeom>
          <a:noFill/>
        </p:spPr>
        <p:txBody>
          <a:bodyPr wrap="square" anchor="t" lIns="0" rIns="0" tIns="0" bIns="0">
            <a:spAutoFit/>
          </a:bodyPr>
          <a:lstStyle/>
          <a:p>
            <a:pPr algn="l"/>
            <a:r>
              <a:rPr sz="1500" b="1" i="0">
                <a:solidFill>
                  <a:srgbClr val="4E79A6"/>
                </a:solidFill>
                <a:latin typeface="Arial"/>
              </a:rPr>
              <a:t>Decision brief</a:t>
            </a:r>
          </a:p>
        </p:txBody>
      </p:sp>
      <p:sp>
        <p:nvSpPr>
          <p:cNvPr id="53" name="TextBox 52"/>
          <p:cNvSpPr txBox="1"/>
          <p:nvPr/>
        </p:nvSpPr>
        <p:spPr>
          <a:xfrm>
            <a:off x="8229599" y="4535424"/>
            <a:ext cx="3108960" cy="237744"/>
          </a:xfrm>
          <a:prstGeom prst="rect">
            <a:avLst/>
          </a:prstGeom>
          <a:noFill/>
        </p:spPr>
        <p:txBody>
          <a:bodyPr wrap="square" anchor="t" lIns="0" rIns="0" tIns="0" bIns="0">
            <a:spAutoFit/>
          </a:bodyPr>
          <a:lstStyle/>
          <a:p>
            <a:pPr algn="l"/>
            <a:r>
              <a:rPr sz="1200" b="0" i="0">
                <a:solidFill>
                  <a:srgbClr val="4A453D"/>
                </a:solidFill>
                <a:latin typeface="Arial"/>
              </a:rPr>
              <a:t>the call · what flips it</a:t>
            </a:r>
          </a:p>
        </p:txBody>
      </p:sp>
      <p:sp>
        <p:nvSpPr>
          <p:cNvPr id="54" name="TextBox 53"/>
          <p:cNvSpPr txBox="1"/>
          <p:nvPr/>
        </p:nvSpPr>
        <p:spPr>
          <a:xfrm>
            <a:off x="8229599" y="4791456"/>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55" name="Rounded Rectangle 54"/>
          <p:cNvSpPr/>
          <p:nvPr/>
        </p:nvSpPr>
        <p:spPr>
          <a:xfrm>
            <a:off x="640080" y="5157216"/>
            <a:ext cx="3429000" cy="1152144"/>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2959" y="5221224"/>
            <a:ext cx="3108960" cy="219456"/>
          </a:xfrm>
          <a:prstGeom prst="rect">
            <a:avLst/>
          </a:prstGeom>
          <a:noFill/>
        </p:spPr>
        <p:txBody>
          <a:bodyPr wrap="square" anchor="t" lIns="0" rIns="0" tIns="0" bIns="0">
            <a:spAutoFit/>
          </a:bodyPr>
          <a:lstStyle/>
          <a:p>
            <a:pPr algn="l"/>
            <a:r>
              <a:rPr sz="1000" b="1" i="0">
                <a:solidFill>
                  <a:srgbClr val="7A3F28"/>
                </a:solidFill>
                <a:latin typeface="Arial"/>
              </a:rPr>
              <a:t>STEP 10</a:t>
            </a:r>
          </a:p>
        </p:txBody>
      </p:sp>
      <p:sp>
        <p:nvSpPr>
          <p:cNvPr id="57" name="TextBox 56"/>
          <p:cNvSpPr txBox="1"/>
          <p:nvPr/>
        </p:nvSpPr>
        <p:spPr>
          <a:xfrm>
            <a:off x="822959" y="5431536"/>
            <a:ext cx="3108960" cy="365760"/>
          </a:xfrm>
          <a:prstGeom prst="rect">
            <a:avLst/>
          </a:prstGeom>
          <a:noFill/>
        </p:spPr>
        <p:txBody>
          <a:bodyPr wrap="square" anchor="t" lIns="0" rIns="0" tIns="0" bIns="0">
            <a:spAutoFit/>
          </a:bodyPr>
          <a:lstStyle/>
          <a:p>
            <a:pPr algn="l"/>
            <a:r>
              <a:rPr sz="1500" b="1" i="0">
                <a:solidFill>
                  <a:srgbClr val="7A3F28"/>
                </a:solidFill>
                <a:latin typeface="Arial"/>
              </a:rPr>
              <a:t>Adjudication</a:t>
            </a:r>
          </a:p>
        </p:txBody>
      </p:sp>
      <p:sp>
        <p:nvSpPr>
          <p:cNvPr id="58" name="TextBox 57"/>
          <p:cNvSpPr txBox="1"/>
          <p:nvPr/>
        </p:nvSpPr>
        <p:spPr>
          <a:xfrm>
            <a:off x="822959" y="5797296"/>
            <a:ext cx="3108960" cy="237744"/>
          </a:xfrm>
          <a:prstGeom prst="rect">
            <a:avLst/>
          </a:prstGeom>
          <a:noFill/>
        </p:spPr>
        <p:txBody>
          <a:bodyPr wrap="square" anchor="t" lIns="0" rIns="0" tIns="0" bIns="0">
            <a:spAutoFit/>
          </a:bodyPr>
          <a:lstStyle/>
          <a:p>
            <a:pPr algn="l"/>
            <a:r>
              <a:rPr sz="1200" b="0" i="0">
                <a:solidFill>
                  <a:srgbClr val="7A3F28"/>
                </a:solidFill>
                <a:latin typeface="Arial"/>
              </a:rPr>
              <a:t>opt-in · 2nd-model check</a:t>
            </a:r>
          </a:p>
        </p:txBody>
      </p:sp>
      <p:sp>
        <p:nvSpPr>
          <p:cNvPr id="59" name="TextBox 58"/>
          <p:cNvSpPr txBox="1"/>
          <p:nvPr/>
        </p:nvSpPr>
        <p:spPr>
          <a:xfrm>
            <a:off x="822959" y="6053327"/>
            <a:ext cx="3108960" cy="201168"/>
          </a:xfrm>
          <a:prstGeom prst="rect">
            <a:avLst/>
          </a:prstGeom>
          <a:noFill/>
        </p:spPr>
        <p:txBody>
          <a:bodyPr wrap="square" anchor="t" lIns="0" rIns="0" tIns="0" bIns="0">
            <a:spAutoFit/>
          </a:bodyPr>
          <a:lstStyle/>
          <a:p>
            <a:pPr algn="l"/>
            <a:r>
              <a:rPr sz="850" b="0" i="0">
                <a:solidFill>
                  <a:srgbClr val="7A3F28"/>
                </a:solidFill>
                <a:latin typeface="Consolas"/>
              </a:rPr>
              <a:t>/insight-engine:adjudicate</a:t>
            </a:r>
          </a:p>
        </p:txBody>
      </p:sp>
      <p:sp>
        <p:nvSpPr>
          <p:cNvPr id="60" name="TextBox 59"/>
          <p:cNvSpPr txBox="1"/>
          <p:nvPr/>
        </p:nvSpPr>
        <p:spPr>
          <a:xfrm>
            <a:off x="4087368" y="5157216"/>
            <a:ext cx="237744" cy="1152144"/>
          </a:xfrm>
          <a:prstGeom prst="rect">
            <a:avLst/>
          </a:prstGeom>
          <a:noFill/>
        </p:spPr>
        <p:txBody>
          <a:bodyPr wrap="square" anchor="ctr" lIns="0" rIns="0" tIns="0" bIns="0">
            <a:spAutoFit/>
          </a:bodyPr>
          <a:lstStyle/>
          <a:p>
            <a:pPr algn="ctr"/>
            <a:r>
              <a:rPr sz="1800" b="0" i="0">
                <a:solidFill>
                  <a:srgbClr val="7A3F28"/>
                </a:solidFill>
                <a:latin typeface="Arial"/>
              </a:rPr>
              <a:t>‣</a:t>
            </a:r>
          </a:p>
        </p:txBody>
      </p:sp>
      <p:sp>
        <p:nvSpPr>
          <p:cNvPr id="61" name="Rounded Rectangle 60"/>
          <p:cNvSpPr/>
          <p:nvPr/>
        </p:nvSpPr>
        <p:spPr>
          <a:xfrm>
            <a:off x="4343400" y="5157216"/>
            <a:ext cx="3429000" cy="1152144"/>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26280" y="5221224"/>
            <a:ext cx="3108960" cy="219456"/>
          </a:xfrm>
          <a:prstGeom prst="rect">
            <a:avLst/>
          </a:prstGeom>
          <a:noFill/>
        </p:spPr>
        <p:txBody>
          <a:bodyPr wrap="square" anchor="t" lIns="0" rIns="0" tIns="0" bIns="0">
            <a:spAutoFit/>
          </a:bodyPr>
          <a:lstStyle/>
          <a:p>
            <a:pPr algn="l"/>
            <a:r>
              <a:rPr sz="1000" b="1" i="0">
                <a:solidFill>
                  <a:srgbClr val="7A3F28"/>
                </a:solidFill>
                <a:latin typeface="Arial"/>
              </a:rPr>
              <a:t>STEP 11</a:t>
            </a:r>
          </a:p>
        </p:txBody>
      </p:sp>
      <p:sp>
        <p:nvSpPr>
          <p:cNvPr id="63" name="TextBox 62"/>
          <p:cNvSpPr txBox="1"/>
          <p:nvPr/>
        </p:nvSpPr>
        <p:spPr>
          <a:xfrm>
            <a:off x="4526280" y="5431536"/>
            <a:ext cx="3108960" cy="365760"/>
          </a:xfrm>
          <a:prstGeom prst="rect">
            <a:avLst/>
          </a:prstGeom>
          <a:noFill/>
        </p:spPr>
        <p:txBody>
          <a:bodyPr wrap="square" anchor="t" lIns="0" rIns="0" tIns="0" bIns="0">
            <a:spAutoFit/>
          </a:bodyPr>
          <a:lstStyle/>
          <a:p>
            <a:pPr algn="l"/>
            <a:r>
              <a:rPr sz="1500" b="1" i="0">
                <a:solidFill>
                  <a:srgbClr val="7A3F28"/>
                </a:solidFill>
                <a:latin typeface="Arial"/>
              </a:rPr>
              <a:t>Render</a:t>
            </a:r>
          </a:p>
        </p:txBody>
      </p:sp>
      <p:sp>
        <p:nvSpPr>
          <p:cNvPr id="64" name="TextBox 63"/>
          <p:cNvSpPr txBox="1"/>
          <p:nvPr/>
        </p:nvSpPr>
        <p:spPr>
          <a:xfrm>
            <a:off x="4526280" y="5797296"/>
            <a:ext cx="3108960" cy="237744"/>
          </a:xfrm>
          <a:prstGeom prst="rect">
            <a:avLst/>
          </a:prstGeom>
          <a:noFill/>
        </p:spPr>
        <p:txBody>
          <a:bodyPr wrap="square" anchor="t" lIns="0" rIns="0" tIns="0" bIns="0">
            <a:spAutoFit/>
          </a:bodyPr>
          <a:lstStyle/>
          <a:p>
            <a:pPr algn="l"/>
            <a:r>
              <a:rPr sz="1200" b="0" i="0">
                <a:solidFill>
                  <a:srgbClr val="7A3F28"/>
                </a:solidFill>
                <a:latin typeface="Arial"/>
              </a:rPr>
              <a:t>re-voice for a reader</a:t>
            </a:r>
          </a:p>
        </p:txBody>
      </p:sp>
      <p:sp>
        <p:nvSpPr>
          <p:cNvPr id="65" name="TextBox 64"/>
          <p:cNvSpPr txBox="1"/>
          <p:nvPr/>
        </p:nvSpPr>
        <p:spPr>
          <a:xfrm>
            <a:off x="4526280" y="6053327"/>
            <a:ext cx="3108960" cy="201168"/>
          </a:xfrm>
          <a:prstGeom prst="rect">
            <a:avLst/>
          </a:prstGeom>
          <a:noFill/>
        </p:spPr>
        <p:txBody>
          <a:bodyPr wrap="square" anchor="t" lIns="0" rIns="0" tIns="0" bIns="0">
            <a:spAutoFit/>
          </a:bodyPr>
          <a:lstStyle/>
          <a:p>
            <a:pPr algn="l"/>
            <a:r>
              <a:rPr sz="850" b="0" i="0">
                <a:solidFill>
                  <a:srgbClr val="7A3F28"/>
                </a:solidFill>
                <a:latin typeface="Consolas"/>
              </a:rPr>
              <a:t>/insight-engine:render</a:t>
            </a:r>
          </a:p>
        </p:txBody>
      </p:sp>
      <p:sp>
        <p:nvSpPr>
          <p:cNvPr id="66" name="TextBox 65"/>
          <p:cNvSpPr txBox="1"/>
          <p:nvPr/>
        </p:nvSpPr>
        <p:spPr>
          <a:xfrm>
            <a:off x="7790688" y="5157216"/>
            <a:ext cx="237744" cy="1152144"/>
          </a:xfrm>
          <a:prstGeom prst="rect">
            <a:avLst/>
          </a:prstGeom>
          <a:noFill/>
        </p:spPr>
        <p:txBody>
          <a:bodyPr wrap="square" anchor="ctr" lIns="0" rIns="0" tIns="0" bIns="0">
            <a:spAutoFit/>
          </a:bodyPr>
          <a:lstStyle/>
          <a:p>
            <a:pPr algn="ctr"/>
            <a:r>
              <a:rPr sz="1800" b="0" i="0">
                <a:solidFill>
                  <a:srgbClr val="7A3F28"/>
                </a:solidFill>
                <a:latin typeface="Arial"/>
              </a:rPr>
              <a:t>‣</a:t>
            </a:r>
          </a:p>
        </p:txBody>
      </p:sp>
      <p:sp>
        <p:nvSpPr>
          <p:cNvPr id="67" name="Rounded Rectangle 66"/>
          <p:cNvSpPr/>
          <p:nvPr/>
        </p:nvSpPr>
        <p:spPr>
          <a:xfrm>
            <a:off x="8046719" y="5157216"/>
            <a:ext cx="3429000" cy="1152144"/>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229599" y="5221224"/>
            <a:ext cx="3108960" cy="219456"/>
          </a:xfrm>
          <a:prstGeom prst="rect">
            <a:avLst/>
          </a:prstGeom>
          <a:noFill/>
        </p:spPr>
        <p:txBody>
          <a:bodyPr wrap="square" anchor="t" lIns="0" rIns="0" tIns="0" bIns="0">
            <a:spAutoFit/>
          </a:bodyPr>
          <a:lstStyle/>
          <a:p>
            <a:pPr algn="l"/>
            <a:r>
              <a:rPr sz="1000" b="1" i="0">
                <a:solidFill>
                  <a:srgbClr val="7A3F28"/>
                </a:solidFill>
                <a:latin typeface="Arial"/>
              </a:rPr>
              <a:t>STEP 12</a:t>
            </a:r>
          </a:p>
        </p:txBody>
      </p:sp>
      <p:sp>
        <p:nvSpPr>
          <p:cNvPr id="69" name="TextBox 68"/>
          <p:cNvSpPr txBox="1"/>
          <p:nvPr/>
        </p:nvSpPr>
        <p:spPr>
          <a:xfrm>
            <a:off x="8229599" y="5431536"/>
            <a:ext cx="3108960" cy="365760"/>
          </a:xfrm>
          <a:prstGeom prst="rect">
            <a:avLst/>
          </a:prstGeom>
          <a:noFill/>
        </p:spPr>
        <p:txBody>
          <a:bodyPr wrap="square" anchor="t" lIns="0" rIns="0" tIns="0" bIns="0">
            <a:spAutoFit/>
          </a:bodyPr>
          <a:lstStyle/>
          <a:p>
            <a:pPr algn="l"/>
            <a:r>
              <a:rPr sz="1500" b="1" i="0">
                <a:solidFill>
                  <a:srgbClr val="7A3F28"/>
                </a:solidFill>
                <a:latin typeface="Arial"/>
              </a:rPr>
              <a:t>Track</a:t>
            </a:r>
          </a:p>
        </p:txBody>
      </p:sp>
      <p:sp>
        <p:nvSpPr>
          <p:cNvPr id="70" name="TextBox 69"/>
          <p:cNvSpPr txBox="1"/>
          <p:nvPr/>
        </p:nvSpPr>
        <p:spPr>
          <a:xfrm>
            <a:off x="8229599" y="5797296"/>
            <a:ext cx="3108960" cy="237744"/>
          </a:xfrm>
          <a:prstGeom prst="rect">
            <a:avLst/>
          </a:prstGeom>
          <a:noFill/>
        </p:spPr>
        <p:txBody>
          <a:bodyPr wrap="square" anchor="t" lIns="0" rIns="0" tIns="0" bIns="0">
            <a:spAutoFit/>
          </a:bodyPr>
          <a:lstStyle/>
          <a:p>
            <a:pPr algn="l"/>
            <a:r>
              <a:rPr sz="1200" b="0" i="0">
                <a:solidFill>
                  <a:srgbClr val="7A3F28"/>
                </a:solidFill>
                <a:latin typeface="Arial"/>
              </a:rPr>
              <a:t>keep it live as facts arrive</a:t>
            </a:r>
          </a:p>
        </p:txBody>
      </p:sp>
      <p:sp>
        <p:nvSpPr>
          <p:cNvPr id="71" name="TextBox 70"/>
          <p:cNvSpPr txBox="1"/>
          <p:nvPr/>
        </p:nvSpPr>
        <p:spPr>
          <a:xfrm>
            <a:off x="8229599" y="6053327"/>
            <a:ext cx="3108960" cy="201168"/>
          </a:xfrm>
          <a:prstGeom prst="rect">
            <a:avLst/>
          </a:prstGeom>
          <a:noFill/>
        </p:spPr>
        <p:txBody>
          <a:bodyPr wrap="square" anchor="t" lIns="0" rIns="0" tIns="0" bIns="0">
            <a:spAutoFit/>
          </a:bodyPr>
          <a:lstStyle/>
          <a:p>
            <a:pPr algn="l"/>
            <a:r>
              <a:rPr sz="850" b="0" i="0">
                <a:solidFill>
                  <a:srgbClr val="7A3F28"/>
                </a:solidFill>
                <a:latin typeface="Consolas"/>
              </a:rPr>
              <a:t>/insight-engine:track</a:t>
            </a:r>
          </a:p>
        </p:txBody>
      </p:sp>
      <p:sp>
        <p:nvSpPr>
          <p:cNvPr id="72" name="TextBox 7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6/27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 · PROPORTIONALITY TRIAGE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First, decide how hard to look.</a:t>
            </a:r>
          </a:p>
        </p:txBody>
      </p:sp>
      <p:sp>
        <p:nvSpPr>
          <p:cNvPr id="4" name="Rounded Rectangle 3"/>
          <p:cNvSpPr/>
          <p:nvPr/>
        </p:nvSpPr>
        <p:spPr>
          <a:xfrm>
            <a:off x="640080" y="1783080"/>
            <a:ext cx="6720840"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6217920" cy="457200"/>
          </a:xfrm>
          <a:prstGeom prst="rect">
            <a:avLst/>
          </a:prstGeom>
          <a:noFill/>
        </p:spPr>
        <p:txBody>
          <a:bodyPr wrap="square" anchor="t" lIns="0" rIns="0" tIns="0" bIns="0">
            <a:spAutoFit/>
          </a:bodyPr>
          <a:lstStyle/>
          <a:p>
            <a:pPr algn="l"/>
            <a:r>
              <a:rPr sz="1900" b="1" i="0">
                <a:solidFill>
                  <a:srgbClr val="4E79A6"/>
                </a:solidFill>
                <a:latin typeface="Arial"/>
              </a:rPr>
              <a:t>Runs the FULL method — the default</a:t>
            </a:r>
          </a:p>
        </p:txBody>
      </p:sp>
      <p:sp>
        <p:nvSpPr>
          <p:cNvPr id="6" name="TextBox 5"/>
          <p:cNvSpPr txBox="1"/>
          <p:nvPr/>
        </p:nvSpPr>
        <p:spPr>
          <a:xfrm>
            <a:off x="914400" y="2651760"/>
            <a:ext cx="6217920" cy="2286000"/>
          </a:xfrm>
          <a:prstGeom prst="rect">
            <a:avLst/>
          </a:prstGeom>
          <a:noFill/>
        </p:spPr>
        <p:txBody>
          <a:bodyPr wrap="square" anchor="t" lIns="0" rIns="0" tIns="0" bIns="0">
            <a:spAutoFit/>
          </a:bodyPr>
          <a:lstStyle/>
          <a:p>
            <a:pPr algn="l">
              <a:spcAft>
                <a:spcPts val="400"/>
              </a:spcAft>
            </a:pPr>
            <a:r>
              <a:rPr sz="1500" b="0" i="1">
                <a:solidFill>
                  <a:srgbClr val="4A453D"/>
                </a:solidFill>
                <a:latin typeface="Arial"/>
              </a:rPr>
              <a:t>Any one of these is enough:</a:t>
            </a:r>
          </a:p>
          <a:p>
            <a:pPr algn="l">
              <a:spcAft>
                <a:spcPts val="400"/>
              </a:spcAft>
            </a:pPr>
            <a:r>
              <a:rPr sz="1600" b="0" i="0">
                <a:solidFill>
                  <a:srgbClr val="141413"/>
                </a:solidFill>
                <a:latin typeface="Arial"/>
              </a:rPr>
              <a:t>• irreversible</a:t>
            </a:r>
          </a:p>
          <a:p>
            <a:pPr algn="l">
              <a:spcAft>
                <a:spcPts val="400"/>
              </a:spcAft>
            </a:pPr>
            <a:r>
              <a:rPr sz="1600" b="0" i="0">
                <a:solidFill>
                  <a:srgbClr val="141413"/>
                </a:solidFill>
                <a:latin typeface="Arial"/>
              </a:rPr>
              <a:t>• someone bound who isn't in the room</a:t>
            </a:r>
          </a:p>
          <a:p>
            <a:pPr algn="l">
              <a:spcAft>
                <a:spcPts val="400"/>
              </a:spcAft>
            </a:pPr>
            <a:r>
              <a:rPr sz="1600" b="0" i="0">
                <a:solidFill>
                  <a:srgbClr val="141413"/>
                </a:solidFill>
                <a:latin typeface="Arial"/>
              </a:rPr>
              <a:t>• real money or dependency</a:t>
            </a:r>
          </a:p>
          <a:p>
            <a:pPr algn="l">
              <a:spcAft>
                <a:spcPts val="400"/>
              </a:spcAft>
            </a:pPr>
            <a:r>
              <a:rPr sz="1600" b="0" i="0">
                <a:solidFill>
                  <a:srgbClr val="141413"/>
                </a:solidFill>
                <a:latin typeface="Arial"/>
              </a:rPr>
              <a:t>• legal or regulatory exposure</a:t>
            </a:r>
          </a:p>
          <a:p>
            <a:pPr algn="l">
              <a:spcAft>
                <a:spcPts val="400"/>
              </a:spcAft>
            </a:pPr>
            <a:r>
              <a:rPr sz="1600" b="0" i="0">
                <a:solidFill>
                  <a:srgbClr val="141413"/>
                </a:solidFill>
                <a:latin typeface="Arial"/>
              </a:rPr>
              <a:t>• contested values</a:t>
            </a:r>
          </a:p>
          <a:p>
            <a:pPr algn="l">
              <a:spcAft>
                <a:spcPts val="400"/>
              </a:spcAft>
            </a:pPr>
            <a:r>
              <a:rPr sz="1600" b="0" i="0">
                <a:solidFill>
                  <a:srgbClr val="141413"/>
                </a:solidFill>
                <a:latin typeface="Arial"/>
              </a:rPr>
              <a:t>• a party who benefits from light scrutiny</a:t>
            </a:r>
          </a:p>
        </p:txBody>
      </p:sp>
      <p:sp>
        <p:nvSpPr>
          <p:cNvPr id="7" name="Rounded Rectangle 6"/>
          <p:cNvSpPr/>
          <p:nvPr/>
        </p:nvSpPr>
        <p:spPr>
          <a:xfrm>
            <a:off x="7589520" y="1783080"/>
            <a:ext cx="3959352"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011680"/>
            <a:ext cx="3429000" cy="457200"/>
          </a:xfrm>
          <a:prstGeom prst="rect">
            <a:avLst/>
          </a:prstGeom>
          <a:noFill/>
        </p:spPr>
        <p:txBody>
          <a:bodyPr wrap="square" anchor="t" lIns="0" rIns="0" tIns="0" bIns="0">
            <a:spAutoFit/>
          </a:bodyPr>
          <a:lstStyle/>
          <a:p>
            <a:pPr algn="l"/>
            <a:r>
              <a:rPr sz="1900" b="1" i="0">
                <a:solidFill>
                  <a:srgbClr val="4A453D"/>
                </a:solidFill>
                <a:latin typeface="Arial"/>
              </a:rPr>
              <a:t>A short answer — rare</a:t>
            </a:r>
          </a:p>
        </p:txBody>
      </p:sp>
      <p:sp>
        <p:nvSpPr>
          <p:cNvPr id="9" name="TextBox 8"/>
          <p:cNvSpPr txBox="1"/>
          <p:nvPr/>
        </p:nvSpPr>
        <p:spPr>
          <a:xfrm>
            <a:off x="7863840" y="2651760"/>
            <a:ext cx="3429000" cy="2194560"/>
          </a:xfrm>
          <a:prstGeom prst="rect">
            <a:avLst/>
          </a:prstGeom>
          <a:noFill/>
        </p:spPr>
        <p:txBody>
          <a:bodyPr wrap="square" anchor="t" lIns="0" rIns="0" tIns="0" bIns="0">
            <a:spAutoFit/>
          </a:bodyPr>
          <a:lstStyle/>
          <a:p>
            <a:pPr algn="l"/>
            <a:r>
              <a:rPr sz="1700" b="0" i="0">
                <a:solidFill>
                  <a:srgbClr val="4A453D"/>
                </a:solidFill>
                <a:latin typeface="Arial"/>
              </a:rPr>
              <a:t>Only when the problem is unambiguously routine, reversible, and binds nobody. Under any doubt, it runs the full method.</a:t>
            </a:r>
          </a:p>
        </p:txBody>
      </p:sp>
      <p:sp>
        <p:nvSpPr>
          <p:cNvPr id="10" name="Rounded Rectangle 9"/>
          <p:cNvSpPr/>
          <p:nvPr/>
        </p:nvSpPr>
        <p:spPr>
          <a:xfrm>
            <a:off x="640080" y="525780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257800"/>
            <a:ext cx="10177272" cy="1051560"/>
          </a:xfrm>
          <a:prstGeom prst="rect">
            <a:avLst/>
          </a:prstGeom>
          <a:noFill/>
        </p:spPr>
        <p:txBody>
          <a:bodyPr wrap="square" anchor="ctr" lIns="0" rIns="0" tIns="0" bIns="0">
            <a:spAutoFit/>
          </a:bodyPr>
          <a:lstStyle/>
          <a:p>
            <a:pPr algn="l"/>
            <a:r>
              <a:rPr sz="1800" b="1" i="0">
                <a:solidFill>
                  <a:srgbClr val="FFFFFF"/>
                </a:solidFill>
                <a:latin typeface="Arial"/>
              </a:rPr>
              <a:t>A little over-analysis is cheap.  </a:t>
            </a:r>
          </a:p>
          <a:p>
            <a:pPr algn="l"/>
            <a:r>
              <a:rPr sz="1800" b="1" i="0">
                <a:solidFill>
                  <a:srgbClr val="FAF9F5"/>
                </a:solidFill>
                <a:latin typeface="Arial"/>
              </a:rPr>
              <a:t>Treating a serious problem as routine is not.</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7/27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2 · OPTIONAL SCOPING</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Five questions you can answer — or skip.</a:t>
            </a:r>
          </a:p>
        </p:txBody>
      </p:sp>
      <p:sp>
        <p:nvSpPr>
          <p:cNvPr id="4" name="Rounded Rectangle 3"/>
          <p:cNvSpPr/>
          <p:nvPr/>
        </p:nvSpPr>
        <p:spPr>
          <a:xfrm>
            <a:off x="640080" y="1783080"/>
            <a:ext cx="1090879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93392"/>
            <a:ext cx="10241280" cy="2743200"/>
          </a:xfrm>
          <a:prstGeom prst="rect">
            <a:avLst/>
          </a:prstGeom>
          <a:noFill/>
        </p:spPr>
        <p:txBody>
          <a:bodyPr wrap="square" anchor="t" lIns="0" rIns="0" tIns="0" bIns="0">
            <a:spAutoFit/>
          </a:bodyPr>
          <a:lstStyle/>
          <a:p>
            <a:pPr algn="l">
              <a:spcAft>
                <a:spcPts val="700"/>
              </a:spcAft>
            </a:pPr>
            <a:r>
              <a:rPr sz="1600" b="0" i="0">
                <a:solidFill>
                  <a:srgbClr val="4A453D"/>
                </a:solidFill>
                <a:latin typeface="Arial"/>
              </a:rPr>
              <a:t>Before the analysis, the engine offers up to five clarifying questions — one thing each, all skippable:</a:t>
            </a:r>
          </a:p>
          <a:p>
            <a:pPr algn="l">
              <a:spcAft>
                <a:spcPts val="700"/>
              </a:spcAft>
            </a:pPr>
            <a:r>
              <a:rPr sz="1500" b="0" i="0">
                <a:solidFill>
                  <a:srgbClr val="141413"/>
                </a:solidFill>
                <a:latin typeface="Arial"/>
              </a:rPr>
              <a:t>1 · The trouble — what is going wrong, stated as the symptom not the diagnosis, and why now.</a:t>
            </a:r>
          </a:p>
          <a:p>
            <a:pPr algn="l">
              <a:spcAft>
                <a:spcPts val="700"/>
              </a:spcAft>
            </a:pPr>
            <a:r>
              <a:rPr sz="1500" b="0" i="0">
                <a:solidFill>
                  <a:srgbClr val="141413"/>
                </a:solidFill>
                <a:latin typeface="Arial"/>
              </a:rPr>
              <a:t>2 · The owner — whose problem this is, who acts on the answer, and who else will read it.</a:t>
            </a:r>
          </a:p>
          <a:p>
            <a:pPr algn="l">
              <a:spcAft>
                <a:spcPts val="700"/>
              </a:spcAft>
            </a:pPr>
            <a:r>
              <a:rPr sz="1500" b="0" i="0">
                <a:solidFill>
                  <a:srgbClr val="141413"/>
                </a:solidFill>
                <a:latin typeface="Arial"/>
              </a:rPr>
              <a:t>3 · Success &amp; stakes — what a good outcome looks like, what counts as a serious cost, whose costs matter most.</a:t>
            </a:r>
          </a:p>
          <a:p>
            <a:pPr algn="l">
              <a:spcAft>
                <a:spcPts val="700"/>
              </a:spcAft>
            </a:pPr>
            <a:r>
              <a:rPr sz="1500" b="0" i="0">
                <a:solidFill>
                  <a:srgbClr val="141413"/>
                </a:solidFill>
                <a:latin typeface="Arial"/>
              </a:rPr>
              <a:t>4 · Constraints &amp; scope — what is fixed, and what is explicitly in and out (scope is where the largest hiddens hide).</a:t>
            </a:r>
          </a:p>
          <a:p>
            <a:pPr algn="l">
              <a:spcAft>
                <a:spcPts val="700"/>
              </a:spcAft>
            </a:pPr>
            <a:r>
              <a:rPr sz="1500" b="0" i="0">
                <a:solidFill>
                  <a:srgbClr val="141413"/>
                </a:solidFill>
                <a:latin typeface="Arial"/>
              </a:rPr>
              <a:t>5 · Party-held material — documents or figures only you hold; upload them.</a:t>
            </a:r>
          </a:p>
        </p:txBody>
      </p:sp>
      <p:sp>
        <p:nvSpPr>
          <p:cNvPr id="6" name="Rounded Rectangle 5"/>
          <p:cNvSpPr/>
          <p:nvPr/>
        </p:nvSpPr>
        <p:spPr>
          <a:xfrm>
            <a:off x="640080" y="507492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5074920"/>
            <a:ext cx="10177272" cy="1188720"/>
          </a:xfrm>
          <a:prstGeom prst="rect">
            <a:avLst/>
          </a:prstGeom>
          <a:noFill/>
        </p:spPr>
        <p:txBody>
          <a:bodyPr wrap="square" anchor="ctr" lIns="0" rIns="0" tIns="0" bIns="0">
            <a:spAutoFit/>
          </a:bodyPr>
          <a:lstStyle/>
          <a:p>
            <a:pPr algn="l"/>
            <a:r>
              <a:rPr sz="1800" b="1" i="0">
                <a:solidFill>
                  <a:srgbClr val="FFFFFF"/>
                </a:solidFill>
                <a:latin typeface="Arial"/>
              </a:rPr>
              <a:t>Skip any or all — nothing blocks.</a:t>
            </a:r>
          </a:p>
          <a:p>
            <a:pPr algn="l"/>
            <a:r>
              <a:rPr sz="1800" b="1" i="0">
                <a:solidFill>
                  <a:srgbClr val="FFFFFF"/>
                </a:solidFill>
                <a:latin typeface="Arial"/>
              </a:rPr>
              <a:t>Whatever you don't answer, the engine fills with a stated assumption and marks it as one.</a:t>
            </a:r>
          </a:p>
        </p:txBody>
      </p:sp>
      <p:sp>
        <p:nvSpPr>
          <p:cNvPr id="8" name="TextBox 7"/>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8/27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3 · THE PROVOCATION PASS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See what's hidden — before you verify.</a:t>
            </a:r>
          </a:p>
        </p:txBody>
      </p:sp>
      <p:sp>
        <p:nvSpPr>
          <p:cNvPr id="4" name="Rounded Rectangle 3"/>
          <p:cNvSpPr/>
          <p:nvPr/>
        </p:nvSpPr>
        <p:spPr>
          <a:xfrm>
            <a:off x="640080" y="1691640"/>
            <a:ext cx="530352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828800"/>
            <a:ext cx="4846320" cy="502920"/>
          </a:xfrm>
          <a:prstGeom prst="rect">
            <a:avLst/>
          </a:prstGeom>
          <a:noFill/>
        </p:spPr>
        <p:txBody>
          <a:bodyPr wrap="square" anchor="t" lIns="0" rIns="0" tIns="0" bIns="0">
            <a:spAutoFit/>
          </a:bodyPr>
          <a:lstStyle/>
          <a:p>
            <a:pPr algn="l"/>
            <a:r>
              <a:rPr sz="1800" b="1" i="0">
                <a:solidFill>
                  <a:srgbClr val="4E79A6"/>
                </a:solidFill>
                <a:latin typeface="Arial"/>
              </a:rPr>
              <a:t>Whose voice is absent?</a:t>
            </a:r>
          </a:p>
        </p:txBody>
      </p:sp>
      <p:sp>
        <p:nvSpPr>
          <p:cNvPr id="6" name="TextBox 5"/>
          <p:cNvSpPr txBox="1"/>
          <p:nvPr/>
        </p:nvSpPr>
        <p:spPr>
          <a:xfrm>
            <a:off x="896112" y="2331720"/>
            <a:ext cx="4846320" cy="411480"/>
          </a:xfrm>
          <a:prstGeom prst="rect">
            <a:avLst/>
          </a:prstGeom>
          <a:noFill/>
        </p:spPr>
        <p:txBody>
          <a:bodyPr wrap="square" anchor="t" lIns="0" rIns="0" tIns="0" bIns="0">
            <a:spAutoFit/>
          </a:bodyPr>
          <a:lstStyle/>
          <a:p>
            <a:pPr algn="l"/>
            <a:r>
              <a:rPr sz="1400" b="0" i="0">
                <a:solidFill>
                  <a:srgbClr val="4A453D"/>
                </a:solidFill>
                <a:latin typeface="Arial"/>
              </a:rPr>
              <a:t>who isn't in the room</a:t>
            </a:r>
          </a:p>
        </p:txBody>
      </p:sp>
      <p:sp>
        <p:nvSpPr>
          <p:cNvPr id="7" name="Rounded Rectangle 6"/>
          <p:cNvSpPr/>
          <p:nvPr/>
        </p:nvSpPr>
        <p:spPr>
          <a:xfrm>
            <a:off x="6190488" y="1691640"/>
            <a:ext cx="530352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828800"/>
            <a:ext cx="4846320" cy="502920"/>
          </a:xfrm>
          <a:prstGeom prst="rect">
            <a:avLst/>
          </a:prstGeom>
          <a:noFill/>
        </p:spPr>
        <p:txBody>
          <a:bodyPr wrap="square" anchor="t" lIns="0" rIns="0" tIns="0" bIns="0">
            <a:spAutoFit/>
          </a:bodyPr>
          <a:lstStyle/>
          <a:p>
            <a:pPr algn="l"/>
            <a:r>
              <a:rPr sz="1800" b="1" i="0">
                <a:solidFill>
                  <a:srgbClr val="4E79A6"/>
                </a:solidFill>
                <a:latin typeface="Arial"/>
              </a:rPr>
              <a:t>Who benefits from the framing?</a:t>
            </a:r>
          </a:p>
        </p:txBody>
      </p:sp>
      <p:sp>
        <p:nvSpPr>
          <p:cNvPr id="9" name="TextBox 8"/>
          <p:cNvSpPr txBox="1"/>
          <p:nvPr/>
        </p:nvSpPr>
        <p:spPr>
          <a:xfrm>
            <a:off x="6446520" y="2331720"/>
            <a:ext cx="4846320" cy="411480"/>
          </a:xfrm>
          <a:prstGeom prst="rect">
            <a:avLst/>
          </a:prstGeom>
          <a:noFill/>
        </p:spPr>
        <p:txBody>
          <a:bodyPr wrap="square" anchor="t" lIns="0" rIns="0" tIns="0" bIns="0">
            <a:spAutoFit/>
          </a:bodyPr>
          <a:lstStyle/>
          <a:p>
            <a:pPr algn="l"/>
            <a:r>
              <a:rPr sz="1400" b="0" i="0">
                <a:solidFill>
                  <a:srgbClr val="4A453D"/>
                </a:solidFill>
                <a:latin typeface="Arial"/>
              </a:rPr>
              <a:t>cui bono</a:t>
            </a:r>
          </a:p>
        </p:txBody>
      </p:sp>
      <p:sp>
        <p:nvSpPr>
          <p:cNvPr id="10" name="Rounded Rectangle 9"/>
          <p:cNvSpPr/>
          <p:nvPr/>
        </p:nvSpPr>
        <p:spPr>
          <a:xfrm>
            <a:off x="640080" y="2990088"/>
            <a:ext cx="530352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127248"/>
            <a:ext cx="4846320" cy="502920"/>
          </a:xfrm>
          <a:prstGeom prst="rect">
            <a:avLst/>
          </a:prstGeom>
          <a:noFill/>
        </p:spPr>
        <p:txBody>
          <a:bodyPr wrap="square" anchor="t" lIns="0" rIns="0" tIns="0" bIns="0">
            <a:spAutoFit/>
          </a:bodyPr>
          <a:lstStyle/>
          <a:p>
            <a:pPr algn="l"/>
            <a:r>
              <a:rPr sz="1800" b="1" i="0">
                <a:solidFill>
                  <a:srgbClr val="4E79A6"/>
                </a:solidFill>
                <a:latin typeface="Arial"/>
              </a:rPr>
              <a:t>What's normalised</a:t>
            </a:r>
          </a:p>
        </p:txBody>
      </p:sp>
      <p:sp>
        <p:nvSpPr>
          <p:cNvPr id="12" name="TextBox 11"/>
          <p:cNvSpPr txBox="1"/>
          <p:nvPr/>
        </p:nvSpPr>
        <p:spPr>
          <a:xfrm>
            <a:off x="896112" y="3630168"/>
            <a:ext cx="4846320" cy="411480"/>
          </a:xfrm>
          <a:prstGeom prst="rect">
            <a:avLst/>
          </a:prstGeom>
          <a:noFill/>
        </p:spPr>
        <p:txBody>
          <a:bodyPr wrap="square" anchor="t" lIns="0" rIns="0" tIns="0" bIns="0">
            <a:spAutoFit/>
          </a:bodyPr>
          <a:lstStyle/>
          <a:p>
            <a:pPr algn="l"/>
            <a:r>
              <a:rPr sz="1400" b="0" i="0">
                <a:solidFill>
                  <a:srgbClr val="4A453D"/>
                </a:solidFill>
                <a:latin typeface="Arial"/>
              </a:rPr>
              <a:t>treated as natural — but shouldn't be</a:t>
            </a:r>
          </a:p>
        </p:txBody>
      </p:sp>
      <p:sp>
        <p:nvSpPr>
          <p:cNvPr id="13" name="Rounded Rectangle 12"/>
          <p:cNvSpPr/>
          <p:nvPr/>
        </p:nvSpPr>
        <p:spPr>
          <a:xfrm>
            <a:off x="6190488" y="2990088"/>
            <a:ext cx="5303520" cy="1152144"/>
          </a:xfrm>
          <a:prstGeom prst="roundRect">
            <a:avLst>
              <a:gd name="adj" fmla="val 5500"/>
            </a:avLst>
          </a:prstGeom>
          <a:solidFill>
            <a:srgbClr val="F2DBCE"/>
          </a:solidFill>
          <a:ln w="12700">
            <a:solidFill>
              <a:srgbClr val="E890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127248"/>
            <a:ext cx="4846320" cy="502920"/>
          </a:xfrm>
          <a:prstGeom prst="rect">
            <a:avLst/>
          </a:prstGeom>
          <a:noFill/>
        </p:spPr>
        <p:txBody>
          <a:bodyPr wrap="square" anchor="t" lIns="0" rIns="0" tIns="0" bIns="0">
            <a:spAutoFit/>
          </a:bodyPr>
          <a:lstStyle/>
          <a:p>
            <a:pPr algn="l"/>
            <a:r>
              <a:rPr sz="1800" b="1" i="0">
                <a:solidFill>
                  <a:srgbClr val="7A3F28"/>
                </a:solidFill>
                <a:latin typeface="Arial"/>
              </a:rPr>
              <a:t>What's conspicuously MISSING?</a:t>
            </a:r>
          </a:p>
        </p:txBody>
      </p:sp>
      <p:sp>
        <p:nvSpPr>
          <p:cNvPr id="15" name="TextBox 14"/>
          <p:cNvSpPr txBox="1"/>
          <p:nvPr/>
        </p:nvSpPr>
        <p:spPr>
          <a:xfrm>
            <a:off x="6446520" y="3630168"/>
            <a:ext cx="4846320" cy="411480"/>
          </a:xfrm>
          <a:prstGeom prst="rect">
            <a:avLst/>
          </a:prstGeom>
          <a:noFill/>
        </p:spPr>
        <p:txBody>
          <a:bodyPr wrap="square" anchor="t" lIns="0" rIns="0" tIns="0" bIns="0">
            <a:spAutoFit/>
          </a:bodyPr>
          <a:lstStyle/>
          <a:p>
            <a:pPr algn="l"/>
            <a:r>
              <a:rPr sz="1400" b="0" i="0">
                <a:solidFill>
                  <a:srgbClr val="4A453D"/>
                </a:solidFill>
                <a:latin typeface="Arial"/>
              </a:rPr>
              <a:t>the document that isn't there; the un-asked question</a:t>
            </a:r>
          </a:p>
        </p:txBody>
      </p:sp>
      <p:sp>
        <p:nvSpPr>
          <p:cNvPr id="16" name="TextBox 15"/>
          <p:cNvSpPr txBox="1"/>
          <p:nvPr/>
        </p:nvSpPr>
        <p:spPr>
          <a:xfrm>
            <a:off x="640080" y="4407408"/>
            <a:ext cx="10881360" cy="685800"/>
          </a:xfrm>
          <a:prstGeom prst="rect">
            <a:avLst/>
          </a:prstGeom>
          <a:noFill/>
        </p:spPr>
        <p:txBody>
          <a:bodyPr wrap="square" anchor="t" lIns="0" rIns="0" tIns="0" bIns="0">
            <a:spAutoFit/>
          </a:bodyPr>
          <a:lstStyle/>
          <a:p>
            <a:pPr algn="l"/>
            <a:r>
              <a:rPr sz="1700" b="1" i="0">
                <a:solidFill>
                  <a:srgbClr val="141413"/>
                </a:solidFill>
                <a:latin typeface="Arial"/>
              </a:rPr>
              <a:t>Some is simply overlooked; some is kept out of view on purpose. Either way — make the invisible visible.</a:t>
            </a:r>
          </a:p>
        </p:txBody>
      </p:sp>
      <p:sp>
        <p:nvSpPr>
          <p:cNvPr id="17" name="Rounded Rectangle 16"/>
          <p:cNvSpPr/>
          <p:nvPr/>
        </p:nvSpPr>
        <p:spPr>
          <a:xfrm>
            <a:off x="640080" y="525780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257800"/>
            <a:ext cx="10177272" cy="1051560"/>
          </a:xfrm>
          <a:prstGeom prst="rect">
            <a:avLst/>
          </a:prstGeom>
          <a:noFill/>
        </p:spPr>
        <p:txBody>
          <a:bodyPr wrap="square" anchor="ctr" lIns="0" rIns="0" tIns="0" bIns="0">
            <a:spAutoFit/>
          </a:bodyPr>
          <a:lstStyle/>
          <a:p>
            <a:pPr algn="l"/>
            <a:r>
              <a:rPr sz="1800" b="1" i="0">
                <a:solidFill>
                  <a:srgbClr val="FFFFFF"/>
                </a:solidFill>
                <a:latin typeface="Arial"/>
              </a:rPr>
              <a:t>Then it steelmans your strongest findings and names everyone the outcome materially touches — including those not in the room.</a:t>
            </a:r>
          </a:p>
        </p:txBody>
      </p:sp>
      <p:sp>
        <p:nvSpPr>
          <p:cNvPr id="19" name="TextBox 18"/>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9/27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4 · VERIFY &amp; GRADE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Every claim — graded, and locked.</a:t>
            </a:r>
          </a:p>
        </p:txBody>
      </p:sp>
      <p:sp>
        <p:nvSpPr>
          <p:cNvPr id="4" name="Rounded Rectangle 3"/>
          <p:cNvSpPr/>
          <p:nvPr/>
        </p:nvSpPr>
        <p:spPr>
          <a:xfrm>
            <a:off x="640080" y="1600200"/>
            <a:ext cx="5303520" cy="10515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1371600" cy="1051560"/>
          </a:xfrm>
          <a:prstGeom prst="rect">
            <a:avLst/>
          </a:prstGeom>
          <a:noFill/>
        </p:spPr>
        <p:txBody>
          <a:bodyPr wrap="square" anchor="ctr" lIns="0" rIns="0" tIns="0" bIns="0">
            <a:spAutoFit/>
          </a:bodyPr>
          <a:lstStyle/>
          <a:p>
            <a:pPr algn="l"/>
            <a:r>
              <a:rPr sz="3400" b="1" i="0">
                <a:solidFill>
                  <a:srgbClr val="5F7249"/>
                </a:solidFill>
                <a:latin typeface="Arial"/>
              </a:rPr>
              <a:t>[V]</a:t>
            </a:r>
          </a:p>
        </p:txBody>
      </p:sp>
      <p:sp>
        <p:nvSpPr>
          <p:cNvPr id="6" name="TextBox 5"/>
          <p:cNvSpPr txBox="1"/>
          <p:nvPr/>
        </p:nvSpPr>
        <p:spPr>
          <a:xfrm>
            <a:off x="2148840" y="1600200"/>
            <a:ext cx="3566160" cy="1051560"/>
          </a:xfrm>
          <a:prstGeom prst="rect">
            <a:avLst/>
          </a:prstGeom>
          <a:noFill/>
        </p:spPr>
        <p:txBody>
          <a:bodyPr wrap="square" anchor="ctr" lIns="0" rIns="0" tIns="0" bIns="0">
            <a:spAutoFit/>
          </a:bodyPr>
          <a:lstStyle/>
          <a:p>
            <a:pPr algn="l"/>
            <a:r>
              <a:rPr sz="1700" b="0" i="0">
                <a:solidFill>
                  <a:srgbClr val="141413"/>
                </a:solidFill>
                <a:latin typeface="Arial"/>
              </a:rPr>
              <a:t>verified — independently corroborated</a:t>
            </a:r>
          </a:p>
        </p:txBody>
      </p:sp>
      <p:sp>
        <p:nvSpPr>
          <p:cNvPr id="7" name="Rounded Rectangle 6"/>
          <p:cNvSpPr/>
          <p:nvPr/>
        </p:nvSpPr>
        <p:spPr>
          <a:xfrm>
            <a:off x="6245352" y="1600200"/>
            <a:ext cx="5303520" cy="10515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19672" y="1600200"/>
            <a:ext cx="1371600" cy="1051560"/>
          </a:xfrm>
          <a:prstGeom prst="rect">
            <a:avLst/>
          </a:prstGeom>
          <a:noFill/>
        </p:spPr>
        <p:txBody>
          <a:bodyPr wrap="square" anchor="ctr" lIns="0" rIns="0" tIns="0" bIns="0">
            <a:spAutoFit/>
          </a:bodyPr>
          <a:lstStyle/>
          <a:p>
            <a:pPr algn="l"/>
            <a:r>
              <a:rPr sz="3400" b="1" i="0">
                <a:solidFill>
                  <a:srgbClr val="D97757"/>
                </a:solidFill>
                <a:latin typeface="Arial"/>
              </a:rPr>
              <a:t>[N]</a:t>
            </a:r>
          </a:p>
        </p:txBody>
      </p:sp>
      <p:sp>
        <p:nvSpPr>
          <p:cNvPr id="9" name="TextBox 8"/>
          <p:cNvSpPr txBox="1"/>
          <p:nvPr/>
        </p:nvSpPr>
        <p:spPr>
          <a:xfrm>
            <a:off x="7754112" y="1600200"/>
            <a:ext cx="3566160" cy="1051560"/>
          </a:xfrm>
          <a:prstGeom prst="rect">
            <a:avLst/>
          </a:prstGeom>
          <a:noFill/>
        </p:spPr>
        <p:txBody>
          <a:bodyPr wrap="square" anchor="ctr" lIns="0" rIns="0" tIns="0" bIns="0">
            <a:spAutoFit/>
          </a:bodyPr>
          <a:lstStyle/>
          <a:p>
            <a:pPr algn="l"/>
            <a:r>
              <a:rPr sz="1700" b="0" i="0">
                <a:solidFill>
                  <a:srgbClr val="141413"/>
                </a:solidFill>
                <a:latin typeface="Arial"/>
              </a:rPr>
              <a:t>not — rests on an interested party</a:t>
            </a:r>
          </a:p>
        </p:txBody>
      </p:sp>
      <p:sp>
        <p:nvSpPr>
          <p:cNvPr id="10" name="Rounded Rectangle 9"/>
          <p:cNvSpPr/>
          <p:nvPr/>
        </p:nvSpPr>
        <p:spPr>
          <a:xfrm>
            <a:off x="640080" y="2834640"/>
            <a:ext cx="3474720" cy="777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34640"/>
            <a:ext cx="3108960" cy="777240"/>
          </a:xfrm>
          <a:prstGeom prst="rect">
            <a:avLst/>
          </a:prstGeom>
          <a:noFill/>
        </p:spPr>
        <p:txBody>
          <a:bodyPr wrap="square" anchor="ctr" lIns="0" rIns="0" tIns="0" bIns="0">
            <a:spAutoFit/>
          </a:bodyPr>
          <a:lstStyle/>
          <a:p>
            <a:pPr algn="l"/>
            <a:r>
              <a:rPr sz="1800" b="1" i="0">
                <a:solidFill>
                  <a:srgbClr val="5F7249"/>
                </a:solidFill>
                <a:latin typeface="Arial"/>
              </a:rPr>
              <a:t>[V1]  </a:t>
            </a:r>
          </a:p>
          <a:p>
            <a:pPr algn="l"/>
            <a:r>
              <a:rPr sz="1600" b="0" i="0">
                <a:solidFill>
                  <a:srgbClr val="4A453D"/>
                </a:solidFill>
                <a:latin typeface="Arial"/>
              </a:rPr>
              <a:t>primary</a:t>
            </a:r>
          </a:p>
        </p:txBody>
      </p:sp>
      <p:sp>
        <p:nvSpPr>
          <p:cNvPr id="12" name="Rounded Rectangle 11"/>
          <p:cNvSpPr/>
          <p:nvPr/>
        </p:nvSpPr>
        <p:spPr>
          <a:xfrm>
            <a:off x="4361688" y="2834640"/>
            <a:ext cx="3474720" cy="777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34640"/>
            <a:ext cx="3108960" cy="777240"/>
          </a:xfrm>
          <a:prstGeom prst="rect">
            <a:avLst/>
          </a:prstGeom>
          <a:noFill/>
        </p:spPr>
        <p:txBody>
          <a:bodyPr wrap="square" anchor="ctr" lIns="0" rIns="0" tIns="0" bIns="0">
            <a:spAutoFit/>
          </a:bodyPr>
          <a:lstStyle/>
          <a:p>
            <a:pPr algn="l"/>
            <a:r>
              <a:rPr sz="1800" b="1" i="0">
                <a:solidFill>
                  <a:srgbClr val="4E79A6"/>
                </a:solidFill>
                <a:latin typeface="Arial"/>
              </a:rPr>
              <a:t>[V2]  </a:t>
            </a:r>
          </a:p>
          <a:p>
            <a:pPr algn="l"/>
            <a:r>
              <a:rPr sz="1600" b="0" i="0">
                <a:solidFill>
                  <a:srgbClr val="4A453D"/>
                </a:solidFill>
                <a:latin typeface="Arial"/>
              </a:rPr>
              <a:t>secondary</a:t>
            </a:r>
          </a:p>
        </p:txBody>
      </p:sp>
      <p:sp>
        <p:nvSpPr>
          <p:cNvPr id="14" name="Rounded Rectangle 13"/>
          <p:cNvSpPr/>
          <p:nvPr/>
        </p:nvSpPr>
        <p:spPr>
          <a:xfrm>
            <a:off x="8083296" y="2834640"/>
            <a:ext cx="3474720" cy="777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2834640"/>
            <a:ext cx="3108960" cy="777240"/>
          </a:xfrm>
          <a:prstGeom prst="rect">
            <a:avLst/>
          </a:prstGeom>
          <a:noFill/>
        </p:spPr>
        <p:txBody>
          <a:bodyPr wrap="square" anchor="ctr" lIns="0" rIns="0" tIns="0" bIns="0">
            <a:spAutoFit/>
          </a:bodyPr>
          <a:lstStyle/>
          <a:p>
            <a:pPr algn="l"/>
            <a:r>
              <a:rPr sz="1800" b="1" i="0">
                <a:solidFill>
                  <a:srgbClr val="A96A45"/>
                </a:solidFill>
                <a:latin typeface="Arial"/>
              </a:rPr>
              <a:t>[V3]  </a:t>
            </a:r>
          </a:p>
          <a:p>
            <a:pPr algn="l"/>
            <a:r>
              <a:rPr sz="1600" b="0" i="0">
                <a:solidFill>
                  <a:srgbClr val="4A453D"/>
                </a:solidFill>
                <a:latin typeface="Arial"/>
              </a:rPr>
              <a:t>weak / contested</a:t>
            </a:r>
          </a:p>
        </p:txBody>
      </p:sp>
      <p:sp>
        <p:nvSpPr>
          <p:cNvPr id="16" name="Rounded Rectangle 15"/>
          <p:cNvSpPr/>
          <p:nvPr/>
        </p:nvSpPr>
        <p:spPr>
          <a:xfrm>
            <a:off x="640080" y="3840480"/>
            <a:ext cx="10908792" cy="105156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840480"/>
            <a:ext cx="10332720" cy="1051560"/>
          </a:xfrm>
          <a:prstGeom prst="rect">
            <a:avLst/>
          </a:prstGeom>
          <a:noFill/>
        </p:spPr>
        <p:txBody>
          <a:bodyPr wrap="square" anchor="ctr" lIns="0" rIns="0" tIns="0" bIns="0">
            <a:spAutoFit/>
          </a:bodyPr>
          <a:lstStyle/>
          <a:p>
            <a:pPr algn="l"/>
            <a:r>
              <a:rPr sz="1700" b="1" i="0">
                <a:solidFill>
                  <a:srgbClr val="141413"/>
                </a:solidFill>
                <a:latin typeface="Arial"/>
              </a:rPr>
              <a:t>A tier marks how CLOSE a source is — not how much to trust it.  </a:t>
            </a:r>
          </a:p>
          <a:p>
            <a:pPr algn="l"/>
            <a:r>
              <a:rPr sz="1700" b="0" i="0">
                <a:solidFill>
                  <a:srgbClr val="4A453D"/>
                </a:solidFill>
                <a:latin typeface="Arial"/>
              </a:rPr>
              <a:t>A party's own document doesn't earn [V1] on a claim it has a stake in.</a:t>
            </a:r>
          </a:p>
        </p:txBody>
      </p:sp>
      <p:sp>
        <p:nvSpPr>
          <p:cNvPr id="18" name="Rounded Rectangle 17"/>
          <p:cNvSpPr/>
          <p:nvPr/>
        </p:nvSpPr>
        <p:spPr>
          <a:xfrm>
            <a:off x="640080" y="512064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120640"/>
            <a:ext cx="10177272" cy="1188720"/>
          </a:xfrm>
          <a:prstGeom prst="rect">
            <a:avLst/>
          </a:prstGeom>
          <a:noFill/>
        </p:spPr>
        <p:txBody>
          <a:bodyPr wrap="square" anchor="ctr" lIns="0" rIns="0" tIns="0" bIns="0">
            <a:spAutoFit/>
          </a:bodyPr>
          <a:lstStyle/>
          <a:p>
            <a:pPr algn="l"/>
            <a:r>
              <a:rPr sz="1800" b="1" i="0">
                <a:solidFill>
                  <a:srgbClr val="FFFFFF"/>
                </a:solidFill>
                <a:latin typeface="Arial"/>
              </a:rPr>
              <a:t>Set here, and held — never changed downstream, only re-expressed.</a:t>
            </a:r>
          </a:p>
          <a:p>
            <a:pPr algn="l"/>
            <a:r>
              <a:rPr sz="1800" b="1" i="0">
                <a:solidFill>
                  <a:srgbClr val="FFFFFF"/>
                </a:solidFill>
                <a:latin typeface="Arial"/>
              </a:rPr>
              <a:t>The formal lock comes at Step 7.</a:t>
            </a:r>
          </a:p>
        </p:txBody>
      </p:sp>
      <p:sp>
        <p:nvSpPr>
          <p:cNvPr id="20" name="TextBox 19"/>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10/27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4 · HOW A CLAIM GETS GRADED</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Route, search, tier by independence, lock.</a:t>
            </a:r>
          </a:p>
        </p:txBody>
      </p:sp>
      <p:sp>
        <p:nvSpPr>
          <p:cNvPr id="4" name="Rounded Rectangle 3"/>
          <p:cNvSpPr/>
          <p:nvPr/>
        </p:nvSpPr>
        <p:spPr>
          <a:xfrm>
            <a:off x="640080" y="1572768"/>
            <a:ext cx="3474720" cy="118872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19072"/>
            <a:ext cx="3063240" cy="457200"/>
          </a:xfrm>
          <a:prstGeom prst="rect">
            <a:avLst/>
          </a:prstGeom>
          <a:noFill/>
        </p:spPr>
        <p:txBody>
          <a:bodyPr wrap="square" anchor="t" lIns="0" rIns="0" tIns="0" bIns="0">
            <a:spAutoFit/>
          </a:bodyPr>
          <a:lstStyle/>
          <a:p>
            <a:pPr algn="l"/>
            <a:r>
              <a:rPr sz="1700" b="1" i="0">
                <a:solidFill>
                  <a:srgbClr val="5F7249"/>
                </a:solidFill>
                <a:latin typeface="Arial"/>
              </a:rPr>
              <a:t>Public fact</a:t>
            </a:r>
          </a:p>
        </p:txBody>
      </p:sp>
      <p:sp>
        <p:nvSpPr>
          <p:cNvPr id="6" name="TextBox 5"/>
          <p:cNvSpPr txBox="1"/>
          <p:nvPr/>
        </p:nvSpPr>
        <p:spPr>
          <a:xfrm>
            <a:off x="859536" y="2121408"/>
            <a:ext cx="3063240" cy="731520"/>
          </a:xfrm>
          <a:prstGeom prst="rect">
            <a:avLst/>
          </a:prstGeom>
          <a:noFill/>
        </p:spPr>
        <p:txBody>
          <a:bodyPr wrap="square" anchor="t" lIns="0" rIns="0" tIns="0" bIns="0">
            <a:spAutoFit/>
          </a:bodyPr>
          <a:lstStyle/>
          <a:p>
            <a:pPr algn="l"/>
            <a:r>
              <a:rPr sz="1200" b="0" i="0">
                <a:solidFill>
                  <a:srgbClr val="4A453D"/>
                </a:solidFill>
                <a:latin typeface="Arial"/>
              </a:rPr>
              <a:t>searched against independent sources</a:t>
            </a:r>
          </a:p>
        </p:txBody>
      </p:sp>
      <p:sp>
        <p:nvSpPr>
          <p:cNvPr id="7" name="Rounded Rectangle 6"/>
          <p:cNvSpPr/>
          <p:nvPr/>
        </p:nvSpPr>
        <p:spPr>
          <a:xfrm>
            <a:off x="4361688" y="1572768"/>
            <a:ext cx="3474720" cy="11887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1144" y="1719072"/>
            <a:ext cx="3063240" cy="457200"/>
          </a:xfrm>
          <a:prstGeom prst="rect">
            <a:avLst/>
          </a:prstGeom>
          <a:noFill/>
        </p:spPr>
        <p:txBody>
          <a:bodyPr wrap="square" anchor="t" lIns="0" rIns="0" tIns="0" bIns="0">
            <a:spAutoFit/>
          </a:bodyPr>
          <a:lstStyle/>
          <a:p>
            <a:pPr algn="l"/>
            <a:r>
              <a:rPr sz="1700" b="1" i="0">
                <a:solidFill>
                  <a:srgbClr val="4E79A6"/>
                </a:solidFill>
                <a:latin typeface="Arial"/>
              </a:rPr>
              <a:t>Party-held</a:t>
            </a:r>
          </a:p>
        </p:txBody>
      </p:sp>
      <p:sp>
        <p:nvSpPr>
          <p:cNvPr id="9" name="TextBox 8"/>
          <p:cNvSpPr txBox="1"/>
          <p:nvPr/>
        </p:nvSpPr>
        <p:spPr>
          <a:xfrm>
            <a:off x="4581144" y="2121408"/>
            <a:ext cx="3063240" cy="731520"/>
          </a:xfrm>
          <a:prstGeom prst="rect">
            <a:avLst/>
          </a:prstGeom>
          <a:noFill/>
        </p:spPr>
        <p:txBody>
          <a:bodyPr wrap="square" anchor="t" lIns="0" rIns="0" tIns="0" bIns="0">
            <a:spAutoFit/>
          </a:bodyPr>
          <a:lstStyle/>
          <a:p>
            <a:pPr algn="l"/>
            <a:r>
              <a:rPr sz="1200" b="0" i="0">
                <a:solidFill>
                  <a:srgbClr val="4A453D"/>
                </a:solidFill>
                <a:latin typeface="Arial"/>
              </a:rPr>
              <a:t>parked — name the doc that would settle it</a:t>
            </a:r>
          </a:p>
        </p:txBody>
      </p:sp>
      <p:sp>
        <p:nvSpPr>
          <p:cNvPr id="10" name="Rounded Rectangle 9"/>
          <p:cNvSpPr/>
          <p:nvPr/>
        </p:nvSpPr>
        <p:spPr>
          <a:xfrm>
            <a:off x="8083296" y="1572768"/>
            <a:ext cx="3474720" cy="11887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1719072"/>
            <a:ext cx="3063240" cy="457200"/>
          </a:xfrm>
          <a:prstGeom prst="rect">
            <a:avLst/>
          </a:prstGeom>
          <a:noFill/>
        </p:spPr>
        <p:txBody>
          <a:bodyPr wrap="square" anchor="t" lIns="0" rIns="0" tIns="0" bIns="0">
            <a:spAutoFit/>
          </a:bodyPr>
          <a:lstStyle/>
          <a:p>
            <a:pPr algn="l"/>
            <a:r>
              <a:rPr sz="1700" b="1" i="0">
                <a:solidFill>
                  <a:srgbClr val="D97757"/>
                </a:solidFill>
                <a:latin typeface="Arial"/>
              </a:rPr>
              <a:t>Judgement call</a:t>
            </a:r>
          </a:p>
        </p:txBody>
      </p:sp>
      <p:sp>
        <p:nvSpPr>
          <p:cNvPr id="12" name="TextBox 11"/>
          <p:cNvSpPr txBox="1"/>
          <p:nvPr/>
        </p:nvSpPr>
        <p:spPr>
          <a:xfrm>
            <a:off x="8302752" y="2121408"/>
            <a:ext cx="3063240" cy="731520"/>
          </a:xfrm>
          <a:prstGeom prst="rect">
            <a:avLst/>
          </a:prstGeom>
          <a:noFill/>
        </p:spPr>
        <p:txBody>
          <a:bodyPr wrap="square" anchor="t" lIns="0" rIns="0" tIns="0" bIns="0">
            <a:spAutoFit/>
          </a:bodyPr>
          <a:lstStyle/>
          <a:p>
            <a:pPr algn="l"/>
            <a:r>
              <a:rPr sz="1200" b="0" i="0">
                <a:solidFill>
                  <a:srgbClr val="4A453D"/>
                </a:solidFill>
                <a:latin typeface="Arial"/>
              </a:rPr>
              <a:t>a value / framing / forecast no search settles — routed to you at the gate, never graded</a:t>
            </a:r>
          </a:p>
        </p:txBody>
      </p:sp>
      <p:sp>
        <p:nvSpPr>
          <p:cNvPr id="13" name="Rounded Rectangle 12"/>
          <p:cNvSpPr/>
          <p:nvPr/>
        </p:nvSpPr>
        <p:spPr>
          <a:xfrm>
            <a:off x="640080" y="2999232"/>
            <a:ext cx="6720840" cy="22860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82112"/>
            <a:ext cx="1051560" cy="457200"/>
          </a:xfrm>
          <a:prstGeom prst="rect">
            <a:avLst/>
          </a:prstGeom>
          <a:noFill/>
        </p:spPr>
        <p:txBody>
          <a:bodyPr wrap="square" anchor="t" lIns="0" rIns="0" tIns="0" bIns="0">
            <a:spAutoFit/>
          </a:bodyPr>
          <a:lstStyle/>
          <a:p>
            <a:pPr algn="l"/>
            <a:r>
              <a:rPr sz="1700" b="1" i="0">
                <a:solidFill>
                  <a:srgbClr val="5F7249"/>
                </a:solidFill>
                <a:latin typeface="Arial"/>
              </a:rPr>
              <a:t>[V1]</a:t>
            </a:r>
          </a:p>
        </p:txBody>
      </p:sp>
      <p:sp>
        <p:nvSpPr>
          <p:cNvPr id="15" name="TextBox 14"/>
          <p:cNvSpPr txBox="1"/>
          <p:nvPr/>
        </p:nvSpPr>
        <p:spPr>
          <a:xfrm>
            <a:off x="2011680" y="3182112"/>
            <a:ext cx="5166360" cy="502920"/>
          </a:xfrm>
          <a:prstGeom prst="rect">
            <a:avLst/>
          </a:prstGeom>
          <a:noFill/>
        </p:spPr>
        <p:txBody>
          <a:bodyPr wrap="square" anchor="ctr" lIns="0" rIns="0" tIns="0" bIns="0">
            <a:spAutoFit/>
          </a:bodyPr>
          <a:lstStyle/>
          <a:p>
            <a:pPr algn="l"/>
            <a:r>
              <a:rPr sz="1400" b="0" i="0">
                <a:solidFill>
                  <a:srgbClr val="141413"/>
                </a:solidFill>
                <a:latin typeface="Arial"/>
              </a:rPr>
              <a:t>primary — independent of any interested party</a:t>
            </a:r>
          </a:p>
        </p:txBody>
      </p:sp>
      <p:sp>
        <p:nvSpPr>
          <p:cNvPr id="16" name="TextBox 15"/>
          <p:cNvSpPr txBox="1"/>
          <p:nvPr/>
        </p:nvSpPr>
        <p:spPr>
          <a:xfrm>
            <a:off x="914400" y="3703320"/>
            <a:ext cx="1051560" cy="457200"/>
          </a:xfrm>
          <a:prstGeom prst="rect">
            <a:avLst/>
          </a:prstGeom>
          <a:noFill/>
        </p:spPr>
        <p:txBody>
          <a:bodyPr wrap="square" anchor="t" lIns="0" rIns="0" tIns="0" bIns="0">
            <a:spAutoFit/>
          </a:bodyPr>
          <a:lstStyle/>
          <a:p>
            <a:pPr algn="l"/>
            <a:r>
              <a:rPr sz="1700" b="1" i="0">
                <a:solidFill>
                  <a:srgbClr val="4E79A6"/>
                </a:solidFill>
                <a:latin typeface="Arial"/>
              </a:rPr>
              <a:t>[V2]</a:t>
            </a:r>
          </a:p>
        </p:txBody>
      </p:sp>
      <p:sp>
        <p:nvSpPr>
          <p:cNvPr id="17" name="TextBox 16"/>
          <p:cNvSpPr txBox="1"/>
          <p:nvPr/>
        </p:nvSpPr>
        <p:spPr>
          <a:xfrm>
            <a:off x="2011680" y="3703320"/>
            <a:ext cx="5166360" cy="502920"/>
          </a:xfrm>
          <a:prstGeom prst="rect">
            <a:avLst/>
          </a:prstGeom>
          <a:noFill/>
        </p:spPr>
        <p:txBody>
          <a:bodyPr wrap="square" anchor="ctr" lIns="0" rIns="0" tIns="0" bIns="0">
            <a:spAutoFit/>
          </a:bodyPr>
          <a:lstStyle/>
          <a:p>
            <a:pPr algn="l"/>
            <a:r>
              <a:rPr sz="1400" b="0" i="0">
                <a:solidFill>
                  <a:srgbClr val="141413"/>
                </a:solidFill>
                <a:latin typeface="Arial"/>
              </a:rPr>
              <a:t>reputable reporting resting on those</a:t>
            </a:r>
          </a:p>
        </p:txBody>
      </p:sp>
      <p:sp>
        <p:nvSpPr>
          <p:cNvPr id="18" name="TextBox 17"/>
          <p:cNvSpPr txBox="1"/>
          <p:nvPr/>
        </p:nvSpPr>
        <p:spPr>
          <a:xfrm>
            <a:off x="914400" y="4224528"/>
            <a:ext cx="1051560" cy="457200"/>
          </a:xfrm>
          <a:prstGeom prst="rect">
            <a:avLst/>
          </a:prstGeom>
          <a:noFill/>
        </p:spPr>
        <p:txBody>
          <a:bodyPr wrap="square" anchor="t" lIns="0" rIns="0" tIns="0" bIns="0">
            <a:spAutoFit/>
          </a:bodyPr>
          <a:lstStyle/>
          <a:p>
            <a:pPr algn="l"/>
            <a:r>
              <a:rPr sz="1700" b="1" i="0">
                <a:solidFill>
                  <a:srgbClr val="A96A45"/>
                </a:solidFill>
                <a:latin typeface="Arial"/>
              </a:rPr>
              <a:t>[V3]</a:t>
            </a:r>
          </a:p>
        </p:txBody>
      </p:sp>
      <p:sp>
        <p:nvSpPr>
          <p:cNvPr id="19" name="TextBox 18"/>
          <p:cNvSpPr txBox="1"/>
          <p:nvPr/>
        </p:nvSpPr>
        <p:spPr>
          <a:xfrm>
            <a:off x="2011680" y="4224528"/>
            <a:ext cx="5166360" cy="502920"/>
          </a:xfrm>
          <a:prstGeom prst="rect">
            <a:avLst/>
          </a:prstGeom>
          <a:noFill/>
        </p:spPr>
        <p:txBody>
          <a:bodyPr wrap="square" anchor="ctr" lIns="0" rIns="0" tIns="0" bIns="0">
            <a:spAutoFit/>
          </a:bodyPr>
          <a:lstStyle/>
          <a:p>
            <a:pPr algn="l"/>
            <a:r>
              <a:rPr sz="1400" b="0" i="0">
                <a:solidFill>
                  <a:srgbClr val="141413"/>
                </a:solidFill>
                <a:latin typeface="Arial"/>
              </a:rPr>
              <a:t>weak but independent, or credible sources disagree</a:t>
            </a:r>
          </a:p>
        </p:txBody>
      </p:sp>
      <p:sp>
        <p:nvSpPr>
          <p:cNvPr id="20" name="TextBox 19"/>
          <p:cNvSpPr txBox="1"/>
          <p:nvPr/>
        </p:nvSpPr>
        <p:spPr>
          <a:xfrm>
            <a:off x="914400" y="4745736"/>
            <a:ext cx="1051560" cy="457200"/>
          </a:xfrm>
          <a:prstGeom prst="rect">
            <a:avLst/>
          </a:prstGeom>
          <a:noFill/>
        </p:spPr>
        <p:txBody>
          <a:bodyPr wrap="square" anchor="t" lIns="0" rIns="0" tIns="0" bIns="0">
            <a:spAutoFit/>
          </a:bodyPr>
          <a:lstStyle/>
          <a:p>
            <a:pPr algn="l"/>
            <a:r>
              <a:rPr sz="1700" b="1" i="0">
                <a:solidFill>
                  <a:srgbClr val="D97757"/>
                </a:solidFill>
                <a:latin typeface="Arial"/>
              </a:rPr>
              <a:t>[N]</a:t>
            </a:r>
          </a:p>
        </p:txBody>
      </p:sp>
      <p:sp>
        <p:nvSpPr>
          <p:cNvPr id="21" name="TextBox 20"/>
          <p:cNvSpPr txBox="1"/>
          <p:nvPr/>
        </p:nvSpPr>
        <p:spPr>
          <a:xfrm>
            <a:off x="2011680" y="4745736"/>
            <a:ext cx="5166360" cy="502920"/>
          </a:xfrm>
          <a:prstGeom prst="rect">
            <a:avLst/>
          </a:prstGeom>
          <a:noFill/>
        </p:spPr>
        <p:txBody>
          <a:bodyPr wrap="square" anchor="ctr" lIns="0" rIns="0" tIns="0" bIns="0">
            <a:spAutoFit/>
          </a:bodyPr>
          <a:lstStyle/>
          <a:p>
            <a:pPr algn="l"/>
            <a:r>
              <a:rPr sz="1400" b="0" i="0">
                <a:solidFill>
                  <a:srgbClr val="141413"/>
                </a:solidFill>
                <a:latin typeface="Arial"/>
              </a:rPr>
              <a:t>nothing independent behind it, or an interested party's own account</a:t>
            </a:r>
          </a:p>
        </p:txBody>
      </p:sp>
      <p:sp>
        <p:nvSpPr>
          <p:cNvPr id="22" name="Rounded Rectangle 21"/>
          <p:cNvSpPr/>
          <p:nvPr/>
        </p:nvSpPr>
        <p:spPr>
          <a:xfrm>
            <a:off x="7589520" y="2999232"/>
            <a:ext cx="3959352" cy="228600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0" y="3246120"/>
            <a:ext cx="3429000" cy="1828800"/>
          </a:xfrm>
          <a:prstGeom prst="rect">
            <a:avLst/>
          </a:prstGeom>
          <a:noFill/>
        </p:spPr>
        <p:txBody>
          <a:bodyPr wrap="square" anchor="t" lIns="0" rIns="0" tIns="0" bIns="0">
            <a:spAutoFit/>
          </a:bodyPr>
          <a:lstStyle/>
          <a:p>
            <a:pPr algn="l">
              <a:spcAft>
                <a:spcPts val="700"/>
              </a:spcAft>
            </a:pPr>
            <a:r>
              <a:rPr sz="1600" b="1" i="0">
                <a:solidFill>
                  <a:srgbClr val="5F7249"/>
                </a:solidFill>
                <a:latin typeface="Arial"/>
              </a:rPr>
              <a:t>Graded by independence.</a:t>
            </a:r>
          </a:p>
          <a:p>
            <a:pPr algn="l">
              <a:spcAft>
                <a:spcPts val="700"/>
              </a:spcAft>
            </a:pPr>
            <a:r>
              <a:rPr sz="1500" b="0" i="0">
                <a:solidFill>
                  <a:srgbClr val="4A453D"/>
                </a:solidFill>
                <a:latin typeface="Arial"/>
              </a:rPr>
              <a:t>A party's own document doesn't earn V1 on a claim it has a stake in.</a:t>
            </a:r>
          </a:p>
        </p:txBody>
      </p:sp>
      <p:sp>
        <p:nvSpPr>
          <p:cNvPr id="24" name="Rounded Rectangle 23"/>
          <p:cNvSpPr/>
          <p:nvPr/>
        </p:nvSpPr>
        <p:spPr>
          <a:xfrm>
            <a:off x="640080" y="5440680"/>
            <a:ext cx="10908792" cy="9601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440680"/>
            <a:ext cx="10177272" cy="960120"/>
          </a:xfrm>
          <a:prstGeom prst="rect">
            <a:avLst/>
          </a:prstGeom>
          <a:noFill/>
        </p:spPr>
        <p:txBody>
          <a:bodyPr wrap="square" anchor="ctr" lIns="0" rIns="0" tIns="0" bIns="0">
            <a:spAutoFit/>
          </a:bodyPr>
          <a:lstStyle/>
          <a:p>
            <a:pPr algn="l"/>
            <a:r>
              <a:rPr sz="1800" b="1" i="0">
                <a:solidFill>
                  <a:srgbClr val="FFFFFF"/>
                </a:solidFill>
                <a:latin typeface="Arial"/>
              </a:rPr>
              <a:t>Then each claim is disconfirmed — searched at its own negation, which can downgrade — and only then does it stand (formal lock at Step 7).</a:t>
            </a:r>
          </a:p>
        </p:txBody>
      </p:sp>
      <p:sp>
        <p:nvSpPr>
          <p:cNvPr id="26" name="TextBox 25"/>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11/27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4 · DISCONFIRMATION</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It tries to prove itself wrong.</a:t>
            </a:r>
          </a:p>
        </p:txBody>
      </p:sp>
      <p:sp>
        <p:nvSpPr>
          <p:cNvPr id="4" name="TextBox 3"/>
          <p:cNvSpPr txBox="1"/>
          <p:nvPr/>
        </p:nvSpPr>
        <p:spPr>
          <a:xfrm>
            <a:off x="640080" y="1645920"/>
            <a:ext cx="10881360" cy="548640"/>
          </a:xfrm>
          <a:prstGeom prst="rect">
            <a:avLst/>
          </a:prstGeom>
          <a:noFill/>
        </p:spPr>
        <p:txBody>
          <a:bodyPr wrap="square" anchor="t" lIns="0" rIns="0" tIns="0" bIns="0">
            <a:spAutoFit/>
          </a:bodyPr>
          <a:lstStyle/>
          <a:p>
            <a:pPr algn="l"/>
            <a:r>
              <a:rPr sz="1800" b="0" i="0">
                <a:solidFill>
                  <a:srgbClr val="141413"/>
                </a:solidFill>
                <a:latin typeface="Arial"/>
              </a:rPr>
              <a:t>For every claim the conclusion rests on, it runs a second search — aimed at the opposite.</a:t>
            </a:r>
          </a:p>
        </p:txBody>
      </p:sp>
      <p:sp>
        <p:nvSpPr>
          <p:cNvPr id="5" name="Rounded Rectangle 4"/>
          <p:cNvSpPr/>
          <p:nvPr/>
        </p:nvSpPr>
        <p:spPr>
          <a:xfrm>
            <a:off x="640080" y="2331720"/>
            <a:ext cx="3383280" cy="12344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331720"/>
            <a:ext cx="3017520" cy="1234440"/>
          </a:xfrm>
          <a:prstGeom prst="rect">
            <a:avLst/>
          </a:prstGeom>
          <a:noFill/>
        </p:spPr>
        <p:txBody>
          <a:bodyPr wrap="square" anchor="ctr" lIns="0" rIns="0" tIns="0" bIns="0">
            <a:spAutoFit/>
          </a:bodyPr>
          <a:lstStyle/>
          <a:p>
            <a:pPr algn="ctr"/>
            <a:r>
              <a:rPr sz="1800" b="1" i="0">
                <a:solidFill>
                  <a:srgbClr val="4E79A6"/>
                </a:solidFill>
                <a:latin typeface="Arial"/>
              </a:rPr>
              <a:t>A load-bearing claim</a:t>
            </a:r>
          </a:p>
        </p:txBody>
      </p:sp>
      <p:sp>
        <p:nvSpPr>
          <p:cNvPr id="7" name="TextBox 6"/>
          <p:cNvSpPr txBox="1"/>
          <p:nvPr/>
        </p:nvSpPr>
        <p:spPr>
          <a:xfrm>
            <a:off x="4041648" y="2331720"/>
            <a:ext cx="502920" cy="1234440"/>
          </a:xfrm>
          <a:prstGeom prst="rect">
            <a:avLst/>
          </a:prstGeom>
          <a:noFill/>
        </p:spPr>
        <p:txBody>
          <a:bodyPr wrap="square" anchor="ctr" lIns="0" rIns="0" tIns="0" bIns="0">
            <a:spAutoFit/>
          </a:bodyPr>
          <a:lstStyle/>
          <a:p>
            <a:pPr algn="ctr"/>
            <a:r>
              <a:rPr sz="3000" b="0" i="0">
                <a:solidFill>
                  <a:srgbClr val="8A8578"/>
                </a:solidFill>
                <a:latin typeface="Arial"/>
              </a:rPr>
              <a:t>→</a:t>
            </a:r>
          </a:p>
        </p:txBody>
      </p:sp>
      <p:sp>
        <p:nvSpPr>
          <p:cNvPr id="8" name="Rounded Rectangle 7"/>
          <p:cNvSpPr/>
          <p:nvPr/>
        </p:nvSpPr>
        <p:spPr>
          <a:xfrm>
            <a:off x="4544568" y="2331720"/>
            <a:ext cx="3383280" cy="12344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27448" y="2331720"/>
            <a:ext cx="3017520" cy="1234440"/>
          </a:xfrm>
          <a:prstGeom prst="rect">
            <a:avLst/>
          </a:prstGeom>
          <a:noFill/>
        </p:spPr>
        <p:txBody>
          <a:bodyPr wrap="square" anchor="ctr" lIns="0" rIns="0" tIns="0" bIns="0">
            <a:spAutoFit/>
          </a:bodyPr>
          <a:lstStyle/>
          <a:p>
            <a:pPr algn="ctr"/>
            <a:r>
              <a:rPr sz="1800" b="1" i="0">
                <a:solidFill>
                  <a:srgbClr val="D97757"/>
                </a:solidFill>
                <a:latin typeface="Arial"/>
              </a:rPr>
              <a:t>Search its negation</a:t>
            </a:r>
          </a:p>
        </p:txBody>
      </p:sp>
      <p:sp>
        <p:nvSpPr>
          <p:cNvPr id="10" name="TextBox 9"/>
          <p:cNvSpPr txBox="1"/>
          <p:nvPr/>
        </p:nvSpPr>
        <p:spPr>
          <a:xfrm>
            <a:off x="7946136" y="2331720"/>
            <a:ext cx="502920" cy="1234440"/>
          </a:xfrm>
          <a:prstGeom prst="rect">
            <a:avLst/>
          </a:prstGeom>
          <a:noFill/>
        </p:spPr>
        <p:txBody>
          <a:bodyPr wrap="square" anchor="ctr" lIns="0" rIns="0" tIns="0" bIns="0">
            <a:spAutoFit/>
          </a:bodyPr>
          <a:lstStyle/>
          <a:p>
            <a:pPr algn="ctr"/>
            <a:r>
              <a:rPr sz="3000" b="0" i="0">
                <a:solidFill>
                  <a:srgbClr val="8A8578"/>
                </a:solidFill>
                <a:latin typeface="Arial"/>
              </a:rPr>
              <a:t>→</a:t>
            </a:r>
          </a:p>
        </p:txBody>
      </p:sp>
      <p:sp>
        <p:nvSpPr>
          <p:cNvPr id="11" name="Rounded Rectangle 10"/>
          <p:cNvSpPr/>
          <p:nvPr/>
        </p:nvSpPr>
        <p:spPr>
          <a:xfrm>
            <a:off x="8449055" y="2331720"/>
            <a:ext cx="3383280" cy="12344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1935" y="2331720"/>
            <a:ext cx="3017520" cy="1234440"/>
          </a:xfrm>
          <a:prstGeom prst="rect">
            <a:avLst/>
          </a:prstGeom>
          <a:noFill/>
        </p:spPr>
        <p:txBody>
          <a:bodyPr wrap="square" anchor="ctr" lIns="0" rIns="0" tIns="0" bIns="0">
            <a:spAutoFit/>
          </a:bodyPr>
          <a:lstStyle/>
          <a:p>
            <a:pPr algn="ctr"/>
            <a:r>
              <a:rPr sz="1800" b="1" i="0">
                <a:solidFill>
                  <a:srgbClr val="5F7249"/>
                </a:solidFill>
                <a:latin typeface="Arial"/>
              </a:rPr>
              <a:t>Survives, or downgrades</a:t>
            </a:r>
          </a:p>
        </p:txBody>
      </p:sp>
      <p:sp>
        <p:nvSpPr>
          <p:cNvPr id="13" name="Rounded Rectangle 12"/>
          <p:cNvSpPr/>
          <p:nvPr/>
        </p:nvSpPr>
        <p:spPr>
          <a:xfrm>
            <a:off x="640080" y="3794760"/>
            <a:ext cx="10908792" cy="105156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794760"/>
            <a:ext cx="10332720" cy="1051560"/>
          </a:xfrm>
          <a:prstGeom prst="rect">
            <a:avLst/>
          </a:prstGeom>
          <a:noFill/>
        </p:spPr>
        <p:txBody>
          <a:bodyPr wrap="square" anchor="ctr" lIns="0" rIns="0" tIns="0" bIns="0">
            <a:spAutoFit/>
          </a:bodyPr>
          <a:lstStyle/>
          <a:p>
            <a:pPr algn="l"/>
            <a:r>
              <a:rPr sz="1700" b="1" i="0">
                <a:solidFill>
                  <a:srgbClr val="141413"/>
                </a:solidFill>
                <a:latin typeface="Arial"/>
              </a:rPr>
              <a:t>“Survived” needs two independent sources.  </a:t>
            </a:r>
          </a:p>
          <a:p>
            <a:pPr algn="l"/>
            <a:r>
              <a:rPr sz="1700" b="0" i="0">
                <a:solidFill>
                  <a:srgbClr val="4A453D"/>
                </a:solidFill>
                <a:latin typeface="Arial"/>
              </a:rPr>
              <a:t>A single origin echoed around is flagged “unopposed” — not survived.</a:t>
            </a:r>
          </a:p>
        </p:txBody>
      </p:sp>
      <p:sp>
        <p:nvSpPr>
          <p:cNvPr id="15" name="Rounded Rectangle 14"/>
          <p:cNvSpPr/>
          <p:nvPr/>
        </p:nvSpPr>
        <p:spPr>
          <a:xfrm>
            <a:off x="640080" y="512064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120640"/>
            <a:ext cx="10177272" cy="1005840"/>
          </a:xfrm>
          <a:prstGeom prst="rect">
            <a:avLst/>
          </a:prstGeom>
          <a:noFill/>
        </p:spPr>
        <p:txBody>
          <a:bodyPr wrap="square" anchor="ctr" lIns="0" rIns="0" tIns="0" bIns="0">
            <a:spAutoFit/>
          </a:bodyPr>
          <a:lstStyle/>
          <a:p>
            <a:pPr algn="l"/>
            <a:r>
              <a:rPr sz="1800" b="1" i="0">
                <a:solidFill>
                  <a:srgbClr val="FFFFFF"/>
                </a:solidFill>
                <a:latin typeface="Arial"/>
              </a:rPr>
              <a:t>The direct counter to confirmation bias — the failure mode any single-pass search invites.</a:t>
            </a:r>
          </a:p>
        </p:txBody>
      </p:sp>
      <p:sp>
        <p:nvSpPr>
          <p:cNvPr id="17" name="TextBox 16"/>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12/27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5 · SYSTEMS PASS · CONDITIONAL</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When the problem feeds back on itself.</a:t>
            </a:r>
          </a:p>
        </p:txBody>
      </p:sp>
      <p:sp>
        <p:nvSpPr>
          <p:cNvPr id="4" name="Rounded Rectangle 3"/>
          <p:cNvSpPr/>
          <p:nvPr/>
        </p:nvSpPr>
        <p:spPr>
          <a:xfrm>
            <a:off x="640080" y="1783080"/>
            <a:ext cx="5440680"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457200"/>
          </a:xfrm>
          <a:prstGeom prst="rect">
            <a:avLst/>
          </a:prstGeom>
          <a:noFill/>
        </p:spPr>
        <p:txBody>
          <a:bodyPr wrap="square" anchor="t" lIns="0" rIns="0" tIns="0" bIns="0">
            <a:spAutoFit/>
          </a:bodyPr>
          <a:lstStyle/>
          <a:p>
            <a:pPr algn="l"/>
            <a:r>
              <a:rPr sz="1800" b="1" i="0">
                <a:solidFill>
                  <a:srgbClr val="4E79A6"/>
                </a:solidFill>
                <a:latin typeface="Arial"/>
              </a:rPr>
              <a:t>Runs only when 2+ signatures appear</a:t>
            </a:r>
          </a:p>
        </p:txBody>
      </p:sp>
      <p:sp>
        <p:nvSpPr>
          <p:cNvPr id="6" name="TextBox 5"/>
          <p:cNvSpPr txBox="1"/>
          <p:nvPr/>
        </p:nvSpPr>
        <p:spPr>
          <a:xfrm>
            <a:off x="914400" y="2697480"/>
            <a:ext cx="4937760" cy="2011680"/>
          </a:xfrm>
          <a:prstGeom prst="rect">
            <a:avLst/>
          </a:prstGeom>
          <a:noFill/>
        </p:spPr>
        <p:txBody>
          <a:bodyPr wrap="square" anchor="t" lIns="0" rIns="0" tIns="0" bIns="0">
            <a:spAutoFit/>
          </a:bodyPr>
          <a:lstStyle/>
          <a:p>
            <a:pPr algn="l">
              <a:spcAft>
                <a:spcPts val="400"/>
              </a:spcAft>
            </a:pPr>
            <a:r>
              <a:rPr sz="1600" b="0" i="0">
                <a:solidFill>
                  <a:srgbClr val="141413"/>
                </a:solidFill>
                <a:latin typeface="Arial"/>
              </a:rPr>
              <a:t>• feedback loops</a:t>
            </a:r>
          </a:p>
          <a:p>
            <a:pPr algn="l">
              <a:spcAft>
                <a:spcPts val="400"/>
              </a:spcAft>
            </a:pPr>
            <a:r>
              <a:rPr sz="1600" b="0" i="0">
                <a:solidFill>
                  <a:srgbClr val="141413"/>
                </a:solidFill>
                <a:latin typeface="Arial"/>
              </a:rPr>
              <a:t>• delays between cause and effect</a:t>
            </a:r>
          </a:p>
          <a:p>
            <a:pPr algn="l">
              <a:spcAft>
                <a:spcPts val="400"/>
              </a:spcAft>
            </a:pPr>
            <a:r>
              <a:rPr sz="1600" b="0" i="0">
                <a:solidFill>
                  <a:srgbClr val="141413"/>
                </a:solidFill>
                <a:latin typeface="Arial"/>
              </a:rPr>
              <a:t>• things that accumulate</a:t>
            </a:r>
          </a:p>
          <a:p>
            <a:pPr algn="l">
              <a:spcAft>
                <a:spcPts val="400"/>
              </a:spcAft>
            </a:pPr>
            <a:r>
              <a:rPr sz="1600" b="0" i="0">
                <a:solidFill>
                  <a:srgbClr val="141413"/>
                </a:solidFill>
                <a:latin typeface="Arial"/>
              </a:rPr>
              <a:t>• many interacting actors</a:t>
            </a:r>
          </a:p>
          <a:p>
            <a:pPr algn="l">
              <a:spcAft>
                <a:spcPts val="400"/>
              </a:spcAft>
            </a:pPr>
            <a:r>
              <a:rPr sz="1600" b="0" i="0">
                <a:solidFill>
                  <a:srgbClr val="141413"/>
                </a:solidFill>
                <a:latin typeface="Arial"/>
              </a:rPr>
              <a:t>• a possible tipping point</a:t>
            </a:r>
          </a:p>
          <a:p>
            <a:pPr algn="l">
              <a:spcAft>
                <a:spcPts val="400"/>
              </a:spcAft>
            </a:pPr>
            <a:r>
              <a:rPr sz="1600" b="0" i="0">
                <a:solidFill>
                  <a:srgbClr val="141413"/>
                </a:solidFill>
                <a:latin typeface="Arial"/>
              </a:rPr>
              <a:t>• self-fulfilling expectations</a:t>
            </a:r>
          </a:p>
        </p:txBody>
      </p:sp>
      <p:sp>
        <p:nvSpPr>
          <p:cNvPr id="7" name="Rounded Rectangle 6"/>
          <p:cNvSpPr/>
          <p:nvPr/>
        </p:nvSpPr>
        <p:spPr>
          <a:xfrm>
            <a:off x="6263640" y="1783080"/>
            <a:ext cx="528523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457200"/>
          </a:xfrm>
          <a:prstGeom prst="rect">
            <a:avLst/>
          </a:prstGeom>
          <a:noFill/>
        </p:spPr>
        <p:txBody>
          <a:bodyPr wrap="square" anchor="t" lIns="0" rIns="0" tIns="0" bIns="0">
            <a:spAutoFit/>
          </a:bodyPr>
          <a:lstStyle/>
          <a:p>
            <a:pPr algn="l"/>
            <a:r>
              <a:rPr sz="1800" b="1" i="0">
                <a:solidFill>
                  <a:srgbClr val="5F7249"/>
                </a:solidFill>
                <a:latin typeface="Arial"/>
              </a:rPr>
              <a:t>A graded hypothesis — not a simulation</a:t>
            </a:r>
          </a:p>
        </p:txBody>
      </p:sp>
      <p:sp>
        <p:nvSpPr>
          <p:cNvPr id="9" name="TextBox 8"/>
          <p:cNvSpPr txBox="1"/>
          <p:nvPr/>
        </p:nvSpPr>
        <p:spPr>
          <a:xfrm>
            <a:off x="6537960" y="2697480"/>
            <a:ext cx="4754880" cy="2011680"/>
          </a:xfrm>
          <a:prstGeom prst="rect">
            <a:avLst/>
          </a:prstGeom>
          <a:noFill/>
        </p:spPr>
        <p:txBody>
          <a:bodyPr wrap="square" anchor="t" lIns="0" rIns="0" tIns="0" bIns="0">
            <a:spAutoFit/>
          </a:bodyPr>
          <a:lstStyle/>
          <a:p>
            <a:pPr algn="l"/>
            <a:r>
              <a:rPr sz="1700" b="0" i="0">
                <a:solidFill>
                  <a:srgbClr val="4A453D"/>
                </a:solidFill>
                <a:latin typeface="Arial"/>
              </a:rPr>
              <a:t>It will tell you a loop EXISTS. It will not tell you, as fact, which loop WINS — that routes back to you. Structure can be verified; whether or when it tips cannot.</a:t>
            </a:r>
          </a:p>
        </p:txBody>
      </p:sp>
      <p:sp>
        <p:nvSpPr>
          <p:cNvPr id="10" name="Rounded Rectangle 9"/>
          <p:cNvSpPr/>
          <p:nvPr/>
        </p:nvSpPr>
        <p:spPr>
          <a:xfrm>
            <a:off x="640080" y="507492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77272" cy="1188720"/>
          </a:xfrm>
          <a:prstGeom prst="rect">
            <a:avLst/>
          </a:prstGeom>
          <a:noFill/>
        </p:spPr>
        <p:txBody>
          <a:bodyPr wrap="square" anchor="ctr" lIns="0" rIns="0" tIns="0" bIns="0">
            <a:spAutoFit/>
          </a:bodyPr>
          <a:lstStyle/>
          <a:p>
            <a:pPr algn="l"/>
            <a:r>
              <a:rPr sz="1800" b="1" i="0">
                <a:solidFill>
                  <a:srgbClr val="FFFFFF"/>
                </a:solidFill>
                <a:latin typeface="Arial"/>
              </a:rPr>
              <a:t>It states whose framing the map takes, and who's affected but missing.</a:t>
            </a:r>
          </a:p>
          <a:p>
            <a:pPr algn="l"/>
            <a:r>
              <a:rPr sz="1800" b="1" i="0">
                <a:solidFill>
                  <a:srgbClr val="FFFFFF"/>
                </a:solidFill>
                <a:latin typeface="Arial"/>
              </a:rPr>
              <a:t>A tidy map that hides its blind spot is false precision.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13/27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6 · DEEP-CORE ROUTING</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Separate out what no evidence can settle.</a:t>
            </a:r>
          </a:p>
        </p:txBody>
      </p:sp>
      <p:sp>
        <p:nvSpPr>
          <p:cNvPr id="4" name="Rounded Rectangle 3"/>
          <p:cNvSpPr/>
          <p:nvPr/>
        </p:nvSpPr>
        <p:spPr>
          <a:xfrm>
            <a:off x="640080" y="1783080"/>
            <a:ext cx="6720840"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6217920" cy="457200"/>
          </a:xfrm>
          <a:prstGeom prst="rect">
            <a:avLst/>
          </a:prstGeom>
          <a:noFill/>
        </p:spPr>
        <p:txBody>
          <a:bodyPr wrap="square" anchor="t" lIns="0" rIns="0" tIns="0" bIns="0">
            <a:spAutoFit/>
          </a:bodyPr>
          <a:lstStyle/>
          <a:p>
            <a:pPr algn="l"/>
            <a:r>
              <a:rPr sz="1800" b="1" i="0">
                <a:solidFill>
                  <a:srgbClr val="4E79A6"/>
                </a:solidFill>
                <a:latin typeface="Arial"/>
              </a:rPr>
              <a:t>Onto an explicit OPEN list</a:t>
            </a:r>
          </a:p>
        </p:txBody>
      </p:sp>
      <p:sp>
        <p:nvSpPr>
          <p:cNvPr id="6" name="TextBox 5"/>
          <p:cNvSpPr txBox="1"/>
          <p:nvPr/>
        </p:nvSpPr>
        <p:spPr>
          <a:xfrm>
            <a:off x="914400" y="2697480"/>
            <a:ext cx="6217920" cy="2057400"/>
          </a:xfrm>
          <a:prstGeom prst="rect">
            <a:avLst/>
          </a:prstGeom>
          <a:noFill/>
        </p:spPr>
        <p:txBody>
          <a:bodyPr wrap="square" anchor="t" lIns="0" rIns="0" tIns="0" bIns="0">
            <a:spAutoFit/>
          </a:bodyPr>
          <a:lstStyle/>
          <a:p>
            <a:pPr algn="l">
              <a:spcAft>
                <a:spcPts val="700"/>
              </a:spcAft>
            </a:pPr>
            <a:r>
              <a:rPr sz="1600" b="0" i="0">
                <a:solidFill>
                  <a:srgbClr val="141413"/>
                </a:solidFill>
                <a:latin typeface="Arial"/>
              </a:rPr>
              <a:t>• how the decision is framed in the first place</a:t>
            </a:r>
          </a:p>
          <a:p>
            <a:pPr algn="l">
              <a:spcAft>
                <a:spcPts val="700"/>
              </a:spcAft>
            </a:pPr>
            <a:r>
              <a:rPr sz="1600" b="0" i="0">
                <a:solidFill>
                  <a:srgbClr val="141413"/>
                </a:solidFill>
                <a:latin typeface="Arial"/>
              </a:rPr>
              <a:t>• legitimacy — who is bound without a say</a:t>
            </a:r>
          </a:p>
          <a:p>
            <a:pPr algn="l">
              <a:spcAft>
                <a:spcPts val="700"/>
              </a:spcAft>
            </a:pPr>
            <a:r>
              <a:rPr sz="1600" b="0" i="0">
                <a:solidFill>
                  <a:srgbClr val="141413"/>
                </a:solidFill>
                <a:latin typeface="Arial"/>
              </a:rPr>
              <a:t>• opportunity cost, and alternatives no one modelled</a:t>
            </a:r>
          </a:p>
          <a:p>
            <a:pPr algn="l">
              <a:spcAft>
                <a:spcPts val="700"/>
              </a:spcAft>
            </a:pPr>
            <a:r>
              <a:rPr sz="1600" b="0" i="0">
                <a:solidFill>
                  <a:srgbClr val="141413"/>
                </a:solidFill>
                <a:latin typeface="Arial"/>
              </a:rPr>
              <a:t>• the value trade-offs</a:t>
            </a:r>
          </a:p>
        </p:txBody>
      </p:sp>
      <p:sp>
        <p:nvSpPr>
          <p:cNvPr id="7" name="Rounded Rectangle 6"/>
          <p:cNvSpPr/>
          <p:nvPr/>
        </p:nvSpPr>
        <p:spPr>
          <a:xfrm>
            <a:off x="7589520" y="1783080"/>
            <a:ext cx="3959352" cy="3063240"/>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011680"/>
            <a:ext cx="3429000" cy="457200"/>
          </a:xfrm>
          <a:prstGeom prst="rect">
            <a:avLst/>
          </a:prstGeom>
          <a:noFill/>
        </p:spPr>
        <p:txBody>
          <a:bodyPr wrap="square" anchor="t" lIns="0" rIns="0" tIns="0" bIns="0">
            <a:spAutoFit/>
          </a:bodyPr>
          <a:lstStyle/>
          <a:p>
            <a:pPr algn="l"/>
            <a:r>
              <a:rPr sz="1800" b="1" i="0">
                <a:solidFill>
                  <a:srgbClr val="7A3F28"/>
                </a:solidFill>
                <a:latin typeface="Arial"/>
              </a:rPr>
              <a:t>Three rules</a:t>
            </a:r>
          </a:p>
        </p:txBody>
      </p:sp>
      <p:sp>
        <p:nvSpPr>
          <p:cNvPr id="9" name="TextBox 8"/>
          <p:cNvSpPr txBox="1"/>
          <p:nvPr/>
        </p:nvSpPr>
        <p:spPr>
          <a:xfrm>
            <a:off x="7863840" y="2697480"/>
            <a:ext cx="3429000" cy="2057400"/>
          </a:xfrm>
          <a:prstGeom prst="rect">
            <a:avLst/>
          </a:prstGeom>
          <a:noFill/>
        </p:spPr>
        <p:txBody>
          <a:bodyPr wrap="square" anchor="t" lIns="0" rIns="0" tIns="0" bIns="0">
            <a:spAutoFit/>
          </a:bodyPr>
          <a:lstStyle/>
          <a:p>
            <a:pPr algn="l">
              <a:spcAft>
                <a:spcPts val="1000"/>
              </a:spcAft>
            </a:pPr>
            <a:r>
              <a:rPr sz="1500" b="0" i="0">
                <a:solidFill>
                  <a:srgbClr val="7A3F28"/>
                </a:solidFill>
                <a:latin typeface="Arial"/>
              </a:rPr>
              <a:t>Don't resolve them — you can't.</a:t>
            </a:r>
          </a:p>
          <a:p>
            <a:pPr algn="l">
              <a:spcAft>
                <a:spcPts val="1000"/>
              </a:spcAft>
            </a:pPr>
            <a:r>
              <a:rPr sz="1500" b="0" i="0">
                <a:solidFill>
                  <a:srgbClr val="7A3F28"/>
                </a:solidFill>
                <a:latin typeface="Arial"/>
              </a:rPr>
              <a:t>Don't drop them — they matter most.</a:t>
            </a:r>
          </a:p>
          <a:p>
            <a:pPr algn="l">
              <a:spcAft>
                <a:spcPts val="1000"/>
              </a:spcAft>
            </a:pPr>
            <a:r>
              <a:rPr sz="1500" b="0" i="0">
                <a:solidFill>
                  <a:srgbClr val="7A3F28"/>
                </a:solidFill>
                <a:latin typeface="Arial"/>
              </a:rPr>
              <a:t>Don't assert them as verified.</a:t>
            </a:r>
          </a:p>
        </p:txBody>
      </p:sp>
      <p:sp>
        <p:nvSpPr>
          <p:cNvPr id="10" name="Rounded Rectangle 9"/>
          <p:cNvSpPr/>
          <p:nvPr/>
        </p:nvSpPr>
        <p:spPr>
          <a:xfrm>
            <a:off x="640080" y="507492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77272" cy="1188720"/>
          </a:xfrm>
          <a:prstGeom prst="rect">
            <a:avLst/>
          </a:prstGeom>
          <a:noFill/>
        </p:spPr>
        <p:txBody>
          <a:bodyPr wrap="square" anchor="ctr" lIns="0" rIns="0" tIns="0" bIns="0">
            <a:spAutoFit/>
          </a:bodyPr>
          <a:lstStyle/>
          <a:p>
            <a:pPr algn="l"/>
            <a:r>
              <a:rPr sz="1800" b="1" i="0">
                <a:solidFill>
                  <a:srgbClr val="FFFFFF"/>
                </a:solidFill>
                <a:latin typeface="Arial"/>
              </a:rPr>
              <a:t>Named precisely, and carried untouched to the gate (Step 8) — where you answer them.</a:t>
            </a:r>
          </a:p>
          <a:p>
            <a:pPr algn="l"/>
            <a:r>
              <a:rPr sz="1800" b="1" i="0">
                <a:solidFill>
                  <a:srgbClr val="FFFFFF"/>
                </a:solidFill>
                <a:latin typeface="Arial"/>
              </a:rPr>
              <a:t>This is what stops a value judgment being smuggled in as a finding.</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14/27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7 · GRADE-LOCK + RESILIENCE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Freeze the grades. Then try to break the call.</a:t>
            </a:r>
          </a:p>
        </p:txBody>
      </p:sp>
      <p:sp>
        <p:nvSpPr>
          <p:cNvPr id="4" name="Rounded Rectangle 3"/>
          <p:cNvSpPr/>
          <p:nvPr/>
        </p:nvSpPr>
        <p:spPr>
          <a:xfrm>
            <a:off x="640080" y="1783080"/>
            <a:ext cx="5440680" cy="306324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457200"/>
          </a:xfrm>
          <a:prstGeom prst="rect">
            <a:avLst/>
          </a:prstGeom>
          <a:noFill/>
        </p:spPr>
        <p:txBody>
          <a:bodyPr wrap="square" anchor="t" lIns="0" rIns="0" tIns="0" bIns="0">
            <a:spAutoFit/>
          </a:bodyPr>
          <a:lstStyle/>
          <a:p>
            <a:pPr algn="l"/>
            <a:r>
              <a:rPr sz="1800" b="1" i="0">
                <a:solidFill>
                  <a:srgbClr val="5F7249"/>
                </a:solidFill>
                <a:latin typeface="Arial"/>
              </a:rPr>
              <a:t>Grade-lock</a:t>
            </a:r>
          </a:p>
        </p:txBody>
      </p:sp>
      <p:sp>
        <p:nvSpPr>
          <p:cNvPr id="6" name="TextBox 5"/>
          <p:cNvSpPr txBox="1"/>
          <p:nvPr/>
        </p:nvSpPr>
        <p:spPr>
          <a:xfrm>
            <a:off x="914400" y="2697480"/>
            <a:ext cx="4937760" cy="2057400"/>
          </a:xfrm>
          <a:prstGeom prst="rect">
            <a:avLst/>
          </a:prstGeom>
          <a:noFill/>
        </p:spPr>
        <p:txBody>
          <a:bodyPr wrap="square" anchor="t" lIns="0" rIns="0" tIns="0" bIns="0">
            <a:spAutoFit/>
          </a:bodyPr>
          <a:lstStyle/>
          <a:p>
            <a:pPr algn="l"/>
            <a:r>
              <a:rPr sz="1600" b="0" i="0">
                <a:solidFill>
                  <a:srgbClr val="141413"/>
                </a:solidFill>
                <a:latin typeface="Arial"/>
              </a:rPr>
              <a:t>Every grade from verification is now frozen. Nothing downstream can change it — a later step can only restate it. The confidence on each claim is fixed and auditable, not drifting to suit the conclusion.</a:t>
            </a:r>
          </a:p>
        </p:txBody>
      </p:sp>
      <p:sp>
        <p:nvSpPr>
          <p:cNvPr id="7" name="Rounded Rectangle 6"/>
          <p:cNvSpPr/>
          <p:nvPr/>
        </p:nvSpPr>
        <p:spPr>
          <a:xfrm>
            <a:off x="6263640" y="1783080"/>
            <a:ext cx="528523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457200"/>
          </a:xfrm>
          <a:prstGeom prst="rect">
            <a:avLst/>
          </a:prstGeom>
          <a:noFill/>
        </p:spPr>
        <p:txBody>
          <a:bodyPr wrap="square" anchor="t" lIns="0" rIns="0" tIns="0" bIns="0">
            <a:spAutoFit/>
          </a:bodyPr>
          <a:lstStyle/>
          <a:p>
            <a:pPr algn="l"/>
            <a:r>
              <a:rPr sz="1800" b="1" i="0">
                <a:solidFill>
                  <a:srgbClr val="4E79A6"/>
                </a:solidFill>
                <a:latin typeface="Arial"/>
              </a:rPr>
              <a:t>Resilience check</a:t>
            </a:r>
          </a:p>
        </p:txBody>
      </p:sp>
      <p:sp>
        <p:nvSpPr>
          <p:cNvPr id="9" name="TextBox 8"/>
          <p:cNvSpPr txBox="1"/>
          <p:nvPr/>
        </p:nvSpPr>
        <p:spPr>
          <a:xfrm>
            <a:off x="6537960" y="2697480"/>
            <a:ext cx="4754880" cy="2057400"/>
          </a:xfrm>
          <a:prstGeom prst="rect">
            <a:avLst/>
          </a:prstGeom>
          <a:noFill/>
        </p:spPr>
        <p:txBody>
          <a:bodyPr wrap="square" anchor="t" lIns="0" rIns="0" tIns="0" bIns="0">
            <a:spAutoFit/>
          </a:bodyPr>
          <a:lstStyle/>
          <a:p>
            <a:pPr algn="l"/>
            <a:r>
              <a:rPr sz="1600" b="0" i="0">
                <a:solidFill>
                  <a:srgbClr val="141413"/>
                </a:solidFill>
                <a:latin typeface="Arial"/>
              </a:rPr>
              <a:t>Before committing, stress-test the call against its load-bearing assumptions and the systems map's key links: if one claim you're leaning on were wrong, would the call survive — or does everything hinge on it?</a:t>
            </a:r>
          </a:p>
        </p:txBody>
      </p:sp>
      <p:sp>
        <p:nvSpPr>
          <p:cNvPr id="10" name="Rounded Rectangle 9"/>
          <p:cNvSpPr/>
          <p:nvPr/>
        </p:nvSpPr>
        <p:spPr>
          <a:xfrm>
            <a:off x="640080" y="507492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77272" cy="1005840"/>
          </a:xfrm>
          <a:prstGeom prst="rect">
            <a:avLst/>
          </a:prstGeom>
          <a:noFill/>
        </p:spPr>
        <p:txBody>
          <a:bodyPr wrap="square" anchor="ctr" lIns="0" rIns="0" tIns="0" bIns="0">
            <a:spAutoFit/>
          </a:bodyPr>
          <a:lstStyle/>
          <a:p>
            <a:pPr algn="l"/>
            <a:r>
              <a:rPr sz="1800" b="1" i="0">
                <a:solidFill>
                  <a:srgbClr val="FFFFFF"/>
                </a:solidFill>
                <a:latin typeface="Arial"/>
              </a:rPr>
              <a:t>Locked grades make the confidence auditable; the resilience check makes sure the call doesn't rest on a single fragile assumption.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15/27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413"/>
        </a:solidFill>
        <a:effectLst/>
      </p:bgPr>
    </p:bg>
    <p:spTree>
      <p:nvGrpSpPr>
        <p:cNvPr id="1" name=""/>
        <p:cNvGrpSpPr/>
        <p:nvPr/>
      </p:nvGrpSpPr>
      <p:grpSpPr/>
      <p:sp>
        <p:nvSpPr>
          <p:cNvPr id="2" name="TextBox 1"/>
          <p:cNvSpPr txBox="1"/>
          <p:nvPr/>
        </p:nvSpPr>
        <p:spPr>
          <a:xfrm>
            <a:off x="658368" y="365760"/>
            <a:ext cx="10881360" cy="365760"/>
          </a:xfrm>
          <a:prstGeom prst="rect">
            <a:avLst/>
          </a:prstGeom>
          <a:noFill/>
        </p:spPr>
        <p:txBody>
          <a:bodyPr wrap="square" anchor="t" lIns="0" rIns="0" tIns="0" bIns="0">
            <a:spAutoFit/>
          </a:bodyPr>
          <a:lstStyle/>
          <a:p>
            <a:pPr algn="l"/>
            <a:r>
              <a:rPr sz="1500" b="1" i="0">
                <a:solidFill>
                  <a:srgbClr val="E89078"/>
                </a:solidFill>
                <a:latin typeface="Arial"/>
              </a:rPr>
              <a:t>STEP 8 · THE FORCED GATE</a:t>
            </a:r>
          </a:p>
        </p:txBody>
      </p:sp>
      <p:sp>
        <p:nvSpPr>
          <p:cNvPr id="3" name="TextBox 2"/>
          <p:cNvSpPr txBox="1"/>
          <p:nvPr/>
        </p:nvSpPr>
        <p:spPr>
          <a:xfrm>
            <a:off x="640080" y="713232"/>
            <a:ext cx="10972800" cy="822960"/>
          </a:xfrm>
          <a:prstGeom prst="rect">
            <a:avLst/>
          </a:prstGeom>
          <a:noFill/>
        </p:spPr>
        <p:txBody>
          <a:bodyPr wrap="square" anchor="t" lIns="0" rIns="0" tIns="0" bIns="0">
            <a:spAutoFit/>
          </a:bodyPr>
          <a:lstStyle/>
          <a:p>
            <a:pPr algn="l"/>
            <a:r>
              <a:rPr sz="3000" b="1" i="0">
                <a:solidFill>
                  <a:srgbClr val="FFFFFF"/>
                </a:solidFill>
                <a:latin typeface="Arial"/>
              </a:rPr>
              <a:t>The value questions are yours to answer.</a:t>
            </a:r>
          </a:p>
        </p:txBody>
      </p:sp>
      <p:sp>
        <p:nvSpPr>
          <p:cNvPr id="4" name="Rounded Rectangle 3"/>
          <p:cNvSpPr/>
          <p:nvPr/>
        </p:nvSpPr>
        <p:spPr>
          <a:xfrm>
            <a:off x="640080" y="1691640"/>
            <a:ext cx="10908792" cy="1691640"/>
          </a:xfrm>
          <a:prstGeom prst="roundRect">
            <a:avLst>
              <a:gd name="adj" fmla="val 5500"/>
            </a:avLst>
          </a:prstGeom>
          <a:solidFill>
            <a:srgbClr val="F2DB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10241280" cy="1691640"/>
          </a:xfrm>
          <a:prstGeom prst="rect">
            <a:avLst/>
          </a:prstGeom>
          <a:noFill/>
        </p:spPr>
        <p:txBody>
          <a:bodyPr wrap="square" anchor="ctr" lIns="0" rIns="0" tIns="0" bIns="0">
            <a:spAutoFit/>
          </a:bodyPr>
          <a:lstStyle/>
          <a:p>
            <a:pPr algn="l"/>
            <a:r>
              <a:rPr sz="2000" b="0" i="0">
                <a:solidFill>
                  <a:srgbClr val="7A3F28"/>
                </a:solidFill>
                <a:latin typeface="Arial"/>
              </a:rPr>
              <a:t>The questions no evidence can settle — the framing, the legitimacy, the trade-offs — are handed back to you, one at a time. The analysis won't finalise until you take a position — or explicitly defer, which is logged, not ignored.</a:t>
            </a:r>
          </a:p>
        </p:txBody>
      </p:sp>
      <p:sp>
        <p:nvSpPr>
          <p:cNvPr id="6" name="TextBox 5"/>
          <p:cNvSpPr txBox="1"/>
          <p:nvPr/>
        </p:nvSpPr>
        <p:spPr>
          <a:xfrm>
            <a:off x="640080" y="3794760"/>
            <a:ext cx="10881360" cy="1371600"/>
          </a:xfrm>
          <a:prstGeom prst="rect">
            <a:avLst/>
          </a:prstGeom>
          <a:noFill/>
        </p:spPr>
        <p:txBody>
          <a:bodyPr wrap="square" anchor="t" lIns="0" rIns="0" tIns="0" bIns="0">
            <a:spAutoFit/>
          </a:bodyPr>
          <a:lstStyle/>
          <a:p>
            <a:pPr algn="l"/>
            <a:r>
              <a:rPr sz="1900" b="1" i="0">
                <a:solidFill>
                  <a:srgbClr val="E89078"/>
                </a:solidFill>
                <a:latin typeface="Arial"/>
              </a:rPr>
              <a:t>Why forced?  </a:t>
            </a:r>
          </a:p>
          <a:p>
            <a:pPr algn="l"/>
            <a:r>
              <a:rPr sz="1900" b="0" i="0">
                <a:solidFill>
                  <a:srgbClr val="FAF9F5"/>
                </a:solidFill>
                <a:latin typeface="Arial"/>
              </a:rPr>
              <a:t>Testing showed that merely showing you these questions doesn't work — attention slides to the verifiable. Being made to answer is what gets them addressed.</a:t>
            </a:r>
          </a:p>
        </p:txBody>
      </p:sp>
      <p:sp>
        <p:nvSpPr>
          <p:cNvPr id="7" name="TextBox 6"/>
          <p:cNvSpPr txBox="1"/>
          <p:nvPr/>
        </p:nvSpPr>
        <p:spPr>
          <a:xfrm>
            <a:off x="640080" y="5257800"/>
            <a:ext cx="10881360" cy="457200"/>
          </a:xfrm>
          <a:prstGeom prst="rect">
            <a:avLst/>
          </a:prstGeom>
          <a:noFill/>
        </p:spPr>
        <p:txBody>
          <a:bodyPr wrap="square" anchor="t" lIns="0" rIns="0" tIns="0" bIns="0">
            <a:spAutoFit/>
          </a:bodyPr>
          <a:lstStyle/>
          <a:p>
            <a:pPr algn="l"/>
            <a:r>
              <a:rPr sz="1700" b="0" i="0">
                <a:solidFill>
                  <a:srgbClr val="C9C6BA"/>
                </a:solidFill>
                <a:latin typeface="Arial"/>
              </a:rPr>
              <a:t>The engine surfaces the questions; you own the judgment.</a:t>
            </a:r>
          </a:p>
        </p:txBody>
      </p:sp>
      <p:sp>
        <p:nvSpPr>
          <p:cNvPr id="8" name="TextBox 7"/>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C9C6BA"/>
                </a:solidFill>
                <a:latin typeface="Arial"/>
              </a:rPr>
              <a:t>16/27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9 · THE DECISION BRIEF</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 short decision surface — not an essay.</a:t>
            </a:r>
          </a:p>
        </p:txBody>
      </p:sp>
      <p:sp>
        <p:nvSpPr>
          <p:cNvPr id="4" name="Rounded Rectangle 3"/>
          <p:cNvSpPr/>
          <p:nvPr/>
        </p:nvSpPr>
        <p:spPr>
          <a:xfrm>
            <a:off x="640080" y="178308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929384"/>
            <a:ext cx="3063240" cy="457200"/>
          </a:xfrm>
          <a:prstGeom prst="rect">
            <a:avLst/>
          </a:prstGeom>
          <a:noFill/>
        </p:spPr>
        <p:txBody>
          <a:bodyPr wrap="square" anchor="t" lIns="0" rIns="0" tIns="0" bIns="0">
            <a:spAutoFit/>
          </a:bodyPr>
          <a:lstStyle/>
          <a:p>
            <a:pPr algn="l"/>
            <a:r>
              <a:rPr sz="1700" b="1" i="0">
                <a:solidFill>
                  <a:srgbClr val="4E79A6"/>
                </a:solidFill>
                <a:latin typeface="Arial"/>
              </a:rPr>
              <a:t>The call</a:t>
            </a:r>
          </a:p>
        </p:txBody>
      </p:sp>
      <p:sp>
        <p:nvSpPr>
          <p:cNvPr id="6" name="TextBox 5"/>
          <p:cNvSpPr txBox="1"/>
          <p:nvPr/>
        </p:nvSpPr>
        <p:spPr>
          <a:xfrm>
            <a:off x="859536" y="2404872"/>
            <a:ext cx="3063240" cy="548640"/>
          </a:xfrm>
          <a:prstGeom prst="rect">
            <a:avLst/>
          </a:prstGeom>
          <a:noFill/>
        </p:spPr>
        <p:txBody>
          <a:bodyPr wrap="square" anchor="t" lIns="0" rIns="0" tIns="0" bIns="0">
            <a:spAutoFit/>
          </a:bodyPr>
          <a:lstStyle/>
          <a:p>
            <a:pPr algn="l"/>
            <a:r>
              <a:rPr sz="1400" b="0" i="0">
                <a:solidFill>
                  <a:srgbClr val="4A453D"/>
                </a:solidFill>
                <a:latin typeface="Arial"/>
              </a:rPr>
              <a:t>provisional stance if the problem is wicked</a:t>
            </a:r>
          </a:p>
        </p:txBody>
      </p:sp>
      <p:sp>
        <p:nvSpPr>
          <p:cNvPr id="7" name="Rounded Rectangle 6"/>
          <p:cNvSpPr/>
          <p:nvPr/>
        </p:nvSpPr>
        <p:spPr>
          <a:xfrm>
            <a:off x="4361688" y="1783080"/>
            <a:ext cx="3474720" cy="1261872"/>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1144" y="1929384"/>
            <a:ext cx="3063240" cy="457200"/>
          </a:xfrm>
          <a:prstGeom prst="rect">
            <a:avLst/>
          </a:prstGeom>
          <a:noFill/>
        </p:spPr>
        <p:txBody>
          <a:bodyPr wrap="square" anchor="t" lIns="0" rIns="0" tIns="0" bIns="0">
            <a:spAutoFit/>
          </a:bodyPr>
          <a:lstStyle/>
          <a:p>
            <a:pPr algn="l"/>
            <a:r>
              <a:rPr sz="1700" b="1" i="0">
                <a:solidFill>
                  <a:srgbClr val="5F7249"/>
                </a:solidFill>
                <a:latin typeface="Arial"/>
              </a:rPr>
              <a:t>Confidence basis</a:t>
            </a:r>
          </a:p>
        </p:txBody>
      </p:sp>
      <p:sp>
        <p:nvSpPr>
          <p:cNvPr id="9" name="TextBox 8"/>
          <p:cNvSpPr txBox="1"/>
          <p:nvPr/>
        </p:nvSpPr>
        <p:spPr>
          <a:xfrm>
            <a:off x="4581144" y="2404872"/>
            <a:ext cx="3063240" cy="548640"/>
          </a:xfrm>
          <a:prstGeom prst="rect">
            <a:avLst/>
          </a:prstGeom>
          <a:noFill/>
        </p:spPr>
        <p:txBody>
          <a:bodyPr wrap="square" anchor="t" lIns="0" rIns="0" tIns="0" bIns="0">
            <a:spAutoFit/>
          </a:bodyPr>
          <a:lstStyle/>
          <a:p>
            <a:pPr algn="l"/>
            <a:r>
              <a:rPr sz="1400" b="0" i="0">
                <a:solidFill>
                  <a:srgbClr val="4A453D"/>
                </a:solidFill>
                <a:latin typeface="Arial"/>
              </a:rPr>
              <a:t>how solid the EVIDENCE is — the weakest grade</a:t>
            </a:r>
          </a:p>
        </p:txBody>
      </p:sp>
      <p:sp>
        <p:nvSpPr>
          <p:cNvPr id="10" name="Rounded Rectangle 9"/>
          <p:cNvSpPr/>
          <p:nvPr/>
        </p:nvSpPr>
        <p:spPr>
          <a:xfrm>
            <a:off x="8083296" y="1783080"/>
            <a:ext cx="3474720" cy="1261872"/>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1929384"/>
            <a:ext cx="3063240" cy="457200"/>
          </a:xfrm>
          <a:prstGeom prst="rect">
            <a:avLst/>
          </a:prstGeom>
          <a:noFill/>
        </p:spPr>
        <p:txBody>
          <a:bodyPr wrap="square" anchor="t" lIns="0" rIns="0" tIns="0" bIns="0">
            <a:spAutoFit/>
          </a:bodyPr>
          <a:lstStyle/>
          <a:p>
            <a:pPr algn="l"/>
            <a:r>
              <a:rPr sz="1700" b="1" i="0">
                <a:solidFill>
                  <a:srgbClr val="5F7249"/>
                </a:solidFill>
                <a:latin typeface="Arial"/>
              </a:rPr>
              <a:t>Action contingency</a:t>
            </a:r>
          </a:p>
        </p:txBody>
      </p:sp>
      <p:sp>
        <p:nvSpPr>
          <p:cNvPr id="12" name="TextBox 11"/>
          <p:cNvSpPr txBox="1"/>
          <p:nvPr/>
        </p:nvSpPr>
        <p:spPr>
          <a:xfrm>
            <a:off x="8302752" y="2404872"/>
            <a:ext cx="3063240" cy="548640"/>
          </a:xfrm>
          <a:prstGeom prst="rect">
            <a:avLst/>
          </a:prstGeom>
          <a:noFill/>
        </p:spPr>
        <p:txBody>
          <a:bodyPr wrap="square" anchor="t" lIns="0" rIns="0" tIns="0" bIns="0">
            <a:spAutoFit/>
          </a:bodyPr>
          <a:lstStyle/>
          <a:p>
            <a:pPr algn="l"/>
            <a:r>
              <a:rPr sz="1400" b="0" i="0">
                <a:solidFill>
                  <a:srgbClr val="4A453D"/>
                </a:solidFill>
                <a:latin typeface="Arial"/>
              </a:rPr>
              <a:t>whether the ACTION will work — kept separate</a:t>
            </a:r>
          </a:p>
        </p:txBody>
      </p:sp>
      <p:sp>
        <p:nvSpPr>
          <p:cNvPr id="13" name="Rounded Rectangle 12"/>
          <p:cNvSpPr/>
          <p:nvPr/>
        </p:nvSpPr>
        <p:spPr>
          <a:xfrm>
            <a:off x="640080" y="320040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346704"/>
            <a:ext cx="3063240" cy="457200"/>
          </a:xfrm>
          <a:prstGeom prst="rect">
            <a:avLst/>
          </a:prstGeom>
          <a:noFill/>
        </p:spPr>
        <p:txBody>
          <a:bodyPr wrap="square" anchor="t" lIns="0" rIns="0" tIns="0" bIns="0">
            <a:spAutoFit/>
          </a:bodyPr>
          <a:lstStyle/>
          <a:p>
            <a:pPr algn="l"/>
            <a:r>
              <a:rPr sz="1700" b="1" i="0">
                <a:solidFill>
                  <a:srgbClr val="4E79A6"/>
                </a:solidFill>
                <a:latin typeface="Arial"/>
              </a:rPr>
              <a:t>Dominant unknown</a:t>
            </a:r>
          </a:p>
        </p:txBody>
      </p:sp>
      <p:sp>
        <p:nvSpPr>
          <p:cNvPr id="15" name="TextBox 14"/>
          <p:cNvSpPr txBox="1"/>
          <p:nvPr/>
        </p:nvSpPr>
        <p:spPr>
          <a:xfrm>
            <a:off x="859536" y="3822191"/>
            <a:ext cx="3063240" cy="548640"/>
          </a:xfrm>
          <a:prstGeom prst="rect">
            <a:avLst/>
          </a:prstGeom>
          <a:noFill/>
        </p:spPr>
        <p:txBody>
          <a:bodyPr wrap="square" anchor="t" lIns="0" rIns="0" tIns="0" bIns="0">
            <a:spAutoFit/>
          </a:bodyPr>
          <a:lstStyle/>
          <a:p>
            <a:pPr algn="l"/>
            <a:r>
              <a:rPr sz="1400" b="0" i="0">
                <a:solidFill>
                  <a:srgbClr val="4A453D"/>
                </a:solidFill>
                <a:latin typeface="Arial"/>
              </a:rPr>
              <a:t>the one fact that would most move it</a:t>
            </a:r>
          </a:p>
        </p:txBody>
      </p:sp>
      <p:sp>
        <p:nvSpPr>
          <p:cNvPr id="16" name="Rounded Rectangle 15"/>
          <p:cNvSpPr/>
          <p:nvPr/>
        </p:nvSpPr>
        <p:spPr>
          <a:xfrm>
            <a:off x="4361688" y="320040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46704"/>
            <a:ext cx="3063240" cy="457200"/>
          </a:xfrm>
          <a:prstGeom prst="rect">
            <a:avLst/>
          </a:prstGeom>
          <a:noFill/>
        </p:spPr>
        <p:txBody>
          <a:bodyPr wrap="square" anchor="t" lIns="0" rIns="0" tIns="0" bIns="0">
            <a:spAutoFit/>
          </a:bodyPr>
          <a:lstStyle/>
          <a:p>
            <a:pPr algn="l"/>
            <a:r>
              <a:rPr sz="1700" b="1" i="0">
                <a:solidFill>
                  <a:srgbClr val="4E79A6"/>
                </a:solidFill>
                <a:latin typeface="Arial"/>
              </a:rPr>
              <a:t>Verify first</a:t>
            </a:r>
          </a:p>
        </p:txBody>
      </p:sp>
      <p:sp>
        <p:nvSpPr>
          <p:cNvPr id="18" name="TextBox 17"/>
          <p:cNvSpPr txBox="1"/>
          <p:nvPr/>
        </p:nvSpPr>
        <p:spPr>
          <a:xfrm>
            <a:off x="4581144" y="3822191"/>
            <a:ext cx="3063240" cy="548640"/>
          </a:xfrm>
          <a:prstGeom prst="rect">
            <a:avLst/>
          </a:prstGeom>
          <a:noFill/>
        </p:spPr>
        <p:txBody>
          <a:bodyPr wrap="square" anchor="t" lIns="0" rIns="0" tIns="0" bIns="0">
            <a:spAutoFit/>
          </a:bodyPr>
          <a:lstStyle/>
          <a:p>
            <a:pPr algn="l"/>
            <a:r>
              <a:rPr sz="1400" b="0" i="0">
                <a:solidFill>
                  <a:srgbClr val="4A453D"/>
                </a:solidFill>
                <a:latin typeface="Arial"/>
              </a:rPr>
              <a:t>the cheapest next step that cuts risk</a:t>
            </a:r>
          </a:p>
        </p:txBody>
      </p:sp>
      <p:sp>
        <p:nvSpPr>
          <p:cNvPr id="19" name="Rounded Rectangle 18"/>
          <p:cNvSpPr/>
          <p:nvPr/>
        </p:nvSpPr>
        <p:spPr>
          <a:xfrm>
            <a:off x="8083296" y="320040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2752" y="3346704"/>
            <a:ext cx="3063240" cy="457200"/>
          </a:xfrm>
          <a:prstGeom prst="rect">
            <a:avLst/>
          </a:prstGeom>
          <a:noFill/>
        </p:spPr>
        <p:txBody>
          <a:bodyPr wrap="square" anchor="t" lIns="0" rIns="0" tIns="0" bIns="0">
            <a:spAutoFit/>
          </a:bodyPr>
          <a:lstStyle/>
          <a:p>
            <a:pPr algn="l"/>
            <a:r>
              <a:rPr sz="1700" b="1" i="0">
                <a:solidFill>
                  <a:srgbClr val="4E79A6"/>
                </a:solidFill>
                <a:latin typeface="Arial"/>
              </a:rPr>
              <a:t>What would flip it</a:t>
            </a:r>
          </a:p>
        </p:txBody>
      </p:sp>
      <p:sp>
        <p:nvSpPr>
          <p:cNvPr id="21" name="TextBox 20"/>
          <p:cNvSpPr txBox="1"/>
          <p:nvPr/>
        </p:nvSpPr>
        <p:spPr>
          <a:xfrm>
            <a:off x="8302752" y="3822191"/>
            <a:ext cx="3063240" cy="548640"/>
          </a:xfrm>
          <a:prstGeom prst="rect">
            <a:avLst/>
          </a:prstGeom>
          <a:noFill/>
        </p:spPr>
        <p:txBody>
          <a:bodyPr wrap="square" anchor="t" lIns="0" rIns="0" tIns="0" bIns="0">
            <a:spAutoFit/>
          </a:bodyPr>
          <a:lstStyle/>
          <a:p>
            <a:pPr algn="l"/>
            <a:r>
              <a:rPr sz="1400" b="0" i="0">
                <a:solidFill>
                  <a:srgbClr val="4A453D"/>
                </a:solidFill>
                <a:latin typeface="Arial"/>
              </a:rPr>
              <a:t>“if this is false, the call reverses”</a:t>
            </a:r>
          </a:p>
        </p:txBody>
      </p:sp>
      <p:sp>
        <p:nvSpPr>
          <p:cNvPr id="22" name="Rounded Rectangle 21"/>
          <p:cNvSpPr/>
          <p:nvPr/>
        </p:nvSpPr>
        <p:spPr>
          <a:xfrm>
            <a:off x="640080" y="498348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983480"/>
            <a:ext cx="10177272" cy="1188720"/>
          </a:xfrm>
          <a:prstGeom prst="rect">
            <a:avLst/>
          </a:prstGeom>
          <a:noFill/>
        </p:spPr>
        <p:txBody>
          <a:bodyPr wrap="square" anchor="ctr" lIns="0" rIns="0" tIns="0" bIns="0">
            <a:spAutoFit/>
          </a:bodyPr>
          <a:lstStyle/>
          <a:p>
            <a:pPr algn="l"/>
            <a:r>
              <a:rPr sz="1800" b="1" i="0">
                <a:solidFill>
                  <a:srgbClr val="FFFFFF"/>
                </a:solidFill>
                <a:latin typeface="Arial"/>
              </a:rPr>
              <a:t>Every hedge names what it depends on.</a:t>
            </a:r>
          </a:p>
          <a:p>
            <a:pPr algn="l"/>
            <a:r>
              <a:rPr sz="1800" b="1" i="0">
                <a:solidFill>
                  <a:srgbClr val="FFFFFF"/>
                </a:solidFill>
                <a:latin typeface="Arial"/>
              </a:rPr>
              <a:t>A caveat that points at nothing isn't allowed.</a:t>
            </a:r>
          </a:p>
        </p:txBody>
      </p:sp>
      <p:sp>
        <p:nvSpPr>
          <p:cNvPr id="24" name="TextBox 23"/>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17/27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10 · ADJUDICATION · HOW IT RUNS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Run it as a subagent — blind, then adversarial.</a:t>
            </a:r>
          </a:p>
        </p:txBody>
      </p:sp>
      <p:sp>
        <p:nvSpPr>
          <p:cNvPr id="4" name="Rounded Rectangle 3"/>
          <p:cNvSpPr/>
          <p:nvPr/>
        </p:nvSpPr>
        <p:spPr>
          <a:xfrm>
            <a:off x="640080" y="1691640"/>
            <a:ext cx="5440680"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01952"/>
            <a:ext cx="4937760" cy="457200"/>
          </a:xfrm>
          <a:prstGeom prst="rect">
            <a:avLst/>
          </a:prstGeom>
          <a:noFill/>
        </p:spPr>
        <p:txBody>
          <a:bodyPr wrap="square" anchor="t" lIns="0" rIns="0" tIns="0" bIns="0">
            <a:spAutoFit/>
          </a:bodyPr>
          <a:lstStyle/>
          <a:p>
            <a:pPr algn="l"/>
            <a:r>
              <a:rPr sz="1800" b="1" i="0">
                <a:solidFill>
                  <a:srgbClr val="4E79A6"/>
                </a:solidFill>
                <a:latin typeface="Arial"/>
              </a:rPr>
              <a:t>The mechanism</a:t>
            </a:r>
          </a:p>
        </p:txBody>
      </p:sp>
      <p:sp>
        <p:nvSpPr>
          <p:cNvPr id="6" name="TextBox 5"/>
          <p:cNvSpPr txBox="1"/>
          <p:nvPr/>
        </p:nvSpPr>
        <p:spPr>
          <a:xfrm>
            <a:off x="914400" y="2514600"/>
            <a:ext cx="4937760" cy="2377440"/>
          </a:xfrm>
          <a:prstGeom prst="rect">
            <a:avLst/>
          </a:prstGeom>
          <a:noFill/>
        </p:spPr>
        <p:txBody>
          <a:bodyPr wrap="square" anchor="t" lIns="0" rIns="0" tIns="0" bIns="0">
            <a:spAutoFit/>
          </a:bodyPr>
          <a:lstStyle/>
          <a:p>
            <a:pPr algn="l">
              <a:spcAft>
                <a:spcPts val="700"/>
              </a:spcAft>
            </a:pPr>
            <a:r>
              <a:rPr sz="1500" b="0" i="0">
                <a:solidFill>
                  <a:srgbClr val="141413"/>
                </a:solidFill>
                <a:latin typeface="Arial"/>
              </a:rPr>
              <a:t>• a separate subagent, its own isolated context</a:t>
            </a:r>
          </a:p>
          <a:p>
            <a:pPr algn="l">
              <a:spcAft>
                <a:spcPts val="700"/>
              </a:spcAft>
            </a:pPr>
            <a:r>
              <a:rPr sz="1400" b="0" i="0">
                <a:solidFill>
                  <a:srgbClr val="141413"/>
                </a:solidFill>
                <a:latin typeface="Arial"/>
              </a:rPr>
              <a:t>• fed the facts + the grade-locked spine from the Anthropic analysis — a second model on top, never standalone</a:t>
            </a:r>
          </a:p>
          <a:p>
            <a:pPr algn="l">
              <a:spcAft>
                <a:spcPts val="700"/>
              </a:spcAft>
            </a:pPr>
            <a:r>
              <a:rPr sz="1500" b="0" i="0">
                <a:solidFill>
                  <a:srgbClr val="141413"/>
                </a:solidFill>
                <a:latin typeface="Arial"/>
              </a:rPr>
              <a:t>• Pass 1 · blind — re-derive: same call?</a:t>
            </a:r>
          </a:p>
          <a:p>
            <a:pPr algn="l">
              <a:spcAft>
                <a:spcPts val="700"/>
              </a:spcAft>
            </a:pPr>
            <a:r>
              <a:rPr sz="1500" b="0" i="0">
                <a:solidFill>
                  <a:srgbClr val="141413"/>
                </a:solidFill>
                <a:latin typeface="Arial"/>
              </a:rPr>
              <a:t>• Pass 2 · adversarial — try to break it</a:t>
            </a:r>
          </a:p>
          <a:p>
            <a:pPr algn="l">
              <a:spcAft>
                <a:spcPts val="700"/>
              </a:spcAft>
            </a:pPr>
            <a:r>
              <a:rPr sz="1500" b="0" i="0">
                <a:solidFill>
                  <a:srgbClr val="141413"/>
                </a:solidFill>
                <a:latin typeface="Arial"/>
              </a:rPr>
              <a:t>• discrepancies fold in under grade-lock; you own the call</a:t>
            </a:r>
          </a:p>
        </p:txBody>
      </p:sp>
      <p:sp>
        <p:nvSpPr>
          <p:cNvPr id="7" name="Rounded Rectangle 6"/>
          <p:cNvSpPr/>
          <p:nvPr/>
        </p:nvSpPr>
        <p:spPr>
          <a:xfrm>
            <a:off x="6263640" y="1691640"/>
            <a:ext cx="5285232"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1901952"/>
            <a:ext cx="4754880" cy="457200"/>
          </a:xfrm>
          <a:prstGeom prst="rect">
            <a:avLst/>
          </a:prstGeom>
          <a:noFill/>
        </p:spPr>
        <p:txBody>
          <a:bodyPr wrap="square" anchor="t" lIns="0" rIns="0" tIns="0" bIns="0">
            <a:spAutoFit/>
          </a:bodyPr>
          <a:lstStyle/>
          <a:p>
            <a:pPr algn="l"/>
            <a:r>
              <a:rPr sz="1800" b="1" i="0">
                <a:solidFill>
                  <a:srgbClr val="D97757"/>
                </a:solidFill>
                <a:latin typeface="Arial"/>
              </a:rPr>
              <a:t>Which independent adjudicator (strongest first)</a:t>
            </a:r>
          </a:p>
        </p:txBody>
      </p:sp>
      <p:sp>
        <p:nvSpPr>
          <p:cNvPr id="9" name="TextBox 8"/>
          <p:cNvSpPr txBox="1"/>
          <p:nvPr/>
        </p:nvSpPr>
        <p:spPr>
          <a:xfrm>
            <a:off x="6537960" y="2432304"/>
            <a:ext cx="4754880" cy="2468880"/>
          </a:xfrm>
          <a:prstGeom prst="rect">
            <a:avLst/>
          </a:prstGeom>
          <a:noFill/>
        </p:spPr>
        <p:txBody>
          <a:bodyPr wrap="square" anchor="t" lIns="0" rIns="0" tIns="0" bIns="0">
            <a:spAutoFit/>
          </a:bodyPr>
          <a:lstStyle/>
          <a:p>
            <a:pPr algn="l">
              <a:spcAft>
                <a:spcPts val="700"/>
              </a:spcAft>
            </a:pPr>
            <a:r>
              <a:rPr sz="1300" b="0" i="0">
                <a:solidFill>
                  <a:srgbClr val="141413"/>
                </a:solidFill>
                <a:latin typeface="Arial"/>
              </a:rPr>
              <a:t>A · different-LAB model (configurable — GPT-5.6 Sol, Gemini, or Grok) — strongest; runs ALONGSIDE the Anthropic model, never alone. Invoked by an API call — the engine guides the set-up interactively. </a:t>
            </a:r>
            <a:r>
              <a:rPr sz="1300" b="0" i="1">
                <a:solidFill>
                  <a:srgbClr val="7A3F28"/>
                </a:solidFill>
                <a:latin typeface="Arial"/>
              </a:rPr>
              <a:t>Built + live-verified as a harness; opt-in, off by default; data leaves the boundary, so privileged/confidential is blocked by default — overridable only by a deliberate, logged act.</a:t>
            </a:r>
          </a:p>
          <a:p>
            <a:pPr algn="l">
              <a:spcAft>
                <a:spcPts val="700"/>
              </a:spcAft>
            </a:pPr>
            <a:r>
              <a:rPr sz="1300" b="0" i="0">
                <a:solidFill>
                  <a:srgbClr val="141413"/>
                </a:solidFill>
                <a:latin typeface="Arial"/>
              </a:rPr>
              <a:t>B · a different in-house model (Fable 5)</a:t>
            </a:r>
          </a:p>
          <a:p>
            <a:pPr algn="l">
              <a:spcAft>
                <a:spcPts val="700"/>
              </a:spcAft>
            </a:pPr>
            <a:r>
              <a:rPr sz="1300" b="0" i="0">
                <a:solidFill>
                  <a:srgbClr val="141413"/>
                </a:solidFill>
                <a:latin typeface="Arial"/>
              </a:rPr>
              <a:t>C · a panel of 2+ blind Opus instances — divergence is the signal</a:t>
            </a:r>
          </a:p>
          <a:p>
            <a:pPr algn="l">
              <a:spcAft>
                <a:spcPts val="700"/>
              </a:spcAft>
            </a:pPr>
            <a:r>
              <a:rPr sz="1300" b="0" i="0">
                <a:solidFill>
                  <a:srgbClr val="141413"/>
                </a:solidFill>
                <a:latin typeface="Arial"/>
              </a:rPr>
              <a:t>D · a self-adversarial reset (weakest)</a:t>
            </a:r>
          </a:p>
        </p:txBody>
      </p:sp>
      <p:sp>
        <p:nvSpPr>
          <p:cNvPr id="10" name="Rounded Rectangle 9"/>
          <p:cNvSpPr/>
          <p:nvPr/>
        </p:nvSpPr>
        <p:spPr>
          <a:xfrm>
            <a:off x="640080" y="512064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120640"/>
            <a:ext cx="10177272" cy="1051560"/>
          </a:xfrm>
          <a:prstGeom prst="rect">
            <a:avLst/>
          </a:prstGeom>
          <a:noFill/>
        </p:spPr>
        <p:txBody>
          <a:bodyPr wrap="square" anchor="ctr" lIns="0" rIns="0" tIns="0" bIns="0">
            <a:spAutoFit/>
          </a:bodyPr>
          <a:lstStyle/>
          <a:p>
            <a:pPr algn="l"/>
            <a:r>
              <a:rPr sz="1500" b="1" i="0">
                <a:solidFill>
                  <a:srgbClr val="FFFFFF"/>
                </a:solidFill>
                <a:latin typeface="Arial"/>
              </a:rPr>
              <a:t>Always a check on the Anthropic model's finished analysis — the adjudicator never flips the call.  </a:t>
            </a:r>
          </a:p>
          <a:p>
            <a:pPr algn="l"/>
            <a:r>
              <a:rPr sz="1500" b="1" i="0">
                <a:solidFill>
                  <a:srgbClr val="E89078"/>
                </a:solidFill>
                <a:latin typeface="Arial"/>
              </a:rPr>
              <a:t>Declare the rung reached; same-model agreement is stability, not proof.</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18/27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10 · ADJUDICATION · WHERE IT HELPS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Spend the frontier model where judgment decides.</a:t>
            </a:r>
          </a:p>
        </p:txBody>
      </p:sp>
      <p:sp>
        <p:nvSpPr>
          <p:cNvPr id="4" name="Rounded Rectangle 3"/>
          <p:cNvSpPr/>
          <p:nvPr/>
        </p:nvSpPr>
        <p:spPr>
          <a:xfrm>
            <a:off x="640080" y="1783080"/>
            <a:ext cx="6720840" cy="306324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6217920" cy="457200"/>
          </a:xfrm>
          <a:prstGeom prst="rect">
            <a:avLst/>
          </a:prstGeom>
          <a:noFill/>
        </p:spPr>
        <p:txBody>
          <a:bodyPr wrap="square" anchor="t" lIns="0" rIns="0" tIns="0" bIns="0">
            <a:spAutoFit/>
          </a:bodyPr>
          <a:lstStyle/>
          <a:p>
            <a:pPr algn="l"/>
            <a:r>
              <a:rPr sz="1800" b="1" i="0">
                <a:solidFill>
                  <a:srgbClr val="5F7249"/>
                </a:solidFill>
                <a:latin typeface="Arial"/>
              </a:rPr>
              <a:t>Sharpens the contested judgments</a:t>
            </a:r>
          </a:p>
        </p:txBody>
      </p:sp>
      <p:sp>
        <p:nvSpPr>
          <p:cNvPr id="6" name="TextBox 5"/>
          <p:cNvSpPr txBox="1"/>
          <p:nvPr/>
        </p:nvSpPr>
        <p:spPr>
          <a:xfrm>
            <a:off x="914400" y="2651760"/>
            <a:ext cx="6217920" cy="2103120"/>
          </a:xfrm>
          <a:prstGeom prst="rect">
            <a:avLst/>
          </a:prstGeom>
          <a:noFill/>
        </p:spPr>
        <p:txBody>
          <a:bodyPr wrap="square" anchor="t" lIns="0" rIns="0" tIns="0" bIns="0">
            <a:spAutoFit/>
          </a:bodyPr>
          <a:lstStyle/>
          <a:p>
            <a:pPr algn="l">
              <a:spcAft>
                <a:spcPts val="500"/>
              </a:spcAft>
            </a:pPr>
            <a:r>
              <a:rPr sz="1600" b="0" i="0">
                <a:solidFill>
                  <a:srgbClr val="141413"/>
                </a:solidFill>
                <a:latin typeface="Arial"/>
              </a:rPr>
              <a:t>• load-bearing claims graded weak or uncorroborated</a:t>
            </a:r>
          </a:p>
          <a:p>
            <a:pPr algn="l">
              <a:spcAft>
                <a:spcPts val="500"/>
              </a:spcAft>
            </a:pPr>
            <a:r>
              <a:rPr sz="1600" b="0" i="0">
                <a:solidFill>
                  <a:srgbClr val="141413"/>
                </a:solidFill>
                <a:latin typeface="Arial"/>
              </a:rPr>
              <a:t>• the disconfirmation verdicts</a:t>
            </a:r>
          </a:p>
          <a:p>
            <a:pPr algn="l">
              <a:spcAft>
                <a:spcPts val="500"/>
              </a:spcAft>
            </a:pPr>
            <a:r>
              <a:rPr sz="1600" b="0" i="0">
                <a:solidFill>
                  <a:srgbClr val="141413"/>
                </a:solidFill>
                <a:latin typeface="Arial"/>
              </a:rPr>
              <a:t>• any allocation of blame — where legal cases turn</a:t>
            </a:r>
          </a:p>
          <a:p>
            <a:pPr algn="l">
              <a:spcAft>
                <a:spcPts val="500"/>
              </a:spcAft>
            </a:pPr>
            <a:r>
              <a:rPr sz="1600" b="0" i="0">
                <a:solidFill>
                  <a:srgbClr val="141413"/>
                </a:solidFill>
                <a:latin typeface="Arial"/>
              </a:rPr>
              <a:t>• the value questions at the gate</a:t>
            </a:r>
          </a:p>
          <a:p>
            <a:pPr algn="l">
              <a:spcAft>
                <a:spcPts val="500"/>
              </a:spcAft>
            </a:pPr>
            <a:r>
              <a:rPr sz="1600" b="0" i="0">
                <a:solidFill>
                  <a:srgbClr val="141413"/>
                </a:solidFill>
                <a:latin typeface="Arial"/>
              </a:rPr>
              <a:t>• which loop dominates, in a systems map</a:t>
            </a:r>
          </a:p>
        </p:txBody>
      </p:sp>
      <p:sp>
        <p:nvSpPr>
          <p:cNvPr id="7" name="Rounded Rectangle 6"/>
          <p:cNvSpPr/>
          <p:nvPr/>
        </p:nvSpPr>
        <p:spPr>
          <a:xfrm>
            <a:off x="7589520" y="1783080"/>
            <a:ext cx="395935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011680"/>
            <a:ext cx="3429000" cy="457200"/>
          </a:xfrm>
          <a:prstGeom prst="rect">
            <a:avLst/>
          </a:prstGeom>
          <a:noFill/>
        </p:spPr>
        <p:txBody>
          <a:bodyPr wrap="square" anchor="t" lIns="0" rIns="0" tIns="0" bIns="0">
            <a:spAutoFit/>
          </a:bodyPr>
          <a:lstStyle/>
          <a:p>
            <a:pPr algn="l"/>
            <a:r>
              <a:rPr sz="1800" b="1" i="0">
                <a:solidFill>
                  <a:srgbClr val="4A453D"/>
                </a:solidFill>
                <a:latin typeface="Arial"/>
              </a:rPr>
              <a:t>Adds little on</a:t>
            </a:r>
          </a:p>
        </p:txBody>
      </p:sp>
      <p:sp>
        <p:nvSpPr>
          <p:cNvPr id="9" name="TextBox 8"/>
          <p:cNvSpPr txBox="1"/>
          <p:nvPr/>
        </p:nvSpPr>
        <p:spPr>
          <a:xfrm>
            <a:off x="7863840" y="2651760"/>
            <a:ext cx="3429000" cy="1828800"/>
          </a:xfrm>
          <a:prstGeom prst="rect">
            <a:avLst/>
          </a:prstGeom>
          <a:noFill/>
        </p:spPr>
        <p:txBody>
          <a:bodyPr wrap="square" anchor="t" lIns="0" rIns="0" tIns="0" bIns="0">
            <a:spAutoFit/>
          </a:bodyPr>
          <a:lstStyle/>
          <a:p>
            <a:pPr algn="l"/>
            <a:r>
              <a:rPr sz="1700" b="0" i="0">
                <a:solidFill>
                  <a:srgbClr val="4A453D"/>
                </a:solidFill>
                <a:latin typeface="Arial"/>
              </a:rPr>
              <a:t>the [V1] facts already confirmed against a primary source — those are settled.</a:t>
            </a:r>
          </a:p>
        </p:txBody>
      </p:sp>
      <p:sp>
        <p:nvSpPr>
          <p:cNvPr id="10" name="Rounded Rectangle 9"/>
          <p:cNvSpPr/>
          <p:nvPr/>
        </p:nvSpPr>
        <p:spPr>
          <a:xfrm>
            <a:off x="640080" y="502920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29200"/>
            <a:ext cx="10177272" cy="1188720"/>
          </a:xfrm>
          <a:prstGeom prst="rect">
            <a:avLst/>
          </a:prstGeom>
          <a:noFill/>
        </p:spPr>
        <p:txBody>
          <a:bodyPr wrap="square" anchor="ctr" lIns="0" rIns="0" tIns="0" bIns="0">
            <a:spAutoFit/>
          </a:bodyPr>
          <a:lstStyle/>
          <a:p>
            <a:pPr algn="l"/>
            <a:r>
              <a:rPr sz="1800" b="1" i="0">
                <a:solidFill>
                  <a:srgbClr val="FFFFFF"/>
                </a:solidFill>
                <a:latin typeface="Arial"/>
              </a:rPr>
              <a:t>It reliably sharpens the contested judgments — safely, without reversing a sound call.</a:t>
            </a:r>
          </a:p>
          <a:p>
            <a:pPr algn="l"/>
            <a:r>
              <a:rPr sz="1800" b="1" i="0">
                <a:solidFill>
                  <a:srgbClr val="FFFFFF"/>
                </a:solidFill>
                <a:latin typeface="Arial"/>
              </a:rPr>
              <a:t>Rank its objections to the few that change the decision.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19/27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10 · ADJUDICATION · YOU CONTROL IT</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Every gate is yours to set — and it retires itself.</a:t>
            </a:r>
          </a:p>
        </p:txBody>
      </p:sp>
      <p:sp>
        <p:nvSpPr>
          <p:cNvPr id="4" name="Rounded Rectangle 3"/>
          <p:cNvSpPr/>
          <p:nvPr/>
        </p:nvSpPr>
        <p:spPr>
          <a:xfrm>
            <a:off x="640080" y="1783080"/>
            <a:ext cx="5440680"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457200"/>
          </a:xfrm>
          <a:prstGeom prst="rect">
            <a:avLst/>
          </a:prstGeom>
          <a:noFill/>
        </p:spPr>
        <p:txBody>
          <a:bodyPr wrap="square" anchor="t" lIns="0" rIns="0" tIns="0" bIns="0">
            <a:spAutoFit/>
          </a:bodyPr>
          <a:lstStyle/>
          <a:p>
            <a:pPr algn="l"/>
            <a:r>
              <a:rPr sz="1800" b="1" i="0">
                <a:solidFill>
                  <a:srgbClr val="4E79A6"/>
                </a:solidFill>
                <a:latin typeface="Arial"/>
              </a:rPr>
              <a:t>Switchable — nothing is locked</a:t>
            </a:r>
          </a:p>
        </p:txBody>
      </p:sp>
      <p:sp>
        <p:nvSpPr>
          <p:cNvPr id="6" name="TextBox 5"/>
          <p:cNvSpPr txBox="1"/>
          <p:nvPr/>
        </p:nvSpPr>
        <p:spPr>
          <a:xfrm>
            <a:off x="914400" y="2651760"/>
            <a:ext cx="4937760" cy="2103120"/>
          </a:xfrm>
          <a:prstGeom prst="rect">
            <a:avLst/>
          </a:prstGeom>
          <a:noFill/>
        </p:spPr>
        <p:txBody>
          <a:bodyPr wrap="square" anchor="t" lIns="0" rIns="0" tIns="0" bIns="0">
            <a:spAutoFit/>
          </a:bodyPr>
          <a:lstStyle/>
          <a:p>
            <a:pPr algn="l">
              <a:spcAft>
                <a:spcPts val="600"/>
              </a:spcAft>
            </a:pPr>
            <a:r>
              <a:rPr sz="1400" b="0" i="0">
                <a:solidFill>
                  <a:srgbClr val="141413"/>
                </a:solidFill>
                <a:latin typeface="Arial"/>
              </a:rPr>
              <a:t>• offer or not; which rung; panel size N, labs M, runs R</a:t>
            </a:r>
          </a:p>
          <a:p>
            <a:pPr algn="l">
              <a:spcAft>
                <a:spcPts val="600"/>
              </a:spcAft>
            </a:pPr>
            <a:r>
              <a:rPr sz="1400" b="0" i="0">
                <a:solidFill>
                  <a:srgbClr val="141413"/>
                </a:solidFill>
                <a:latin typeface="Arial"/>
              </a:rPr>
              <a:t>• the privilege / egress gate is asked before anything leaves the boundary</a:t>
            </a:r>
          </a:p>
          <a:p>
            <a:pPr algn="l">
              <a:spcAft>
                <a:spcPts val="600"/>
              </a:spcAft>
            </a:pPr>
            <a:r>
              <a:rPr sz="1400" b="0" i="0">
                <a:solidFill>
                  <a:srgbClr val="141413"/>
                </a:solidFill>
                <a:latin typeface="Arial"/>
              </a:rPr>
              <a:t>• a block lifts only by a deliberate, logged act — never silently</a:t>
            </a:r>
          </a:p>
          <a:p>
            <a:pPr algn="l">
              <a:spcAft>
                <a:spcPts val="600"/>
              </a:spcAft>
            </a:pPr>
            <a:r>
              <a:rPr sz="1400" b="0" i="0">
                <a:solidFill>
                  <a:srgbClr val="141413"/>
                </a:solidFill>
                <a:latin typeface="Arial"/>
              </a:rPr>
              <a:t>• the exact redacted package is shown to confirm / edit / cancel</a:t>
            </a:r>
          </a:p>
          <a:p>
            <a:pPr algn="l">
              <a:spcAft>
                <a:spcPts val="600"/>
              </a:spcAft>
            </a:pPr>
            <a:r>
              <a:rPr sz="1400" b="0" i="0">
                <a:solidFill>
                  <a:srgbClr val="141413"/>
                </a:solidFill>
                <a:latin typeface="Arial"/>
              </a:rPr>
              <a:t>• every setting standing or per-run; personal-use, nothing centrally locked</a:t>
            </a:r>
          </a:p>
        </p:txBody>
      </p:sp>
      <p:sp>
        <p:nvSpPr>
          <p:cNvPr id="7" name="Rounded Rectangle 6"/>
          <p:cNvSpPr/>
          <p:nvPr/>
        </p:nvSpPr>
        <p:spPr>
          <a:xfrm>
            <a:off x="6263640" y="1783080"/>
            <a:ext cx="5285232" cy="306324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457200"/>
          </a:xfrm>
          <a:prstGeom prst="rect">
            <a:avLst/>
          </a:prstGeom>
          <a:noFill/>
        </p:spPr>
        <p:txBody>
          <a:bodyPr wrap="square" anchor="t" lIns="0" rIns="0" tIns="0" bIns="0">
            <a:spAutoFit/>
          </a:bodyPr>
          <a:lstStyle/>
          <a:p>
            <a:pPr algn="l"/>
            <a:r>
              <a:rPr sz="1800" b="1" i="0">
                <a:solidFill>
                  <a:srgbClr val="5F7249"/>
                </a:solidFill>
                <a:latin typeface="Arial"/>
              </a:rPr>
              <a:t>It earns its place — or it retires</a:t>
            </a:r>
          </a:p>
        </p:txBody>
      </p:sp>
      <p:sp>
        <p:nvSpPr>
          <p:cNvPr id="9" name="TextBox 8"/>
          <p:cNvSpPr txBox="1"/>
          <p:nvPr/>
        </p:nvSpPr>
        <p:spPr>
          <a:xfrm>
            <a:off x="6537960" y="2651760"/>
            <a:ext cx="4754880" cy="2103120"/>
          </a:xfrm>
          <a:prstGeom prst="rect">
            <a:avLst/>
          </a:prstGeom>
          <a:noFill/>
        </p:spPr>
        <p:txBody>
          <a:bodyPr wrap="square" anchor="t" lIns="0" rIns="0" tIns="0" bIns="0">
            <a:spAutoFit/>
          </a:bodyPr>
          <a:lstStyle/>
          <a:p>
            <a:pPr algn="l">
              <a:spcAft>
                <a:spcPts val="600"/>
              </a:spcAft>
            </a:pPr>
            <a:r>
              <a:rPr sz="1400" b="0" i="0">
                <a:solidFill>
                  <a:srgbClr val="141413"/>
                </a:solidFill>
                <a:latin typeface="Arial"/>
              </a:rPr>
              <a:t>• every real run is logged to a use-monitor</a:t>
            </a:r>
          </a:p>
          <a:p>
            <a:pPr algn="l">
              <a:spcAft>
                <a:spcPts val="600"/>
              </a:spcAft>
            </a:pPr>
            <a:r>
              <a:rPr sz="1400" b="0" i="0">
                <a:solidFill>
                  <a:srgbClr val="141413"/>
                </a:solidFill>
                <a:latin typeface="Arial"/>
              </a:rPr>
              <a:t>• a pre-registered, per-class rule reads the ledger</a:t>
            </a:r>
          </a:p>
          <a:p>
            <a:pPr algn="l">
              <a:spcAft>
                <a:spcPts val="600"/>
              </a:spcAft>
            </a:pPr>
            <a:r>
              <a:rPr sz="1400" b="0" i="0">
                <a:solidFill>
                  <a:srgbClr val="141413"/>
                </a:solidFill>
                <a:latin typeface="Arial"/>
              </a:rPr>
              <a:t>• no decision-relevant catches for a class over time — recommend on-request (reversible, audited)</a:t>
            </a:r>
          </a:p>
          <a:p>
            <a:pPr algn="l">
              <a:spcAft>
                <a:spcPts val="600"/>
              </a:spcAft>
            </a:pPr>
            <a:r>
              <a:rPr sz="1400" b="0" i="0">
                <a:solidFill>
                  <a:srgbClr val="141413"/>
                </a:solidFill>
                <a:latin typeface="Arial"/>
              </a:rPr>
              <a:t>• decides economic redundancy from real use, not by argument</a:t>
            </a:r>
          </a:p>
        </p:txBody>
      </p:sp>
      <p:sp>
        <p:nvSpPr>
          <p:cNvPr id="10" name="Rounded Rectangle 9"/>
          <p:cNvSpPr/>
          <p:nvPr/>
        </p:nvSpPr>
        <p:spPr>
          <a:xfrm>
            <a:off x="640080" y="512064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120640"/>
            <a:ext cx="10177272" cy="1051560"/>
          </a:xfrm>
          <a:prstGeom prst="rect">
            <a:avLst/>
          </a:prstGeom>
          <a:noFill/>
        </p:spPr>
        <p:txBody>
          <a:bodyPr wrap="square" anchor="ctr" lIns="0" rIns="0" tIns="0" bIns="0">
            <a:spAutoFit/>
          </a:bodyPr>
          <a:lstStyle/>
          <a:p>
            <a:pPr algn="l"/>
            <a:r>
              <a:rPr sz="1500" b="1" i="0">
                <a:solidFill>
                  <a:srgbClr val="FFFFFF"/>
                </a:solidFill>
                <a:latin typeface="Arial"/>
              </a:rPr>
              <a:t>You own even the boundary decision — </a:t>
            </a:r>
          </a:p>
          <a:p>
            <a:pPr algn="l"/>
            <a:r>
              <a:rPr sz="1500" b="1" i="0">
                <a:solidFill>
                  <a:srgbClr val="E89078"/>
                </a:solidFill>
                <a:latin typeface="Arial"/>
              </a:rPr>
              <a:t>and the layer steps back where it no longer adds decision value.</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20/27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MODEL CHOICE · WHICH MODEL, AND WHEN</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Which model, and when.</a:t>
            </a:r>
          </a:p>
        </p:txBody>
      </p:sp>
      <p:sp>
        <p:nvSpPr>
          <p:cNvPr id="4" name="Rounded Rectangle 3"/>
          <p:cNvSpPr/>
          <p:nvPr/>
        </p:nvSpPr>
        <p:spPr>
          <a:xfrm>
            <a:off x="640080" y="1783080"/>
            <a:ext cx="5440680" cy="27889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822960"/>
          </a:xfrm>
          <a:prstGeom prst="rect">
            <a:avLst/>
          </a:prstGeom>
          <a:noFill/>
        </p:spPr>
        <p:txBody>
          <a:bodyPr wrap="square" anchor="t" lIns="0" rIns="0" tIns="0" bIns="0">
            <a:spAutoFit/>
          </a:bodyPr>
          <a:lstStyle/>
          <a:p>
            <a:pPr algn="l"/>
            <a:r>
              <a:rPr sz="1900" b="1" i="0">
                <a:solidFill>
                  <a:srgbClr val="4E79A6"/>
                </a:solidFill>
                <a:latin typeface="Arial"/>
              </a:rPr>
              <a:t>Execution — a top-tier frontier model</a:t>
            </a:r>
          </a:p>
        </p:txBody>
      </p:sp>
      <p:sp>
        <p:nvSpPr>
          <p:cNvPr id="6" name="TextBox 5"/>
          <p:cNvSpPr txBox="1"/>
          <p:nvPr/>
        </p:nvSpPr>
        <p:spPr>
          <a:xfrm>
            <a:off x="914400" y="3246120"/>
            <a:ext cx="4937760" cy="128016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Nearly every step leans on the model's own reasoning.</a:t>
            </a:r>
          </a:p>
          <a:p>
            <a:pPr algn="l">
              <a:spcAft>
                <a:spcPts val="600"/>
              </a:spcAft>
            </a:pPr>
            <a:r>
              <a:rPr sz="1600" b="1" i="0">
                <a:solidFill>
                  <a:srgbClr val="4E79A6"/>
                </a:solidFill>
                <a:latin typeface="Arial"/>
              </a:rPr>
              <a:t>We ran the engine on Opus 4.8.</a:t>
            </a:r>
          </a:p>
        </p:txBody>
      </p:sp>
      <p:sp>
        <p:nvSpPr>
          <p:cNvPr id="7" name="Rounded Rectangle 6"/>
          <p:cNvSpPr/>
          <p:nvPr/>
        </p:nvSpPr>
        <p:spPr>
          <a:xfrm>
            <a:off x="6263640" y="1783080"/>
            <a:ext cx="5285232" cy="278892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822960"/>
          </a:xfrm>
          <a:prstGeom prst="rect">
            <a:avLst/>
          </a:prstGeom>
          <a:noFill/>
        </p:spPr>
        <p:txBody>
          <a:bodyPr wrap="square" anchor="t" lIns="0" rIns="0" tIns="0" bIns="0">
            <a:spAutoFit/>
          </a:bodyPr>
          <a:lstStyle/>
          <a:p>
            <a:pPr algn="l"/>
            <a:r>
              <a:rPr sz="1900" b="1" i="0">
                <a:solidFill>
                  <a:srgbClr val="5F7249"/>
                </a:solidFill>
                <a:latin typeface="Arial"/>
              </a:rPr>
              <a:t>High-stakes adjudication — a second, independent frontier model</a:t>
            </a:r>
          </a:p>
        </p:txBody>
      </p:sp>
      <p:sp>
        <p:nvSpPr>
          <p:cNvPr id="9" name="TextBox 8"/>
          <p:cNvSpPr txBox="1"/>
          <p:nvPr/>
        </p:nvSpPr>
        <p:spPr>
          <a:xfrm>
            <a:off x="6537960" y="3246120"/>
            <a:ext cx="4754880" cy="128016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For legal exposure, contested blame, decisions that bind people.</a:t>
            </a:r>
          </a:p>
          <a:p>
            <a:pPr algn="l">
              <a:spcAft>
                <a:spcPts val="600"/>
              </a:spcAft>
            </a:pPr>
            <a:r>
              <a:rPr sz="1600" b="1" i="0">
                <a:solidFill>
                  <a:srgbClr val="5F7249"/>
                </a:solidFill>
                <a:latin typeface="Arial"/>
              </a:rPr>
              <a:t>We used Fable 5 — run blind, then adversarial.</a:t>
            </a:r>
          </a:p>
        </p:txBody>
      </p:sp>
      <p:sp>
        <p:nvSpPr>
          <p:cNvPr id="10" name="Rounded Rectangle 9"/>
          <p:cNvSpPr/>
          <p:nvPr/>
        </p:nvSpPr>
        <p:spPr>
          <a:xfrm>
            <a:off x="640080" y="4754880"/>
            <a:ext cx="10908792" cy="12344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754880"/>
            <a:ext cx="10177272" cy="1234440"/>
          </a:xfrm>
          <a:prstGeom prst="rect">
            <a:avLst/>
          </a:prstGeom>
          <a:noFill/>
        </p:spPr>
        <p:txBody>
          <a:bodyPr wrap="square" anchor="ctr" lIns="0" rIns="0" tIns="0" bIns="0">
            <a:spAutoFit/>
          </a:bodyPr>
          <a:lstStyle/>
          <a:p>
            <a:pPr algn="l"/>
            <a:r>
              <a:rPr sz="1800" b="1" i="0">
                <a:solidFill>
                  <a:srgbClr val="FFFFFF"/>
                </a:solidFill>
                <a:latin typeface="Arial"/>
              </a:rPr>
              <a:t>A rigour-and-defensibility check, not a safety net: it sharpens a sound analysis, safely — but catching what the disciplined first pass missed is unproven.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21/27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MODEL CHOICE · A WEAKER MODEL</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The engine disciplines the model — it doesn't rescue it.</a:t>
            </a:r>
          </a:p>
        </p:txBody>
      </p:sp>
      <p:sp>
        <p:nvSpPr>
          <p:cNvPr id="4" name="Rounded Rectangle 3"/>
          <p:cNvSpPr/>
          <p:nvPr/>
        </p:nvSpPr>
        <p:spPr>
          <a:xfrm>
            <a:off x="640080" y="1783080"/>
            <a:ext cx="5440680" cy="237744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93392"/>
            <a:ext cx="4937760" cy="457200"/>
          </a:xfrm>
          <a:prstGeom prst="rect">
            <a:avLst/>
          </a:prstGeom>
          <a:noFill/>
        </p:spPr>
        <p:txBody>
          <a:bodyPr wrap="square" anchor="t" lIns="0" rIns="0" tIns="0" bIns="0">
            <a:spAutoFit/>
          </a:bodyPr>
          <a:lstStyle/>
          <a:p>
            <a:pPr algn="l"/>
            <a:r>
              <a:rPr sz="1800" b="1" i="0">
                <a:solidFill>
                  <a:srgbClr val="5F7249"/>
                </a:solidFill>
                <a:latin typeface="Arial"/>
              </a:rPr>
              <a:t>Survives — the scaffolding</a:t>
            </a:r>
          </a:p>
        </p:txBody>
      </p:sp>
      <p:sp>
        <p:nvSpPr>
          <p:cNvPr id="6" name="TextBox 5"/>
          <p:cNvSpPr txBox="1"/>
          <p:nvPr/>
        </p:nvSpPr>
        <p:spPr>
          <a:xfrm>
            <a:off x="914400" y="2606040"/>
            <a:ext cx="4937760" cy="1463040"/>
          </a:xfrm>
          <a:prstGeom prst="rect">
            <a:avLst/>
          </a:prstGeom>
          <a:noFill/>
        </p:spPr>
        <p:txBody>
          <a:bodyPr wrap="square" anchor="t" lIns="0" rIns="0" tIns="0" bIns="0">
            <a:spAutoFit/>
          </a:bodyPr>
          <a:lstStyle/>
          <a:p>
            <a:pPr algn="l">
              <a:spcAft>
                <a:spcPts val="500"/>
              </a:spcAft>
            </a:pPr>
            <a:r>
              <a:rPr sz="1600" b="0" i="0">
                <a:solidFill>
                  <a:srgbClr val="141413"/>
                </a:solidFill>
                <a:latin typeface="Arial"/>
              </a:rPr>
              <a:t>• the forced gate</a:t>
            </a:r>
          </a:p>
          <a:p>
            <a:pPr algn="l">
              <a:spcAft>
                <a:spcPts val="500"/>
              </a:spcAft>
            </a:pPr>
            <a:r>
              <a:rPr sz="1600" b="0" i="0">
                <a:solidFill>
                  <a:srgbClr val="141413"/>
                </a:solidFill>
                <a:latin typeface="Arial"/>
              </a:rPr>
              <a:t>• grades &amp; caveats still travel</a:t>
            </a:r>
          </a:p>
          <a:p>
            <a:pPr algn="l">
              <a:spcAft>
                <a:spcPts val="500"/>
              </a:spcAft>
            </a:pPr>
            <a:r>
              <a:rPr sz="1600" b="0" i="0">
                <a:solidFill>
                  <a:srgbClr val="141413"/>
                </a:solidFill>
                <a:latin typeface="Arial"/>
              </a:rPr>
              <a:t>• audience rendering</a:t>
            </a:r>
          </a:p>
        </p:txBody>
      </p:sp>
      <p:sp>
        <p:nvSpPr>
          <p:cNvPr id="7" name="Rounded Rectangle 6"/>
          <p:cNvSpPr/>
          <p:nvPr/>
        </p:nvSpPr>
        <p:spPr>
          <a:xfrm>
            <a:off x="6263640" y="1783080"/>
            <a:ext cx="5285232" cy="2377440"/>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1993392"/>
            <a:ext cx="4754880" cy="457200"/>
          </a:xfrm>
          <a:prstGeom prst="rect">
            <a:avLst/>
          </a:prstGeom>
          <a:noFill/>
        </p:spPr>
        <p:txBody>
          <a:bodyPr wrap="square" anchor="t" lIns="0" rIns="0" tIns="0" bIns="0">
            <a:spAutoFit/>
          </a:bodyPr>
          <a:lstStyle/>
          <a:p>
            <a:pPr algn="l"/>
            <a:r>
              <a:rPr sz="1800" b="1" i="0">
                <a:solidFill>
                  <a:srgbClr val="D97757"/>
                </a:solidFill>
                <a:latin typeface="Arial"/>
              </a:rPr>
              <a:t>Degrades — what fills it</a:t>
            </a:r>
          </a:p>
        </p:txBody>
      </p:sp>
      <p:sp>
        <p:nvSpPr>
          <p:cNvPr id="9" name="TextBox 8"/>
          <p:cNvSpPr txBox="1"/>
          <p:nvPr/>
        </p:nvSpPr>
        <p:spPr>
          <a:xfrm>
            <a:off x="6537960" y="2606040"/>
            <a:ext cx="4754880" cy="1463040"/>
          </a:xfrm>
          <a:prstGeom prst="rect">
            <a:avLst/>
          </a:prstGeom>
          <a:noFill/>
        </p:spPr>
        <p:txBody>
          <a:bodyPr wrap="square" anchor="t" lIns="0" rIns="0" tIns="0" bIns="0">
            <a:spAutoFit/>
          </a:bodyPr>
          <a:lstStyle/>
          <a:p>
            <a:pPr algn="l">
              <a:spcAft>
                <a:spcPts val="500"/>
              </a:spcAft>
            </a:pPr>
            <a:r>
              <a:rPr sz="1600" b="0" i="0">
                <a:solidFill>
                  <a:srgbClr val="141413"/>
                </a:solidFill>
                <a:latin typeface="Arial"/>
              </a:rPr>
              <a:t>• source tiers less reliable</a:t>
            </a:r>
          </a:p>
          <a:p>
            <a:pPr algn="l">
              <a:spcAft>
                <a:spcPts val="500"/>
              </a:spcAft>
            </a:pPr>
            <a:r>
              <a:rPr sz="1600" b="0" i="0">
                <a:solidFill>
                  <a:srgbClr val="141413"/>
                </a:solidFill>
                <a:latin typeface="Arial"/>
              </a:rPr>
              <a:t>• thinner counter-evidence search</a:t>
            </a:r>
          </a:p>
          <a:p>
            <a:pPr algn="l">
              <a:spcAft>
                <a:spcPts val="500"/>
              </a:spcAft>
            </a:pPr>
            <a:r>
              <a:rPr sz="1600" b="0" i="0">
                <a:solidFill>
                  <a:srgbClr val="141413"/>
                </a:solidFill>
                <a:latin typeface="Arial"/>
              </a:rPr>
              <a:t>• more confident errors, worse at catching them</a:t>
            </a:r>
          </a:p>
        </p:txBody>
      </p:sp>
      <p:sp>
        <p:nvSpPr>
          <p:cNvPr id="10" name="Rounded Rectangle 9"/>
          <p:cNvSpPr/>
          <p:nvPr/>
        </p:nvSpPr>
        <p:spPr>
          <a:xfrm>
            <a:off x="640080" y="4434840"/>
            <a:ext cx="10908792" cy="14630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434840"/>
            <a:ext cx="10177272" cy="1463040"/>
          </a:xfrm>
          <a:prstGeom prst="rect">
            <a:avLst/>
          </a:prstGeom>
          <a:noFill/>
        </p:spPr>
        <p:txBody>
          <a:bodyPr wrap="square" anchor="ctr" lIns="0" rIns="0" tIns="0" bIns="0">
            <a:spAutoFit/>
          </a:bodyPr>
          <a:lstStyle/>
          <a:p>
            <a:pPr algn="l"/>
            <a:r>
              <a:rPr sz="1700" b="1" i="0">
                <a:solidFill>
                  <a:srgbClr val="FFFFFF"/>
                </a:solidFill>
                <a:latin typeface="Arial"/>
              </a:rPr>
              <a:t>The polish is itself a risk — grades and caveats can make a weak answer look more defensible than it is. </a:t>
            </a:r>
          </a:p>
          <a:p>
            <a:pPr algn="l"/>
            <a:r>
              <a:rPr sz="1700" b="1" i="0">
                <a:solidFill>
                  <a:srgbClr val="E89078"/>
                </a:solidFill>
                <a:latin typeface="Arial"/>
              </a:rPr>
              <a:t>The assurance is only as good as the model underneath.</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22/27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INTERFACE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Five commands.</a:t>
            </a:r>
          </a:p>
        </p:txBody>
      </p:sp>
      <p:sp>
        <p:nvSpPr>
          <p:cNvPr id="4" name="Rounded Rectangle 3"/>
          <p:cNvSpPr/>
          <p:nvPr/>
        </p:nvSpPr>
        <p:spPr>
          <a:xfrm>
            <a:off x="640080" y="1627632"/>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828800"/>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/insight-engine:analyse</a:t>
            </a:r>
          </a:p>
        </p:txBody>
      </p:sp>
      <p:sp>
        <p:nvSpPr>
          <p:cNvPr id="6" name="TextBox 5"/>
          <p:cNvSpPr txBox="1"/>
          <p:nvPr/>
        </p:nvSpPr>
        <p:spPr>
          <a:xfrm>
            <a:off x="932688" y="2359152"/>
            <a:ext cx="4754880" cy="548640"/>
          </a:xfrm>
          <a:prstGeom prst="rect">
            <a:avLst/>
          </a:prstGeom>
          <a:noFill/>
        </p:spPr>
        <p:txBody>
          <a:bodyPr wrap="square" anchor="t" lIns="0" rIns="0" tIns="0" bIns="0">
            <a:spAutoFit/>
          </a:bodyPr>
          <a:lstStyle/>
          <a:p>
            <a:pPr algn="l"/>
            <a:r>
              <a:rPr sz="1400" b="0" i="0">
                <a:solidFill>
                  <a:srgbClr val="4A453D"/>
                </a:solidFill>
                <a:latin typeface="Arial"/>
              </a:rPr>
              <a:t>Runs the whole pipeline, end to end.</a:t>
            </a:r>
          </a:p>
        </p:txBody>
      </p:sp>
      <p:sp>
        <p:nvSpPr>
          <p:cNvPr id="7" name="Rounded Rectangle 6"/>
          <p:cNvSpPr/>
          <p:nvPr/>
        </p:nvSpPr>
        <p:spPr>
          <a:xfrm>
            <a:off x="6190488" y="1627632"/>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83096" y="1828800"/>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/insight-engine:verify</a:t>
            </a:r>
          </a:p>
        </p:txBody>
      </p:sp>
      <p:sp>
        <p:nvSpPr>
          <p:cNvPr id="9" name="TextBox 8"/>
          <p:cNvSpPr txBox="1"/>
          <p:nvPr/>
        </p:nvSpPr>
        <p:spPr>
          <a:xfrm>
            <a:off x="6483096" y="2359152"/>
            <a:ext cx="4754880" cy="548640"/>
          </a:xfrm>
          <a:prstGeom prst="rect">
            <a:avLst/>
          </a:prstGeom>
          <a:noFill/>
        </p:spPr>
        <p:txBody>
          <a:bodyPr wrap="square" anchor="t" lIns="0" rIns="0" tIns="0" bIns="0">
            <a:spAutoFit/>
          </a:bodyPr>
          <a:lstStyle/>
          <a:p>
            <a:pPr algn="l"/>
            <a:r>
              <a:rPr sz="1400" b="0" i="0">
                <a:solidFill>
                  <a:srgbClr val="4A453D"/>
                </a:solidFill>
                <a:latin typeface="Arial"/>
              </a:rPr>
              <a:t>Fact-checks a set of claims, or a single premise.</a:t>
            </a:r>
          </a:p>
        </p:txBody>
      </p:sp>
      <p:sp>
        <p:nvSpPr>
          <p:cNvPr id="10" name="Rounded Rectangle 9"/>
          <p:cNvSpPr/>
          <p:nvPr/>
        </p:nvSpPr>
        <p:spPr>
          <a:xfrm>
            <a:off x="640080" y="3200400"/>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3401568"/>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/insight-engine:render</a:t>
            </a:r>
          </a:p>
        </p:txBody>
      </p:sp>
      <p:sp>
        <p:nvSpPr>
          <p:cNvPr id="12" name="TextBox 11"/>
          <p:cNvSpPr txBox="1"/>
          <p:nvPr/>
        </p:nvSpPr>
        <p:spPr>
          <a:xfrm>
            <a:off x="932688" y="3931920"/>
            <a:ext cx="4754880" cy="548640"/>
          </a:xfrm>
          <a:prstGeom prst="rect">
            <a:avLst/>
          </a:prstGeom>
          <a:noFill/>
        </p:spPr>
        <p:txBody>
          <a:bodyPr wrap="square" anchor="t" lIns="0" rIns="0" tIns="0" bIns="0">
            <a:spAutoFit/>
          </a:bodyPr>
          <a:lstStyle/>
          <a:p>
            <a:pPr algn="l"/>
            <a:r>
              <a:rPr sz="1400" b="0" i="0">
                <a:solidFill>
                  <a:srgbClr val="4A453D"/>
                </a:solidFill>
                <a:latin typeface="Arial"/>
              </a:rPr>
              <a:t>Re-voices a finished analysis for a reader — never changing a grade.</a:t>
            </a:r>
          </a:p>
        </p:txBody>
      </p:sp>
      <p:sp>
        <p:nvSpPr>
          <p:cNvPr id="13" name="Rounded Rectangle 12"/>
          <p:cNvSpPr/>
          <p:nvPr/>
        </p:nvSpPr>
        <p:spPr>
          <a:xfrm>
            <a:off x="6190488" y="3200400"/>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3401568"/>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/insight-engine:track</a:t>
            </a:r>
          </a:p>
        </p:txBody>
      </p:sp>
      <p:sp>
        <p:nvSpPr>
          <p:cNvPr id="15" name="TextBox 14"/>
          <p:cNvSpPr txBox="1"/>
          <p:nvPr/>
        </p:nvSpPr>
        <p:spPr>
          <a:xfrm>
            <a:off x="6483096" y="3931920"/>
            <a:ext cx="4754880" cy="548640"/>
          </a:xfrm>
          <a:prstGeom prst="rect">
            <a:avLst/>
          </a:prstGeom>
          <a:noFill/>
        </p:spPr>
        <p:txBody>
          <a:bodyPr wrap="square" anchor="t" lIns="0" rIns="0" tIns="0" bIns="0">
            <a:spAutoFit/>
          </a:bodyPr>
          <a:lstStyle/>
          <a:p>
            <a:pPr algn="l"/>
            <a:r>
              <a:rPr sz="1400" b="0" i="0">
                <a:solidFill>
                  <a:srgbClr val="4A453D"/>
                </a:solidFill>
                <a:latin typeface="Arial"/>
              </a:rPr>
              <a:t>Keeps an investigation live as new facts arrive.</a:t>
            </a:r>
          </a:p>
        </p:txBody>
      </p:sp>
      <p:sp>
        <p:nvSpPr>
          <p:cNvPr id="16" name="Rounded Rectangle 15"/>
          <p:cNvSpPr/>
          <p:nvPr/>
        </p:nvSpPr>
        <p:spPr>
          <a:xfrm>
            <a:off x="640080" y="4773168"/>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974336"/>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/insight-engine:adjudicate</a:t>
            </a:r>
          </a:p>
        </p:txBody>
      </p:sp>
      <p:sp>
        <p:nvSpPr>
          <p:cNvPr id="18" name="TextBox 17"/>
          <p:cNvSpPr txBox="1"/>
          <p:nvPr/>
        </p:nvSpPr>
        <p:spPr>
          <a:xfrm>
            <a:off x="932688" y="5504688"/>
            <a:ext cx="4754880" cy="548640"/>
          </a:xfrm>
          <a:prstGeom prst="rect">
            <a:avLst/>
          </a:prstGeom>
          <a:noFill/>
        </p:spPr>
        <p:txBody>
          <a:bodyPr wrap="square" anchor="t" lIns="0" rIns="0" tIns="0" bIns="0">
            <a:spAutoFit/>
          </a:bodyPr>
          <a:lstStyle/>
          <a:p>
            <a:pPr algn="l"/>
            <a:r>
              <a:rPr sz="1400" b="0" i="0">
                <a:solidFill>
                  <a:srgbClr val="4A453D"/>
                </a:solidFill>
                <a:latin typeface="Arial"/>
              </a:rPr>
              <a:t>Opt-in, off-by-default independent second pass (Step 10) on a finished high-stakes analysis.</a:t>
            </a:r>
          </a:p>
        </p:txBody>
      </p:sp>
      <p:sp>
        <p:nvSpPr>
          <p:cNvPr id="19" name="TextBox 18"/>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23/27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11 · RENDER</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After the call: re-voice it for the reader.</a:t>
            </a:r>
          </a:p>
        </p:txBody>
      </p:sp>
      <p:sp>
        <p:nvSpPr>
          <p:cNvPr id="4" name="Rounded Rectangle 3"/>
          <p:cNvSpPr/>
          <p:nvPr/>
        </p:nvSpPr>
        <p:spPr>
          <a:xfrm>
            <a:off x="640080" y="1783080"/>
            <a:ext cx="10908792" cy="2971800"/>
          </a:xfrm>
          <a:prstGeom prst="roundRect">
            <a:avLst>
              <a:gd name="adj" fmla="val 5500"/>
            </a:avLst>
          </a:prstGeom>
          <a:solidFill>
            <a:srgbClr val="FFFFFF"/>
          </a:solidFill>
          <a:ln w="12700">
            <a:solidFill>
              <a:srgbClr val="4E79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10332720" cy="548640"/>
          </a:xfrm>
          <a:prstGeom prst="rect">
            <a:avLst/>
          </a:prstGeom>
          <a:noFill/>
        </p:spPr>
        <p:txBody>
          <a:bodyPr wrap="square" anchor="t" lIns="0" rIns="0" tIns="0" bIns="0">
            <a:spAutoFit/>
          </a:bodyPr>
          <a:lstStyle/>
          <a:p>
            <a:pPr algn="l"/>
            <a:r>
              <a:rPr sz="1900" b="1" i="0">
                <a:solidFill>
                  <a:srgbClr val="4E79A6"/>
                </a:solidFill>
                <a:latin typeface="Arial"/>
              </a:rPr>
              <a:t>Render — for a particular reader</a:t>
            </a:r>
          </a:p>
        </p:txBody>
      </p:sp>
      <p:sp>
        <p:nvSpPr>
          <p:cNvPr id="6" name="TextBox 5"/>
          <p:cNvSpPr txBox="1"/>
          <p:nvPr/>
        </p:nvSpPr>
        <p:spPr>
          <a:xfrm>
            <a:off x="914400" y="2743200"/>
            <a:ext cx="10332720" cy="1920240"/>
          </a:xfrm>
          <a:prstGeom prst="rect">
            <a:avLst/>
          </a:prstGeom>
          <a:noFill/>
        </p:spPr>
        <p:txBody>
          <a:bodyPr wrap="square" anchor="t" lIns="0" rIns="0" tIns="0" bIns="0">
            <a:spAutoFit/>
          </a:bodyPr>
          <a:lstStyle/>
          <a:p>
            <a:pPr algn="l"/>
            <a:r>
              <a:rPr sz="1600" b="0" i="0">
                <a:solidFill>
                  <a:srgbClr val="4A453D"/>
                </a:solidFill>
                <a:latin typeface="Arial"/>
              </a:rPr>
              <a:t>Re-voice the finished analysis for whoever must read it — a board, a regulator, opposing counsel, a family — without ever changing a claim or a grade to suit the audience, and carrying a core of caveats that no version is allowed to drop.</a:t>
            </a:r>
          </a:p>
        </p:txBody>
      </p:sp>
      <p:sp>
        <p:nvSpPr>
          <p:cNvPr id="7" name="Rounded Rectangle 6"/>
          <p:cNvSpPr/>
          <p:nvPr/>
        </p:nvSpPr>
        <p:spPr>
          <a:xfrm>
            <a:off x="640080" y="507492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10177272" cy="1005840"/>
          </a:xfrm>
          <a:prstGeom prst="rect">
            <a:avLst/>
          </a:prstGeom>
          <a:noFill/>
        </p:spPr>
        <p:txBody>
          <a:bodyPr wrap="square" anchor="ctr" lIns="0" rIns="0" tIns="0" bIns="0">
            <a:spAutoFit/>
          </a:bodyPr>
          <a:lstStyle/>
          <a:p>
            <a:pPr algn="l"/>
            <a:r>
              <a:rPr sz="1800" b="1" i="0">
                <a:solidFill>
                  <a:srgbClr val="FFFFFF"/>
                </a:solidFill>
                <a:latin typeface="Arial"/>
              </a:rPr>
              <a:t>A register transform only — it changes the voice, never a claim or a grade.</a:t>
            </a:r>
          </a:p>
        </p:txBody>
      </p:sp>
      <p:sp>
        <p:nvSpPr>
          <p:cNvPr id="9" name="TextBox 8"/>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24/27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12 · TRACK</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Keep the analysis alive as facts arrive.</a:t>
            </a:r>
          </a:p>
        </p:txBody>
      </p:sp>
      <p:sp>
        <p:nvSpPr>
          <p:cNvPr id="4" name="Rounded Rectangle 3"/>
          <p:cNvSpPr/>
          <p:nvPr/>
        </p:nvSpPr>
        <p:spPr>
          <a:xfrm>
            <a:off x="640080" y="1783080"/>
            <a:ext cx="10908792" cy="297180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10332720" cy="548640"/>
          </a:xfrm>
          <a:prstGeom prst="rect">
            <a:avLst/>
          </a:prstGeom>
          <a:noFill/>
        </p:spPr>
        <p:txBody>
          <a:bodyPr wrap="square" anchor="t" lIns="0" rIns="0" tIns="0" bIns="0">
            <a:spAutoFit/>
          </a:bodyPr>
          <a:lstStyle/>
          <a:p>
            <a:pPr algn="l"/>
            <a:r>
              <a:rPr sz="1900" b="1" i="0">
                <a:solidFill>
                  <a:srgbClr val="5F7249"/>
                </a:solidFill>
                <a:latin typeface="Arial"/>
              </a:rPr>
              <a:t>Track — as new facts arrive</a:t>
            </a:r>
          </a:p>
        </p:txBody>
      </p:sp>
      <p:sp>
        <p:nvSpPr>
          <p:cNvPr id="6" name="TextBox 5"/>
          <p:cNvSpPr txBox="1"/>
          <p:nvPr/>
        </p:nvSpPr>
        <p:spPr>
          <a:xfrm>
            <a:off x="914400" y="2743200"/>
            <a:ext cx="10332720" cy="1920240"/>
          </a:xfrm>
          <a:prstGeom prst="rect">
            <a:avLst/>
          </a:prstGeom>
          <a:noFill/>
        </p:spPr>
        <p:txBody>
          <a:bodyPr wrap="square" anchor="t" lIns="0" rIns="0" tIns="0" bIns="0">
            <a:spAutoFit/>
          </a:bodyPr>
          <a:lstStyle/>
          <a:p>
            <a:pPr algn="l"/>
            <a:r>
              <a:rPr sz="1600" b="0" i="0">
                <a:solidFill>
                  <a:srgbClr val="4A453D"/>
                </a:solidFill>
                <a:latin typeface="Arial"/>
              </a:rPr>
              <a:t>Keep a long-running investigation alive: re-verify the grade-locked spine as fresh evidence lands, and say plainly if the call has moved. So the analysis does not simply end at the brief — it is kept current as the world changes.</a:t>
            </a:r>
          </a:p>
        </p:txBody>
      </p:sp>
      <p:sp>
        <p:nvSpPr>
          <p:cNvPr id="7" name="Rounded Rectangle 6"/>
          <p:cNvSpPr/>
          <p:nvPr/>
        </p:nvSpPr>
        <p:spPr>
          <a:xfrm>
            <a:off x="640080" y="507492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10177272" cy="1005840"/>
          </a:xfrm>
          <a:prstGeom prst="rect">
            <a:avLst/>
          </a:prstGeom>
          <a:noFill/>
        </p:spPr>
        <p:txBody>
          <a:bodyPr wrap="square" anchor="ctr" lIns="0" rIns="0" tIns="0" bIns="0">
            <a:spAutoFit/>
          </a:bodyPr>
          <a:lstStyle/>
          <a:p>
            <a:pPr algn="l"/>
            <a:r>
              <a:rPr sz="1800" b="1" i="0">
                <a:solidFill>
                  <a:srgbClr val="FFFFFF"/>
                </a:solidFill>
                <a:latin typeface="Arial"/>
              </a:rPr>
              <a:t>The graded spine is re-checked on every update — a living analysis, not a snapshot.</a:t>
            </a:r>
          </a:p>
        </p:txBody>
      </p:sp>
      <p:sp>
        <p:nvSpPr>
          <p:cNvPr id="9" name="TextBox 8"/>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25/27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POSITIONING · ICD 203</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Architected around ICD 203.</a:t>
            </a:r>
          </a:p>
        </p:txBody>
      </p:sp>
      <p:sp>
        <p:nvSpPr>
          <p:cNvPr id="4" name="TextBox 3"/>
          <p:cNvSpPr txBox="1"/>
          <p:nvPr/>
        </p:nvSpPr>
        <p:spPr>
          <a:xfrm>
            <a:off x="640080" y="1965960"/>
            <a:ext cx="6309360" cy="2377440"/>
          </a:xfrm>
          <a:prstGeom prst="rect">
            <a:avLst/>
          </a:prstGeom>
          <a:noFill/>
        </p:spPr>
        <p:txBody>
          <a:bodyPr wrap="square" anchor="t" lIns="0" rIns="0" tIns="0" bIns="0">
            <a:spAutoFit/>
          </a:bodyPr>
          <a:lstStyle/>
          <a:p>
            <a:pPr algn="l"/>
            <a:r>
              <a:rPr sz="1900" b="0" i="0">
                <a:solidFill>
                  <a:srgbClr val="141413"/>
                </a:solidFill>
                <a:latin typeface="Arial"/>
              </a:rPr>
              <a:t>ICD 203 is the U.S. intelligence community's Analytic Standards directive. The engine is built around its nine analytic tradecraft standards — describing source quality, expressing uncertainty, separating evidence from judgment, weighing alternatives.</a:t>
            </a:r>
          </a:p>
        </p:txBody>
      </p:sp>
      <p:sp>
        <p:nvSpPr>
          <p:cNvPr id="5" name="TextBox 4"/>
          <p:cNvSpPr txBox="1"/>
          <p:nvPr/>
        </p:nvSpPr>
        <p:spPr>
          <a:xfrm>
            <a:off x="640080" y="3977639"/>
            <a:ext cx="6309360" cy="1371600"/>
          </a:xfrm>
          <a:prstGeom prst="rect">
            <a:avLst/>
          </a:prstGeom>
          <a:noFill/>
        </p:spPr>
        <p:txBody>
          <a:bodyPr wrap="square" anchor="t" lIns="0" rIns="0" tIns="0" bIns="0">
            <a:spAutoFit/>
          </a:bodyPr>
          <a:lstStyle/>
          <a:p>
            <a:pPr algn="l"/>
            <a:r>
              <a:rPr sz="1600" b="0" i="1">
                <a:solidFill>
                  <a:srgbClr val="4A453D"/>
                </a:solidFill>
                <a:latin typeface="Arial"/>
              </a:rPr>
              <a:t>Architected around the standards and assessed once — not a formal certification. A signal, not a seal.</a:t>
            </a:r>
          </a:p>
        </p:txBody>
      </p:sp>
      <p:sp>
        <p:nvSpPr>
          <p:cNvPr id="6" name="Rounded Rectangle 5"/>
          <p:cNvSpPr/>
          <p:nvPr/>
        </p:nvSpPr>
        <p:spPr>
          <a:xfrm>
            <a:off x="7406640" y="1737360"/>
            <a:ext cx="4142232" cy="40233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35240" y="2011680"/>
            <a:ext cx="3703320" cy="457200"/>
          </a:xfrm>
          <a:prstGeom prst="rect">
            <a:avLst/>
          </a:prstGeom>
          <a:noFill/>
        </p:spPr>
        <p:txBody>
          <a:bodyPr wrap="square" anchor="t" lIns="0" rIns="0" tIns="0" bIns="0">
            <a:spAutoFit/>
          </a:bodyPr>
          <a:lstStyle/>
          <a:p>
            <a:pPr algn="l"/>
            <a:r>
              <a:rPr sz="1400" b="1" i="0">
                <a:solidFill>
                  <a:srgbClr val="4A453D"/>
                </a:solidFill>
                <a:latin typeface="Arial"/>
              </a:rPr>
              <a:t>BLIND ASSESSMENT · ICD 203</a:t>
            </a:r>
          </a:p>
        </p:txBody>
      </p:sp>
      <p:sp>
        <p:nvSpPr>
          <p:cNvPr id="8" name="TextBox 7"/>
          <p:cNvSpPr txBox="1"/>
          <p:nvPr/>
        </p:nvSpPr>
        <p:spPr>
          <a:xfrm>
            <a:off x="7635240" y="2423160"/>
            <a:ext cx="3703320" cy="1188720"/>
          </a:xfrm>
          <a:prstGeom prst="rect">
            <a:avLst/>
          </a:prstGeom>
          <a:noFill/>
        </p:spPr>
        <p:txBody>
          <a:bodyPr wrap="square" anchor="t" lIns="0" rIns="0" tIns="0" bIns="0">
            <a:spAutoFit/>
          </a:bodyPr>
          <a:lstStyle/>
          <a:p>
            <a:pPr algn="l"/>
            <a:r>
              <a:rPr sz="7200" b="1" i="0">
                <a:solidFill>
                  <a:srgbClr val="5F7249"/>
                </a:solidFill>
                <a:latin typeface="Arial"/>
              </a:rPr>
              <a:t>92%</a:t>
            </a:r>
          </a:p>
        </p:txBody>
      </p:sp>
      <p:sp>
        <p:nvSpPr>
          <p:cNvPr id="9" name="TextBox 8"/>
          <p:cNvSpPr txBox="1"/>
          <p:nvPr/>
        </p:nvSpPr>
        <p:spPr>
          <a:xfrm>
            <a:off x="7635240" y="3611880"/>
            <a:ext cx="3703320" cy="365760"/>
          </a:xfrm>
          <a:prstGeom prst="rect">
            <a:avLst/>
          </a:prstGeom>
          <a:noFill/>
        </p:spPr>
        <p:txBody>
          <a:bodyPr wrap="square" anchor="t" lIns="0" rIns="0" tIns="0" bIns="0">
            <a:spAutoFit/>
          </a:bodyPr>
          <a:lstStyle/>
          <a:p>
            <a:pPr algn="l"/>
            <a:r>
              <a:rPr sz="1600" b="0" i="0">
                <a:solidFill>
                  <a:srgbClr val="141413"/>
                </a:solidFill>
                <a:latin typeface="Arial"/>
              </a:rPr>
              <a:t>the Insight Engine</a:t>
            </a:r>
          </a:p>
        </p:txBody>
      </p:sp>
      <p:sp>
        <p:nvSpPr>
          <p:cNvPr id="10" name="TextBox 9"/>
          <p:cNvSpPr txBox="1"/>
          <p:nvPr/>
        </p:nvSpPr>
        <p:spPr>
          <a:xfrm>
            <a:off x="7635240" y="4297680"/>
            <a:ext cx="3703320" cy="822960"/>
          </a:xfrm>
          <a:prstGeom prst="rect">
            <a:avLst/>
          </a:prstGeom>
          <a:noFill/>
        </p:spPr>
        <p:txBody>
          <a:bodyPr wrap="square" anchor="t" lIns="0" rIns="0" tIns="0" bIns="0">
            <a:spAutoFit/>
          </a:bodyPr>
          <a:lstStyle/>
          <a:p>
            <a:pPr algn="l"/>
            <a:r>
              <a:rPr sz="4000" b="1" i="0">
                <a:solidFill>
                  <a:srgbClr val="4A453D"/>
                </a:solidFill>
                <a:latin typeface="Arial"/>
              </a:rPr>
              <a:t>75%</a:t>
            </a:r>
          </a:p>
        </p:txBody>
      </p:sp>
      <p:sp>
        <p:nvSpPr>
          <p:cNvPr id="11" name="TextBox 10"/>
          <p:cNvSpPr txBox="1"/>
          <p:nvPr/>
        </p:nvSpPr>
        <p:spPr>
          <a:xfrm>
            <a:off x="7635240" y="5074920"/>
            <a:ext cx="3703320" cy="365760"/>
          </a:xfrm>
          <a:prstGeom prst="rect">
            <a:avLst/>
          </a:prstGeom>
          <a:noFill/>
        </p:spPr>
        <p:txBody>
          <a:bodyPr wrap="square" anchor="t" lIns="0" rIns="0" tIns="0" bIns="0">
            <a:spAutoFit/>
          </a:bodyPr>
          <a:lstStyle/>
          <a:p>
            <a:pPr algn="l"/>
            <a:r>
              <a:rPr sz="1600" b="0" i="0">
                <a:solidFill>
                  <a:srgbClr val="4A453D"/>
                </a:solidFill>
                <a:latin typeface="Arial"/>
              </a:rPr>
              <a:t>a strong model unaided</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26/27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1413"/>
        </a:solidFill>
        <a:effectLst/>
      </p:bgPr>
    </p:bg>
    <p:spTree>
      <p:nvGrpSpPr>
        <p:cNvPr id="1" name=""/>
        <p:cNvGrpSpPr/>
        <p:nvPr/>
      </p:nvGrpSpPr>
      <p:grpSpPr/>
      <p:sp>
        <p:nvSpPr>
          <p:cNvPr id="2" name="TextBox 1"/>
          <p:cNvSpPr txBox="1"/>
          <p:nvPr/>
        </p:nvSpPr>
        <p:spPr>
          <a:xfrm>
            <a:off x="822960" y="1920240"/>
            <a:ext cx="10515600" cy="1005840"/>
          </a:xfrm>
          <a:prstGeom prst="rect">
            <a:avLst/>
          </a:prstGeom>
          <a:noFill/>
        </p:spPr>
        <p:txBody>
          <a:bodyPr wrap="square" anchor="t" lIns="0" rIns="0" tIns="0" bIns="0">
            <a:spAutoFit/>
          </a:bodyPr>
          <a:lstStyle/>
          <a:p>
            <a:pPr algn="l"/>
            <a:r>
              <a:rPr sz="4800" b="1" i="0">
                <a:solidFill>
                  <a:srgbClr val="FFFFFF"/>
                </a:solidFill>
                <a:latin typeface="Arial"/>
              </a:rPr>
              <a:t>Bring it your hardest problem.</a:t>
            </a:r>
          </a:p>
        </p:txBody>
      </p:sp>
      <p:sp>
        <p:nvSpPr>
          <p:cNvPr id="3" name="TextBox 2"/>
          <p:cNvSpPr txBox="1"/>
          <p:nvPr/>
        </p:nvSpPr>
        <p:spPr>
          <a:xfrm>
            <a:off x="841248" y="3154680"/>
            <a:ext cx="10058400" cy="1188720"/>
          </a:xfrm>
          <a:prstGeom prst="rect">
            <a:avLst/>
          </a:prstGeom>
          <a:noFill/>
        </p:spPr>
        <p:txBody>
          <a:bodyPr wrap="square" anchor="t" lIns="0" rIns="0" tIns="0" bIns="0">
            <a:spAutoFit/>
          </a:bodyPr>
          <a:lstStyle/>
          <a:p>
            <a:pPr algn="l"/>
            <a:r>
              <a:rPr sz="2000" b="0" i="0">
                <a:solidFill>
                  <a:srgbClr val="FAF9F5"/>
                </a:solidFill>
                <a:latin typeface="Arial"/>
              </a:rPr>
              <a:t>An open plugin for Claude Code &amp; Cowork. Hand it a real problem, let the gate make you take a position — and get back an analysis you can defend.</a:t>
            </a:r>
          </a:p>
        </p:txBody>
      </p:sp>
      <p:sp>
        <p:nvSpPr>
          <p:cNvPr id="4" name="TextBox 3"/>
          <p:cNvSpPr txBox="1"/>
          <p:nvPr/>
        </p:nvSpPr>
        <p:spPr>
          <a:xfrm>
            <a:off x="841248" y="4709160"/>
            <a:ext cx="7315200" cy="548640"/>
          </a:xfrm>
          <a:prstGeom prst="rect">
            <a:avLst/>
          </a:prstGeom>
          <a:noFill/>
        </p:spPr>
        <p:txBody>
          <a:bodyPr wrap="square" anchor="t" lIns="0" rIns="0" tIns="0" bIns="0">
            <a:spAutoFit/>
          </a:bodyPr>
          <a:lstStyle/>
          <a:p>
            <a:pPr algn="l"/>
            <a:r>
              <a:rPr sz="1800" b="1" i="0">
                <a:solidFill>
                  <a:srgbClr val="FFFFFF"/>
                </a:solidFill>
                <a:latin typeface="Consolas"/>
              </a:rPr>
              <a:t>github.com/ComplexAR/Insight-Engine</a:t>
            </a:r>
          </a:p>
        </p:txBody>
      </p:sp>
      <p:sp>
        <p:nvSpPr>
          <p:cNvPr id="5" name="TextBox 4"/>
          <p:cNvSpPr txBox="1"/>
          <p:nvPr/>
        </p:nvSpPr>
        <p:spPr>
          <a:xfrm>
            <a:off x="841248" y="5943600"/>
            <a:ext cx="10424160" cy="457200"/>
          </a:xfrm>
          <a:prstGeom prst="rect">
            <a:avLst/>
          </a:prstGeom>
          <a:noFill/>
        </p:spPr>
        <p:txBody>
          <a:bodyPr wrap="square" anchor="t" lIns="0" rIns="0" tIns="0" bIns="0">
            <a:spAutoFit/>
          </a:bodyPr>
          <a:lstStyle/>
          <a:p>
            <a:pPr algn="l"/>
            <a:r>
              <a:rPr sz="1700" b="0" i="0">
                <a:solidFill>
                  <a:srgbClr val="C9C6BA"/>
                </a:solidFill>
                <a:latin typeface="Arial"/>
              </a:rPr>
              <a:t>The large language model provides the insight; the engine makes it verified, defensible, and audience-ready.</a:t>
            </a:r>
          </a:p>
        </p:txBody>
      </p:sp>
      <p:sp>
        <p:nvSpPr>
          <p:cNvPr id="6" name="TextBox 5"/>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C9C6BA"/>
                </a:solidFill>
                <a:latin typeface="Arial"/>
              </a:rPr>
              <a:t>27/27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