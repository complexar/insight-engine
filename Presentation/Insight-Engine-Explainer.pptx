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Insight Engine — an open plug-in for Claude Code and Cowork, built for analysis you can actually defend. The name is the design. The insight comes from a large language model; the engine is everything wrapped around that model to make its insight verified, graded, and honest about its own limits. It doesn't try to think better than the model — it makes the model show its work, and checks that work against the world. In the next few minutes I'll give you the map of the whole machine on one slide, and then walk it in four movements: the problem it exists for, the idea that answers that problem, the pipeline that carries the idea out — step by step, in the order it actually runs — and then the model layer: which model runs it, the independent adjudication pass we add on top for the highest-stakes work, and the evidence it works.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walk it, here is the map. The Insight Engine is one architecture with four parts, and each part gets its own chapter in the slides that follow. First, the idea: two jobs and one rule — reveal what's hidden, verify what's there, and the value calls stay yours. Second, the pipeline that carries the idea out: triage sets the effort; provocation surfaces what hides; verification grades and holds every load-bearing claim, with a disconfirmation pass that tries to break them; a conditional systems pass maps feedback; the forced gate puts the un-settleable questions to you; and a decision brief carries the result. Third, the interface: five commands, from analyse, which runs everything, to adjudicate. And fourth, the model layer: a frontier model executes, and for the highest-stakes work an independent adjudication pass sits on top — opt-in, off by default. The whole architecture is built around ICD 203, the U.S. intelligence community's analytic standards. Now —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tells you the design. “Insight” is the first half — and that comes entirely from the model. A strong large language model supplies the raw material: the reasoning, the reading of the documents, the first draft of an answer, the searches. The engine adds none of that intelligence; it assumes it. “Engine” is the second half — and that is everything wrapped around the model to make its insight trustworthy, in rising order. Verification: it checks what can be checked against the world. Assurance: it grades how strongly each claim stands and locks those grades, so the confidence is explicit and cannot drift. And adjudication: for the highest-stakes work, it brings in a second, independent model to check the finished analysis. Insight from the model; verification, assurance, and adjudication from the engine.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problem: a confident guess is not verified evidence. The engine is aimed at high-stakes, complex, or wicked problems — "wicked" meaning there is no clean, checkable solution. These problems share three features, and each defeats ordinary analysis in its own way. First, the things that matter most hide — they sit exactly where attention doesn't naturally go. Second, the evidence is mixed: sources disagree, and some of them have a stake in the answer. Third, the questions that actually decide the outcome are value judgments, which no amount of research can settle for you. Now hand a problem like that to a strong language model, and you get a fluent, confident answer. That is the trap. Fluent is not the same as verified — and certainly not the same as defensible. Keep those three features in mind: they are the specification the engine was built against.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each of those three features gets an answer — which gives the engine its shape: two jobs, plus one rule. Job one answers the hiding: reveal what's hidden. The voice that's absent from the sources. The fact that's been normalised until nobody questions it. The thing left conspicuously out — some of it simply missed, some kept out of view on purpose. Job two answers the mixed evidence: verify what's there. Check everything that can be checked, grade how strongly each checkable claim stands, and then try to break its own findings. And the rule answers the value judgments: the engine will not quietly make them for you. It makes you take them — explicitly, on the record. Seeing, checking, and owning the judgment. Hold on to those three, because every step you are about to see serves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machine on one slide, so you can see where we're going before we walk it. You hand it a problem. Triage decides how much effort the problem deserves. It offers a quick, optional chance to scope the problem. The provocation pass surfaces what hides. Verification grades every claim the conclusion leans on. A conditional systems pass runs only when the problem feeds back on itself. "Deep-core" is the engine's name for the questions no evidence can settle — it sets those aside rather than answering them. Grade-lock freezes the evidence grades, so nothing downstream can soften them. Then comes the one step that is yours — the gate, where those set-aside questions are put to you. And finally, a decision brief you can act on. And above all of this, for the highest-stakes work, sits the layer you saw on the map — an opt-in, independent adjudication pass by a second model, which gets its own chapter later. That is nine pipeline steps; then three more on top — adjudication, and the two follow-ons that re-voice and maintain the finished analysis: render, then track. Twelve in all, running silently except one, the gate. Let's take them in order, starting with triage.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Triage answers a simple question: how hard should the engine look? Not every question deserves the full machine — but the call is deliberately fail-safe, and depth is the default. The engine gives a short, proportionate answer only when a problem is unambiguously routine, reversible, and binds nobody. Any single warning sign is enough to run everything: something irreversible; someone bound by the outcome who isn't in the room; real money or dependency; legal or regulatory exposure; contested values; or a party who benefits from light scrutiny. Notice that last one — the engine is suspicious of the framing itself, asking "am I being invited to treat this as routine?" The reasoning behind the design is on the banner: a little over-analysis is cheap; treating a serious problem as routine is not. With the effort sized, the engine offers you an optional chance to scope the problem — Step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is optional scoping — a quick chance for you to sharpen the problem before the engine digs in. It offers up to five clarifying questions, one thing each, and every one is skippable. What is the trouble, stated as the symptom and not a diagnosis, and why now? Whose problem is it, who will act on the answer, and who else will read it? What would a good outcome look like, what counts as a serious cost, and whose costs matter most? What is fixed, and what is explicitly in and out of scope — because scope is where the largest hidden things hide. And is there any material only you hold, a document or a figure that cannot be checked online, which you can upload. Skip any or all of it; nothing is blocked. Whatever you do not answer, the engine fills with a stated assumption and marks it plainly as one, so the gaps are visible rather than hidden.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problem scoped, the analysis opens at Step 3 — the provocation pass: revealing what's hidden — deliberately before any verification, because you cannot verify a claim you never noticed. This is the provocation pass: a disciplined set of probes, a couple always run and the rest chosen to fit the case. Whose voice is absent — who is affected but nowhere in the sources? Who benefits from the way the problem has been framed? What is being treated as normal that shouldn't be? And the hardest probe of all: what is conspicuously missing — the document that isn't there, the question nobody asked? Some of what hides is simply overlooked; some is kept out of view by someone it would inconvenience. Either way, the goal is to make the invisible visible. Then it steelmans its strongest findings — builds the best case against them — and names everyone the outcome materially touches, including those not in the room. That produces a set of claims. Now those claims have to be checked.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us to Step 4: verify what's there. Before we watch it work, here is the vocabulary — the grades that will follow every claim from here on. Every checkable claim gets a V or an N. V, verified, means independently corroborated. N means not independently verified — including when a claim rests only on an interested party's own account. Every V also carries a tier for source strength: V1, confirmed against a primary source; V2, reputable secondary reporting; V3, weak or contested. And one careful distinction: a tier marks how close a source is to the events, not how much to trust it. A company's own incident report is a primary document — but on a claim that company has a stake in, its own paperwork does not earn V1. Independence decides. The banner adds the rule that makes grades mean anything at all: once set, a grade holds — nothing downstream changes it, only restates it; the formal lock comes a few steps on, at Step 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watch a single load-bearing claim travel through that machinery. First it is routed, into one of three buckets. A public fact anyone can check goes to search. A private document only some party holds is parked — with a note of exactly which document would settle it. And a judgement call — a value, a framing, a forecast that no search can settle — is never graded at all; it is carried forward to the gate, where you will answer it. Now take the public fact, and watch it get tiered. Searched against independent current sources: the regulation, the official statistic, or the ruling itself is V1; reputable reporting resting on those is V2; weak or disputed independent backing is V3; and nothing independent behind it is N. And here is the principle underneath the tiers — they are graded by independence, not just closeness: a company's own document does not earn V1 on a claim it has a stake in. One step remains before the grade is settled — and it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last step is disconfirmation: the engine trying to prove itself wrong. Why, when the claim has just been verified? Because a single confirming search is exactly how a wrong fact survives — you look for support, you find support, you stop. So for every claim the conclusion really rests on, the engine runs a second search aimed at the opposite: it actively hunts for the evidence that would break the claim. If credible counter-evidence of comparable weight turns up, the grade comes down and the dispute is recorded. If a genuine search for the negation finds nothing, the claim is marked as having survived — but only when its support comes from at least two independent sources. If everything traces back to a single origin, echoed from place to place, that is flagged as unopposed, not survived. This is the direct counter to confirmation bias — the failure mode any single-pass search quietly invites. Only after this does the grade stand — the formal lock comes at Step 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the engine has treated the problem as a set of claims. But some problems aren't a list of facts — they're a structure that feeds back on itself. When a problem shows two or more signatures of real feedback — loops, delays between cause and effect, things that accumulate, a possible tipping point — the engine adds a conditional systems pass. It maps the causal links, marks the reinforcing and balancing loops, and names where a small push would move the system most. Crucially, the same grading discipline applies to the map, and it holds a hard line: the map is a hypothesis to investigate, not a simulation to trust. It can verify that a loop exists; it will not assert, as established fact, which loop wins — that question routes to you. And it states plainly whose framing the map adopts and who is affected but missing from it. A tidy map that hides its own blind spot is false precision — and the engine treats that as failure, not thoroughness.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is deep-core routing — the hinge between what the engine can settle and what only you can. Running through every hard problem are material questions no amount of evidence can close: how the decision is framed in the first place; the legitimacy question of who is bound by it without a say; the opportunity cost and the alternatives nobody modelled; the value trade-offs. The engine's job here is not to answer these — it is to find them, name them precisely, and put them on an explicit open list. Three rules govern that list: don't resolve them, because you can't; don't drop them, because they are the ones that matter most; and don't assert them as if they were verified facts. They are carried forward, untouched, to the gate at Step 8, where you will answer them. This is what stops the engine quietly smuggling a value judgment in as a finding.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open questions set aside, Step 7 makes the analysis defensible in two moves. First, grade-lock: every grade the verification produced is now formally frozen. From here on nothing downstream can change a grade — a later step can only restate it, never quietly soften or upgrade it. That is what lets the analysis hold up after the fact: the confidence on each claim is fixed and auditable. Second, the resilience check: before the engine commits to a call, it stress-tests that call against its own load-bearing assumptions and the key links in the systems map. It asks the blunt question — if this one claim I am leaning on turned out to be wrong, would the call still stand, or does everything hinge on it? A call that rests on a single fragile assumption is flagged as exactly that, so you know how much weight it can bear.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now heard me say "that routes to you" twice — the judgement calls from grading, and the loop-dominance question from the map. Here is where they all arrive: the gate, the one step the engine refuses to take on your behalf. Underneath every hard problem run questions no evidence can settle — how the decision is framed, who is bound by it without a say, what you are willing to trade against what. The engine separates them out and, instead of answering them, it stops. It puts them to you one at a time, and it will not finalise until you take a position on each — or explicitly defer, which is logged, not ignored. Why force it? Because controlled testing showed that merely showing a decision-maker these questions doesn't work: they read them, then drift back to the verifiable. Being made to answer is what gets them addressed. The engine articulates the questions; you own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your positions on the record, everything converges into the deliverable: the decision brief — a short decision surface, not an essay. First, the call. Where the problem is wicked, the call is a provisional stance, marked re-openable — because a crisp verdict on a wicked problem would re-import exactly the false closure the engine exists to avoid. Then two kinds of confidence people usually blur, kept deliberately apart: how solid the evidence is — naming the single weakest grade the call leans on — and whether the action will actually work, which can fail even when every fact is solid. Then the one unknown that would most move the answer; the cheapest thing to check next; and what would flip the call, written as a plain condition — "I am treating this as true; if it's false, the call reverses." And one discipline runs throughout: every hedge must name what it depends on. A caveat that points at nothing isn't allowed.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completes the core pipeline — triage through the decision brief. But for the highest-stakes work — legal exposure, contested blame, a decision that binds people — the engine can add one more layer on top: Step 10, an opt-in, independent second pass by a separate model, run over the finished analysis. So suppose you've opted in. Here is how it actually runs — the mechanism first, then the choice of adjudicator. It runs as a subagent: a separate agent with its own isolated context. It is handed the facts and the grade-locked spine of the analysis — the claims with their locked grades — but not the first model's reasoning, so it cannot anchor on it. Two passes: blind first — re-derive the analysis and see whether it reaches the same call — then adversarial — try to break the load-bearing claims and the call itself. It hands back a list of discrepancies, which fold in under grade-lock; it never flips the call, and you still own it. Now, which model adjudicates? There is a ladder, strongest first — and one rule across all of it: the adjudicator always checks the finished analysis the Anthropic frontier model produced, and never flips the call itself. The stronger rungs bring in a genuinely different model; the weaker ones re-check with the same one — and the engine always says which. Rung A, the strongest: a frontier model from a different lab — GPT-5.6 Sol, or GPT-5.5 while Sol is in limited preview — because a different training lineage gives the most decorrelated blind spots. It is invoked through an API call to that outside model, and the engine walks you through the set-up step by step, interactively. That rung is built and live-verified as a harness; it is opt-in and off by default, and it is held off entirely for privileged or confidential matters, because the material leaves Anthropic's boundary. Rung B: a different in-house model — Fable 5 — model and context independence, with no external call. Rung C: a panel of two or more blind Opus instances, reading where they diverge — divergence localises the fragile point, but this is a same-model cross-check, not independent adjudication, because every instance shares Opus's blind spots. Rung D, the weakest: a self-adversarial reset in the same session. Every rung is opt-in and costs credits or setup, so nothing runs on its own. And whichever rung runs, the engine declares it — because same-model agreement is stability, not proof.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left in the adjudication chapter: where in the assurance flow does the second pass actually earn its place? Not on the settled facts — a V1 claim, confirmed against a primary source, is done; a second model adds little there. It goes where judgment, not fact, decides the answer: the claims graded weak or uncorroborated, the disconfirmation verdicts, any allocation of blame — which is where legal cases turn — the value questions at the gate, and which loop dominates in a systems map. On that terrain it reliably sharpens: catching where a dominance claim is asserted but not yet established, where an exonerating metric is itself confounded, where an argument quietly contradicts itself — and it does this without reversing a sound call. One caveat from testing: it is verbose. So rank its objections, and surface only the few that would actually change the decision. That closes the adjudication chapter, Step 10. But all of it — the pipeline and the second pass alike — rests on one thing: the model underneath. So, before the last pieces: which model, and when.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now to the choice underneath all of it: which model, and when — because the engine is scaffolding, and something has to fill it. For execution, it is designed for a top-tier frontier model: nearly every step you've seen leans on the model's own reasoning — judging a source, running a real search for counter-evidence, catching its own confident mistakes. In building the engine, we ran it on Opus 4.8. And for the adjudication pass you've just seen, a second, independent frontier model, brought in to check the finished analysis. In our own testing we used Fable 5 — rung B of the ladder — run blind first, then adversarially. The honest, tested framing is worth stating plainly, now that you've seen how the second pass runs and where it helps: treat it as a rigour-and-defensibility check, not a safety net. It sharpens a sound analysis, safely; whether it can catch an error the disciplined first pass missed is unproven — in our own testing, the first pass already caught the constructible ones. But all of this assumes a capable model underneath.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happens if you run the engine on a weaker model? The scaffolding survives. The gate still makes you own the value calls; the grades and caveats still travel with every claim; rendering still refuses to drop them. But what fills that scaffold degrades. A weaker model grades sources less reliably, runs a thinner search for counter-evidence, and carries more confident errors while being worse at catching them — and the engine relies on the model catching itself. So the warning is worth stating plainly: the engine cannot add reasoning the model doesn't have. It disciplines and exposes the model's work; it does not rescue it. And the polish is itself a risk — the grades and the caveats can make a weak answer look more defensible than it really is. The assurance is only ever as good as the model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now seen the whole engine — the pipeline, the independent second pass, and what it all rests on. Here is the practical chapter: how you actually drive it. The interface is five commands. Analyse runs everything you've just seen. Verify runs the fact-checking layer on its own — a set of claims, or a single premise you want pressure-tested before relying on it. Render re-voices a finished analysis for a particular reader — a board, a regulator, opposing counsel, a family — without ever changing a claim or a grade to suit the audience, and carrying a core of caveats no version is allowed to drop: that is the grade-lock doing its job downstream. Track keeps a long-running investigation alive as new facts arrive, re-verifying the graded claims and telling you if the call has moved. And adjudicate is the independent second pass you have just seen in depth — the opt-in, off-by-default capstone of the assurance architecture. Two of these commands — render and track — are the final two pipeline steps, and they are next.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pipeline steps remain, and both begin only after the call is made. The first is render — Step eleven. It re-voices the finished analysis for whoever must read it: a board, a regulator, opposing counsel, a family. It never changes a claim or a grade to suit the audience — it is a register transform only — and it carries a core of caveats that no version is allowed to drop. So the same graded analysis can be re-expressed for any reader who needs it, without softening for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is track — Step twelve. It keeps a long-running investigation alive as new facts arrive: it re-verifies the grade-locked spine as fresh evidence lands, and tells you plainly if the call has moved. So the analysis does not simply end at the brief; it is kept current as the world changes. That completes the twelve steps. One thing is left to say — where this whole discipline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leaves the last question: where does this discipline come from, and is there evidence it works? None of it is invented from nothing. The engine is architected around ICD 203 — the U.S. intelligence community's Analytic Standards directive — and specifically its nine analytic tradecraft standards: describing the quality of sources, expressing uncertainty, separating evidence from judgment, weighing alternatives. You have seen each of those in this walkthrough — in the tiers, the caveats, and the gate. In a blind assessment against those nine standards, the engine scored ninety-two percent, where a strong model unaided scored seventy-five. And to be honest about what that number is: the engine is architected around the standards and was assessed once — this is not a formal certification. The ninety-two percent is a signal, not a seal. But it points the same way as everything else you've seen: discipline, made checkable.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 is the Insight Engine: a language model for the insight, and around it a pipeline that reveals what hides, verifies what's there, and hands the judgment back to you. It's an open plug-in for Claude Code and Cowork — the repository is on the screen. Bring it your hardest problem. Hand it something real, let the gate make you take a position, and get back an analysis you can stand behind — not because it sounds confident, but because every claim in it shows its grade, its source, and what would change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822960" y="1188720"/>
            <a:ext cx="10515600" cy="640080"/>
          </a:xfrm>
          <a:prstGeom prst="rect">
            <a:avLst/>
          </a:prstGeom>
          <a:noFill/>
        </p:spPr>
        <p:txBody>
          <a:bodyPr wrap="square" anchor="t" lIns="0" rIns="0" tIns="0" bIns="0">
            <a:spAutoFit/>
          </a:bodyPr>
          <a:lstStyle/>
          <a:p>
            <a:pPr algn="l"/>
            <a:r>
              <a:rPr sz="3000" b="1" i="0">
                <a:solidFill>
                  <a:srgbClr val="D97757"/>
                </a:solidFill>
                <a:latin typeface="Arial"/>
              </a:rPr>
              <a:t>Insight Engine</a:t>
            </a:r>
          </a:p>
        </p:txBody>
      </p:sp>
      <p:sp>
        <p:nvSpPr>
          <p:cNvPr id="3" name="TextBox 2"/>
          <p:cNvSpPr txBox="1"/>
          <p:nvPr/>
        </p:nvSpPr>
        <p:spPr>
          <a:xfrm>
            <a:off x="804672" y="1965960"/>
            <a:ext cx="10607040" cy="1280160"/>
          </a:xfrm>
          <a:prstGeom prst="rect">
            <a:avLst/>
          </a:prstGeom>
          <a:noFill/>
        </p:spPr>
        <p:txBody>
          <a:bodyPr wrap="square" anchor="t" lIns="0" rIns="0" tIns="0" bIns="0">
            <a:spAutoFit/>
          </a:bodyPr>
          <a:lstStyle/>
          <a:p>
            <a:pPr algn="l"/>
            <a:r>
              <a:rPr sz="5400" b="1" i="0">
                <a:solidFill>
                  <a:srgbClr val="141413"/>
                </a:solidFill>
                <a:latin typeface="Arial"/>
              </a:rPr>
              <a:t>Analysis defended with assurance.</a:t>
            </a:r>
          </a:p>
        </p:txBody>
      </p:sp>
      <p:sp>
        <p:nvSpPr>
          <p:cNvPr id="4" name="TextBox 3"/>
          <p:cNvSpPr txBox="1"/>
          <p:nvPr/>
        </p:nvSpPr>
        <p:spPr>
          <a:xfrm>
            <a:off x="841248" y="3794760"/>
            <a:ext cx="9966960" cy="1554480"/>
          </a:xfrm>
          <a:prstGeom prst="rect">
            <a:avLst/>
          </a:prstGeom>
          <a:noFill/>
        </p:spPr>
        <p:txBody>
          <a:bodyPr wrap="square" anchor="t" lIns="0" rIns="0" tIns="0" bIns="0">
            <a:spAutoFit/>
          </a:bodyPr>
          <a:lstStyle/>
          <a:p>
            <a:pPr algn="l">
              <a:spcAft>
                <a:spcPts val="600"/>
              </a:spcAft>
            </a:pPr>
            <a:r>
              <a:rPr sz="2200" b="1" i="0">
                <a:solidFill>
                  <a:srgbClr val="4A453D"/>
                </a:solidFill>
                <a:latin typeface="Arial"/>
              </a:rPr>
              <a:t>Insight</a:t>
            </a:r>
            <a:r>
              <a:rPr sz="2200" b="0" i="0">
                <a:solidFill>
                  <a:srgbClr val="4A453D"/>
                </a:solidFill>
                <a:latin typeface="Arial"/>
              </a:rPr>
              <a:t> supplied by a Large Language Model;</a:t>
            </a:r>
          </a:p>
          <a:p>
            <a:pPr algn="l">
              <a:spcAft>
                <a:spcPts val="600"/>
              </a:spcAft>
            </a:pPr>
            <a:r>
              <a:rPr sz="2200" b="1" i="0">
                <a:solidFill>
                  <a:srgbClr val="4A453D"/>
                </a:solidFill>
                <a:latin typeface="Arial"/>
              </a:rPr>
              <a:t>Engine</a:t>
            </a:r>
            <a:r>
              <a:rPr sz="2200" b="0" i="0">
                <a:solidFill>
                  <a:srgbClr val="4A453D"/>
                </a:solidFill>
                <a:latin typeface="Arial"/>
              </a:rPr>
              <a:t> makes that insight verified, defensible, and audience-ready.</a:t>
            </a:r>
          </a:p>
        </p:txBody>
      </p:sp>
      <p:sp>
        <p:nvSpPr>
          <p:cNvPr id="5" name="TextBox 4"/>
          <p:cNvSpPr txBox="1"/>
          <p:nvPr/>
        </p:nvSpPr>
        <p:spPr>
          <a:xfrm>
            <a:off x="841248" y="5943600"/>
            <a:ext cx="10241280" cy="365760"/>
          </a:xfrm>
          <a:prstGeom prst="rect">
            <a:avLst/>
          </a:prstGeom>
          <a:noFill/>
        </p:spPr>
        <p:txBody>
          <a:bodyPr wrap="square" anchor="t" lIns="0" rIns="0" tIns="0" bIns="0">
            <a:spAutoFit/>
          </a:bodyPr>
          <a:lstStyle/>
          <a:p>
            <a:pPr algn="l"/>
            <a:r>
              <a:rPr sz="1600" b="0" i="0">
                <a:solidFill>
                  <a:srgbClr val="8A8578"/>
                </a:solidFill>
                <a:latin typeface="Arial"/>
              </a:rPr>
              <a:t>An open plugin for Claude Code &amp; Cowork   ·   v0.1.16</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MAP</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One architecture — here is the whole of it.</a:t>
            </a:r>
          </a:p>
        </p:txBody>
      </p:sp>
      <p:sp>
        <p:nvSpPr>
          <p:cNvPr id="4" name="Rounded Rectangle 3"/>
          <p:cNvSpPr/>
          <p:nvPr/>
        </p:nvSpPr>
        <p:spPr>
          <a:xfrm>
            <a:off x="640080" y="1645920"/>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10512"/>
            <a:ext cx="4754880" cy="457200"/>
          </a:xfrm>
          <a:prstGeom prst="rect">
            <a:avLst/>
          </a:prstGeom>
          <a:noFill/>
        </p:spPr>
        <p:txBody>
          <a:bodyPr wrap="square" anchor="t" lIns="0" rIns="0" tIns="0" bIns="0">
            <a:spAutoFit/>
          </a:bodyPr>
          <a:lstStyle/>
          <a:p>
            <a:pPr algn="l"/>
            <a:r>
              <a:rPr sz="1500" b="1" i="0">
                <a:solidFill>
                  <a:srgbClr val="4E79A6"/>
                </a:solidFill>
                <a:latin typeface="Arial"/>
              </a:rPr>
              <a:t>THE IDEA — two jobs, one rule</a:t>
            </a:r>
          </a:p>
        </p:txBody>
      </p:sp>
      <p:sp>
        <p:nvSpPr>
          <p:cNvPr id="6" name="TextBox 5"/>
          <p:cNvSpPr txBox="1"/>
          <p:nvPr/>
        </p:nvSpPr>
        <p:spPr>
          <a:xfrm>
            <a:off x="914400" y="2286000"/>
            <a:ext cx="4754880" cy="868680"/>
          </a:xfrm>
          <a:prstGeom prst="rect">
            <a:avLst/>
          </a:prstGeom>
          <a:noFill/>
        </p:spPr>
        <p:txBody>
          <a:bodyPr wrap="square" anchor="t" lIns="0" rIns="0" tIns="0" bIns="0">
            <a:spAutoFit/>
          </a:bodyPr>
          <a:lstStyle/>
          <a:p>
            <a:pPr algn="l"/>
            <a:r>
              <a:rPr sz="1300" b="0" i="0">
                <a:solidFill>
                  <a:srgbClr val="4A453D"/>
                </a:solidFill>
                <a:latin typeface="Arial"/>
              </a:rPr>
              <a:t>Reveal what's hidden  ·  Verify what's there  ·  the value calls stay yours</a:t>
            </a:r>
          </a:p>
        </p:txBody>
      </p:sp>
      <p:sp>
        <p:nvSpPr>
          <p:cNvPr id="7" name="Rounded Rectangle 6"/>
          <p:cNvSpPr/>
          <p:nvPr/>
        </p:nvSpPr>
        <p:spPr>
          <a:xfrm>
            <a:off x="6190488" y="1645920"/>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1810512"/>
            <a:ext cx="4754880" cy="457200"/>
          </a:xfrm>
          <a:prstGeom prst="rect">
            <a:avLst/>
          </a:prstGeom>
          <a:noFill/>
        </p:spPr>
        <p:txBody>
          <a:bodyPr wrap="square" anchor="t" lIns="0" rIns="0" tIns="0" bIns="0">
            <a:spAutoFit/>
          </a:bodyPr>
          <a:lstStyle/>
          <a:p>
            <a:pPr algn="l"/>
            <a:r>
              <a:rPr sz="1500" b="1" i="0">
                <a:solidFill>
                  <a:srgbClr val="5F7249"/>
                </a:solidFill>
                <a:latin typeface="Arial"/>
              </a:rPr>
              <a:t>THE PIPELINE — runs silently, except the gate</a:t>
            </a:r>
          </a:p>
        </p:txBody>
      </p:sp>
      <p:sp>
        <p:nvSpPr>
          <p:cNvPr id="9" name="TextBox 8"/>
          <p:cNvSpPr txBox="1"/>
          <p:nvPr/>
        </p:nvSpPr>
        <p:spPr>
          <a:xfrm>
            <a:off x="6464808" y="2286000"/>
            <a:ext cx="4754880" cy="868680"/>
          </a:xfrm>
          <a:prstGeom prst="rect">
            <a:avLst/>
          </a:prstGeom>
          <a:noFill/>
        </p:spPr>
        <p:txBody>
          <a:bodyPr wrap="square" anchor="t" lIns="0" rIns="0" tIns="0" bIns="0">
            <a:spAutoFit/>
          </a:bodyPr>
          <a:lstStyle/>
          <a:p>
            <a:pPr algn="l"/>
            <a:r>
              <a:rPr sz="1300" b="0" i="0">
                <a:solidFill>
                  <a:srgbClr val="4A453D"/>
                </a:solidFill>
                <a:latin typeface="Arial"/>
              </a:rPr>
              <a:t>Triage → Provocation → Verify &amp; grade → Disconfirm → Systems pass (conditional) → Deep-core routing → Grade-lock → Forced gate → Decision brief</a:t>
            </a:r>
          </a:p>
        </p:txBody>
      </p:sp>
      <p:sp>
        <p:nvSpPr>
          <p:cNvPr id="10" name="Rounded Rectangle 9"/>
          <p:cNvSpPr/>
          <p:nvPr/>
        </p:nvSpPr>
        <p:spPr>
          <a:xfrm>
            <a:off x="640080" y="3401568"/>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66160"/>
            <a:ext cx="4754880" cy="457200"/>
          </a:xfrm>
          <a:prstGeom prst="rect">
            <a:avLst/>
          </a:prstGeom>
          <a:noFill/>
        </p:spPr>
        <p:txBody>
          <a:bodyPr wrap="square" anchor="t" lIns="0" rIns="0" tIns="0" bIns="0">
            <a:spAutoFit/>
          </a:bodyPr>
          <a:lstStyle/>
          <a:p>
            <a:pPr algn="l"/>
            <a:r>
              <a:rPr sz="1500" b="1" i="0">
                <a:solidFill>
                  <a:srgbClr val="4E79A6"/>
                </a:solidFill>
                <a:latin typeface="Arial"/>
              </a:rPr>
              <a:t>THE INTERFACE — five commands</a:t>
            </a:r>
          </a:p>
        </p:txBody>
      </p:sp>
      <p:sp>
        <p:nvSpPr>
          <p:cNvPr id="12" name="TextBox 11"/>
          <p:cNvSpPr txBox="1"/>
          <p:nvPr/>
        </p:nvSpPr>
        <p:spPr>
          <a:xfrm>
            <a:off x="914400" y="4041648"/>
            <a:ext cx="4754880" cy="868680"/>
          </a:xfrm>
          <a:prstGeom prst="rect">
            <a:avLst/>
          </a:prstGeom>
          <a:noFill/>
        </p:spPr>
        <p:txBody>
          <a:bodyPr wrap="square" anchor="t" lIns="0" rIns="0" tIns="0" bIns="0">
            <a:spAutoFit/>
          </a:bodyPr>
          <a:lstStyle/>
          <a:p>
            <a:pPr algn="l"/>
            <a:r>
              <a:rPr sz="1300" b="0" i="0">
                <a:solidFill>
                  <a:srgbClr val="4A453D"/>
                </a:solidFill>
                <a:latin typeface="Arial"/>
              </a:rPr>
              <a:t>analyse  ·  verify  ·  render  ·  track  ·  adjudicate</a:t>
            </a:r>
          </a:p>
        </p:txBody>
      </p:sp>
      <p:sp>
        <p:nvSpPr>
          <p:cNvPr id="13" name="Rounded Rectangle 12"/>
          <p:cNvSpPr/>
          <p:nvPr/>
        </p:nvSpPr>
        <p:spPr>
          <a:xfrm>
            <a:off x="6190488" y="3401568"/>
            <a:ext cx="5303520" cy="1591056"/>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3566160"/>
            <a:ext cx="4754880" cy="457200"/>
          </a:xfrm>
          <a:prstGeom prst="rect">
            <a:avLst/>
          </a:prstGeom>
          <a:noFill/>
        </p:spPr>
        <p:txBody>
          <a:bodyPr wrap="square" anchor="t" lIns="0" rIns="0" tIns="0" bIns="0">
            <a:spAutoFit/>
          </a:bodyPr>
          <a:lstStyle/>
          <a:p>
            <a:pPr algn="l"/>
            <a:r>
              <a:rPr sz="1500" b="1" i="0">
                <a:solidFill>
                  <a:srgbClr val="5F7249"/>
                </a:solidFill>
                <a:latin typeface="Arial"/>
              </a:rPr>
              <a:t>THE MODEL LAYER — execution + assurance</a:t>
            </a:r>
          </a:p>
        </p:txBody>
      </p:sp>
      <p:sp>
        <p:nvSpPr>
          <p:cNvPr id="15" name="TextBox 14"/>
          <p:cNvSpPr txBox="1"/>
          <p:nvPr/>
        </p:nvSpPr>
        <p:spPr>
          <a:xfrm>
            <a:off x="6464808" y="4041648"/>
            <a:ext cx="4754880" cy="868680"/>
          </a:xfrm>
          <a:prstGeom prst="rect">
            <a:avLst/>
          </a:prstGeom>
          <a:noFill/>
        </p:spPr>
        <p:txBody>
          <a:bodyPr wrap="square" anchor="t" lIns="0" rIns="0" tIns="0" bIns="0">
            <a:spAutoFit/>
          </a:bodyPr>
          <a:lstStyle/>
          <a:p>
            <a:pPr algn="l"/>
            <a:r>
              <a:rPr sz="1300" b="0" i="0">
                <a:solidFill>
                  <a:srgbClr val="4A453D"/>
                </a:solidFill>
                <a:latin typeface="Arial"/>
              </a:rPr>
              <a:t>A frontier model executes. For the highest stakes, an independent adjudication pass (Step 10) — opt-in, off by default.</a:t>
            </a:r>
          </a:p>
        </p:txBody>
      </p:sp>
      <p:sp>
        <p:nvSpPr>
          <p:cNvPr id="16" name="Rounded Rectangle 15"/>
          <p:cNvSpPr/>
          <p:nvPr/>
        </p:nvSpPr>
        <p:spPr>
          <a:xfrm>
            <a:off x="640080" y="512064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20640"/>
            <a:ext cx="10177272" cy="1188720"/>
          </a:xfrm>
          <a:prstGeom prst="rect">
            <a:avLst/>
          </a:prstGeom>
          <a:noFill/>
        </p:spPr>
        <p:txBody>
          <a:bodyPr wrap="square" anchor="ctr" lIns="0" rIns="0" tIns="0" bIns="0">
            <a:spAutoFit/>
          </a:bodyPr>
          <a:lstStyle/>
          <a:p>
            <a:pPr algn="l"/>
            <a:r>
              <a:rPr sz="1800" b="1" i="0">
                <a:solidFill>
                  <a:srgbClr val="FFFFFF"/>
                </a:solidFill>
                <a:latin typeface="Arial"/>
              </a:rPr>
              <a:t>Architected around ICD 203 — the U.S. intelligence community's Analytic Standards.</a:t>
            </a:r>
          </a:p>
          <a:p>
            <a:pPr algn="l"/>
            <a:r>
              <a:rPr sz="1800" b="1" i="0">
                <a:solidFill>
                  <a:srgbClr val="FFFFFF"/>
                </a:solidFill>
                <a:latin typeface="Arial"/>
              </a:rPr>
              <a:t>Each part is explained in the slides ahead.</a:t>
            </a:r>
          </a:p>
        </p:txBody>
      </p:sp>
      <p:sp>
        <p:nvSpPr>
          <p:cNvPr id="18" name="TextBox 1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NAME IS THE DESIGN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Insight from the model. Assurance from the engine.</a:t>
            </a:r>
          </a:p>
        </p:txBody>
      </p:sp>
      <p:sp>
        <p:nvSpPr>
          <p:cNvPr id="4" name="Rounded Rectangle 3"/>
          <p:cNvSpPr/>
          <p:nvPr/>
        </p:nvSpPr>
        <p:spPr>
          <a:xfrm>
            <a:off x="640080" y="1783080"/>
            <a:ext cx="5440680" cy="301752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INSIGHT · a strong LLM</a:t>
            </a:r>
          </a:p>
        </p:txBody>
      </p:sp>
      <p:sp>
        <p:nvSpPr>
          <p:cNvPr id="6" name="TextBox 5"/>
          <p:cNvSpPr txBox="1"/>
          <p:nvPr/>
        </p:nvSpPr>
        <p:spPr>
          <a:xfrm>
            <a:off x="914400" y="2788920"/>
            <a:ext cx="4937760" cy="1920240"/>
          </a:xfrm>
          <a:prstGeom prst="rect">
            <a:avLst/>
          </a:prstGeom>
          <a:noFill/>
        </p:spPr>
        <p:txBody>
          <a:bodyPr wrap="square" anchor="t" lIns="0" rIns="0" tIns="0" bIns="0">
            <a:spAutoFit/>
          </a:bodyPr>
          <a:lstStyle/>
          <a:p>
            <a:pPr algn="l"/>
            <a:r>
              <a:rPr sz="1700" b="0" i="0">
                <a:solidFill>
                  <a:srgbClr val="4A453D"/>
                </a:solidFill>
                <a:latin typeface="Arial"/>
              </a:rPr>
              <a:t>The language model supplies the raw material — the reasoning, the reading, the first draft, the searches. All the intelligence comes from the model; the engine assumes it.</a:t>
            </a:r>
          </a:p>
        </p:txBody>
      </p:sp>
      <p:sp>
        <p:nvSpPr>
          <p:cNvPr id="7" name="Rounded Rectangle 6"/>
          <p:cNvSpPr/>
          <p:nvPr/>
        </p:nvSpPr>
        <p:spPr>
          <a:xfrm>
            <a:off x="6263640" y="1783080"/>
            <a:ext cx="5285232" cy="30175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ENGINE · verify · assure · adjudicate</a:t>
            </a:r>
          </a:p>
        </p:txBody>
      </p:sp>
      <p:sp>
        <p:nvSpPr>
          <p:cNvPr id="9" name="TextBox 8"/>
          <p:cNvSpPr txBox="1"/>
          <p:nvPr/>
        </p:nvSpPr>
        <p:spPr>
          <a:xfrm>
            <a:off x="6537960" y="2788920"/>
            <a:ext cx="4754880" cy="1920240"/>
          </a:xfrm>
          <a:prstGeom prst="rect">
            <a:avLst/>
          </a:prstGeom>
          <a:noFill/>
        </p:spPr>
        <p:txBody>
          <a:bodyPr wrap="square" anchor="t" lIns="0" rIns="0" tIns="0" bIns="0">
            <a:spAutoFit/>
          </a:bodyPr>
          <a:lstStyle/>
          <a:p>
            <a:pPr algn="l">
              <a:spcAft>
                <a:spcPts val="800"/>
              </a:spcAft>
            </a:pPr>
            <a:r>
              <a:rPr sz="1600" b="0" i="0">
                <a:solidFill>
                  <a:srgbClr val="141413"/>
                </a:solidFill>
                <a:latin typeface="Arial"/>
              </a:rPr>
              <a:t>• Verify — check what can be checked against the world</a:t>
            </a:r>
          </a:p>
          <a:p>
            <a:pPr algn="l">
              <a:spcAft>
                <a:spcPts val="800"/>
              </a:spcAft>
            </a:pPr>
            <a:r>
              <a:rPr sz="1600" b="0" i="0">
                <a:solidFill>
                  <a:srgbClr val="141413"/>
                </a:solidFill>
                <a:latin typeface="Arial"/>
              </a:rPr>
              <a:t>• Assure — grade how strongly each claim stands, and lock it</a:t>
            </a:r>
          </a:p>
          <a:p>
            <a:pPr algn="l">
              <a:spcAft>
                <a:spcPts val="800"/>
              </a:spcAft>
            </a:pPr>
            <a:r>
              <a:rPr sz="1600" b="0" i="0">
                <a:solidFill>
                  <a:srgbClr val="141413"/>
                </a:solidFill>
                <a:latin typeface="Arial"/>
              </a:rPr>
              <a:t>• Adjudicate — for the highest stakes, an independent model checks the result</a:t>
            </a:r>
          </a:p>
        </p:txBody>
      </p:sp>
      <p:sp>
        <p:nvSpPr>
          <p:cNvPr id="10" name="Rounded Rectangle 9"/>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model provides the insight; the engine makes it verified, defensible, and — when it matters most — independently checked.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3/26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PROBLEM</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confident guess is not verified evidence.</a:t>
            </a:r>
          </a:p>
        </p:txBody>
      </p:sp>
      <p:sp>
        <p:nvSpPr>
          <p:cNvPr id="4" name="Rounded Rectangle 3"/>
          <p:cNvSpPr/>
          <p:nvPr/>
        </p:nvSpPr>
        <p:spPr>
          <a:xfrm>
            <a:off x="640080"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important things hide</a:t>
            </a:r>
          </a:p>
        </p:txBody>
      </p:sp>
      <p:sp>
        <p:nvSpPr>
          <p:cNvPr id="6" name="TextBox 5"/>
          <p:cNvSpPr txBox="1"/>
          <p:nvPr/>
        </p:nvSpPr>
        <p:spPr>
          <a:xfrm>
            <a:off x="914400"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What matters most sits where attention doesn't go.</a:t>
            </a:r>
          </a:p>
        </p:txBody>
      </p:sp>
      <p:sp>
        <p:nvSpPr>
          <p:cNvPr id="7" name="Rounded Rectangle 6"/>
          <p:cNvSpPr/>
          <p:nvPr/>
        </p:nvSpPr>
        <p:spPr>
          <a:xfrm>
            <a:off x="4361688"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8"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evidence is mixed, or interested</a:t>
            </a:r>
          </a:p>
        </p:txBody>
      </p:sp>
      <p:sp>
        <p:nvSpPr>
          <p:cNvPr id="9" name="TextBox 8"/>
          <p:cNvSpPr txBox="1"/>
          <p:nvPr/>
        </p:nvSpPr>
        <p:spPr>
          <a:xfrm>
            <a:off x="4636008"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Sources disagree — and some benefit from the answer.</a:t>
            </a:r>
          </a:p>
        </p:txBody>
      </p:sp>
      <p:sp>
        <p:nvSpPr>
          <p:cNvPr id="10" name="Rounded Rectangle 9"/>
          <p:cNvSpPr/>
          <p:nvPr/>
        </p:nvSpPr>
        <p:spPr>
          <a:xfrm>
            <a:off x="8083296"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7616"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deciding questions are value judgments</a:t>
            </a:r>
          </a:p>
        </p:txBody>
      </p:sp>
      <p:sp>
        <p:nvSpPr>
          <p:cNvPr id="12" name="TextBox 11"/>
          <p:cNvSpPr txBox="1"/>
          <p:nvPr/>
        </p:nvSpPr>
        <p:spPr>
          <a:xfrm>
            <a:off x="8357616"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No analysis settles what you should value.</a:t>
            </a:r>
          </a:p>
        </p:txBody>
      </p:sp>
      <p:sp>
        <p:nvSpPr>
          <p:cNvPr id="13" name="Rounded Rectangle 12"/>
          <p:cNvSpPr/>
          <p:nvPr/>
        </p:nvSpPr>
        <p:spPr>
          <a:xfrm>
            <a:off x="640080" y="4617720"/>
            <a:ext cx="10908792" cy="12801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617720"/>
            <a:ext cx="10177272" cy="1280160"/>
          </a:xfrm>
          <a:prstGeom prst="rect">
            <a:avLst/>
          </a:prstGeom>
          <a:noFill/>
        </p:spPr>
        <p:txBody>
          <a:bodyPr wrap="square" anchor="ctr" lIns="0" rIns="0" tIns="0" bIns="0">
            <a:spAutoFit/>
          </a:bodyPr>
          <a:lstStyle/>
          <a:p>
            <a:pPr algn="l"/>
            <a:r>
              <a:rPr sz="1800" b="1" i="0">
                <a:solidFill>
                  <a:srgbClr val="FFFFFF"/>
                </a:solidFill>
                <a:latin typeface="Arial"/>
              </a:rPr>
              <a:t>A strong model gives you a fluent answer.  </a:t>
            </a:r>
          </a:p>
          <a:p>
            <a:pPr algn="l"/>
            <a:r>
              <a:rPr sz="1800" b="1" i="0">
                <a:solidFill>
                  <a:srgbClr val="FAF9F5"/>
                </a:solidFill>
                <a:latin typeface="Arial"/>
              </a:rPr>
              <a:t>Fluent isn't the same as verified — or defensible.</a:t>
            </a:r>
          </a:p>
        </p:txBody>
      </p:sp>
      <p:sp>
        <p:nvSpPr>
          <p:cNvPr id="15" name="TextBox 14"/>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4/26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IDEA</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Two jobs: reveal what's hidden, and verify what's there.</a:t>
            </a:r>
          </a:p>
        </p:txBody>
      </p:sp>
      <p:sp>
        <p:nvSpPr>
          <p:cNvPr id="4" name="Rounded Rectangle 3"/>
          <p:cNvSpPr/>
          <p:nvPr/>
        </p:nvSpPr>
        <p:spPr>
          <a:xfrm>
            <a:off x="640080" y="1783080"/>
            <a:ext cx="5440680"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1 · Reveal what's hidden</a:t>
            </a:r>
          </a:p>
        </p:txBody>
      </p:sp>
      <p:sp>
        <p:nvSpPr>
          <p:cNvPr id="6" name="TextBox 5"/>
          <p:cNvSpPr txBox="1"/>
          <p:nvPr/>
        </p:nvSpPr>
        <p:spPr>
          <a:xfrm>
            <a:off x="914400" y="2743200"/>
            <a:ext cx="493776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the voice that's absent</a:t>
            </a:r>
          </a:p>
          <a:p>
            <a:pPr algn="l">
              <a:spcAft>
                <a:spcPts val="600"/>
              </a:spcAft>
            </a:pPr>
            <a:r>
              <a:rPr sz="1600" b="0" i="0">
                <a:solidFill>
                  <a:srgbClr val="141413"/>
                </a:solidFill>
                <a:latin typeface="Arial"/>
              </a:rPr>
              <a:t>• what's been normalised until no one questions it</a:t>
            </a:r>
          </a:p>
          <a:p>
            <a:pPr algn="l">
              <a:spcAft>
                <a:spcPts val="600"/>
              </a:spcAft>
            </a:pPr>
            <a:r>
              <a:rPr sz="1600" b="0" i="0">
                <a:solidFill>
                  <a:srgbClr val="141413"/>
                </a:solidFill>
                <a:latin typeface="Arial"/>
              </a:rPr>
              <a:t>• the thing left conspicuously out</a:t>
            </a:r>
          </a:p>
          <a:p>
            <a:pPr algn="l">
              <a:spcAft>
                <a:spcPts val="600"/>
              </a:spcAft>
            </a:pPr>
            <a:r>
              <a:rPr sz="1600" b="0" i="0">
                <a:solidFill>
                  <a:srgbClr val="141413"/>
                </a:solidFill>
                <a:latin typeface="Arial"/>
              </a:rPr>
              <a:t>• some missed — some kept out of view on purpose</a:t>
            </a:r>
          </a:p>
        </p:txBody>
      </p:sp>
      <p:sp>
        <p:nvSpPr>
          <p:cNvPr id="7" name="Rounded Rectangle 6"/>
          <p:cNvSpPr/>
          <p:nvPr/>
        </p:nvSpPr>
        <p:spPr>
          <a:xfrm>
            <a:off x="6263640" y="1783080"/>
            <a:ext cx="528523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2 · Verify what's there</a:t>
            </a:r>
          </a:p>
        </p:txBody>
      </p:sp>
      <p:sp>
        <p:nvSpPr>
          <p:cNvPr id="9" name="TextBox 8"/>
          <p:cNvSpPr txBox="1"/>
          <p:nvPr/>
        </p:nvSpPr>
        <p:spPr>
          <a:xfrm>
            <a:off x="6537960" y="2743200"/>
            <a:ext cx="475488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check what can be checked</a:t>
            </a:r>
          </a:p>
          <a:p>
            <a:pPr algn="l">
              <a:spcAft>
                <a:spcPts val="600"/>
              </a:spcAft>
            </a:pPr>
            <a:r>
              <a:rPr sz="1600" b="0" i="0">
                <a:solidFill>
                  <a:srgbClr val="141413"/>
                </a:solidFill>
                <a:latin typeface="Arial"/>
              </a:rPr>
              <a:t>• grade how strongly each claim stands</a:t>
            </a:r>
          </a:p>
          <a:p>
            <a:pPr algn="l">
              <a:spcAft>
                <a:spcPts val="600"/>
              </a:spcAft>
            </a:pPr>
            <a:r>
              <a:rPr sz="1600" b="0" i="0">
                <a:solidFill>
                  <a:srgbClr val="141413"/>
                </a:solidFill>
                <a:latin typeface="Arial"/>
              </a:rPr>
              <a:t>• try to break its own findings</a:t>
            </a:r>
          </a:p>
        </p:txBody>
      </p:sp>
      <p:sp>
        <p:nvSpPr>
          <p:cNvPr id="10" name="Rounded Rectangle 9"/>
          <p:cNvSpPr/>
          <p:nvPr/>
        </p:nvSpPr>
        <p:spPr>
          <a:xfrm>
            <a:off x="640080" y="502920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005840"/>
          </a:xfrm>
          <a:prstGeom prst="rect">
            <a:avLst/>
          </a:prstGeom>
          <a:noFill/>
        </p:spPr>
        <p:txBody>
          <a:bodyPr wrap="square" anchor="ctr" lIns="0" rIns="0" tIns="0" bIns="0">
            <a:spAutoFit/>
          </a:bodyPr>
          <a:lstStyle/>
          <a:p>
            <a:pPr algn="l"/>
            <a:r>
              <a:rPr sz="1800" b="1" i="0">
                <a:solidFill>
                  <a:srgbClr val="FFFFFF"/>
                </a:solidFill>
                <a:latin typeface="Arial"/>
              </a:rPr>
              <a:t>Seeing and checking — then it makes you own the value calls, instead of quietly making them for you.</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5/26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HOW IT WORKS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What happens when you hand it a problem</a:t>
            </a:r>
          </a:p>
        </p:txBody>
      </p:sp>
      <p:sp>
        <p:nvSpPr>
          <p:cNvPr id="4" name="Rounded Rectangle 3"/>
          <p:cNvSpPr/>
          <p:nvPr/>
        </p:nvSpPr>
        <p:spPr>
          <a:xfrm>
            <a:off x="640080"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1</a:t>
            </a:r>
          </a:p>
        </p:txBody>
      </p:sp>
      <p:sp>
        <p:nvSpPr>
          <p:cNvPr id="6" name="TextBox 5"/>
          <p:cNvSpPr txBox="1"/>
          <p:nvPr/>
        </p:nvSpPr>
        <p:spPr>
          <a:xfrm>
            <a:off x="822959"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Triage</a:t>
            </a:r>
          </a:p>
        </p:txBody>
      </p:sp>
      <p:sp>
        <p:nvSpPr>
          <p:cNvPr id="7" name="TextBox 6"/>
          <p:cNvSpPr txBox="1"/>
          <p:nvPr/>
        </p:nvSpPr>
        <p:spPr>
          <a:xfrm>
            <a:off x="822959"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size the effort first</a:t>
            </a:r>
          </a:p>
        </p:txBody>
      </p:sp>
      <p:sp>
        <p:nvSpPr>
          <p:cNvPr id="8" name="TextBox 7"/>
          <p:cNvSpPr txBox="1"/>
          <p:nvPr/>
        </p:nvSpPr>
        <p:spPr>
          <a:xfrm>
            <a:off x="822959"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9" name="TextBox 8"/>
          <p:cNvSpPr txBox="1"/>
          <p:nvPr/>
        </p:nvSpPr>
        <p:spPr>
          <a:xfrm>
            <a:off x="4087368" y="1371600"/>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10" name="Rounded Rectangle 9"/>
          <p:cNvSpPr/>
          <p:nvPr/>
        </p:nvSpPr>
        <p:spPr>
          <a:xfrm>
            <a:off x="4343400"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2</a:t>
            </a:r>
          </a:p>
        </p:txBody>
      </p:sp>
      <p:sp>
        <p:nvSpPr>
          <p:cNvPr id="12" name="TextBox 11"/>
          <p:cNvSpPr txBox="1"/>
          <p:nvPr/>
        </p:nvSpPr>
        <p:spPr>
          <a:xfrm>
            <a:off x="4526280"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Scoping</a:t>
            </a:r>
          </a:p>
        </p:txBody>
      </p:sp>
      <p:sp>
        <p:nvSpPr>
          <p:cNvPr id="13" name="TextBox 12"/>
          <p:cNvSpPr txBox="1"/>
          <p:nvPr/>
        </p:nvSpPr>
        <p:spPr>
          <a:xfrm>
            <a:off x="4526280"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optional clarifying Qs</a:t>
            </a:r>
          </a:p>
        </p:txBody>
      </p:sp>
      <p:sp>
        <p:nvSpPr>
          <p:cNvPr id="14" name="TextBox 13"/>
          <p:cNvSpPr txBox="1"/>
          <p:nvPr/>
        </p:nvSpPr>
        <p:spPr>
          <a:xfrm>
            <a:off x="4526280"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15" name="TextBox 14"/>
          <p:cNvSpPr txBox="1"/>
          <p:nvPr/>
        </p:nvSpPr>
        <p:spPr>
          <a:xfrm>
            <a:off x="7790688" y="1371600"/>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16" name="Rounded Rectangle 15"/>
          <p:cNvSpPr/>
          <p:nvPr/>
        </p:nvSpPr>
        <p:spPr>
          <a:xfrm>
            <a:off x="8046719" y="1371600"/>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9" y="1435608"/>
            <a:ext cx="3108960" cy="219456"/>
          </a:xfrm>
          <a:prstGeom prst="rect">
            <a:avLst/>
          </a:prstGeom>
          <a:noFill/>
        </p:spPr>
        <p:txBody>
          <a:bodyPr wrap="square" anchor="t" lIns="0" rIns="0" tIns="0" bIns="0">
            <a:spAutoFit/>
          </a:bodyPr>
          <a:lstStyle/>
          <a:p>
            <a:pPr algn="l"/>
            <a:r>
              <a:rPr sz="1000" b="1" i="0">
                <a:solidFill>
                  <a:srgbClr val="8A8578"/>
                </a:solidFill>
                <a:latin typeface="Arial"/>
              </a:rPr>
              <a:t>STEP 3</a:t>
            </a:r>
          </a:p>
        </p:txBody>
      </p:sp>
      <p:sp>
        <p:nvSpPr>
          <p:cNvPr id="18" name="TextBox 17"/>
          <p:cNvSpPr txBox="1"/>
          <p:nvPr/>
        </p:nvSpPr>
        <p:spPr>
          <a:xfrm>
            <a:off x="8229599" y="1645920"/>
            <a:ext cx="3108960" cy="365760"/>
          </a:xfrm>
          <a:prstGeom prst="rect">
            <a:avLst/>
          </a:prstGeom>
          <a:noFill/>
        </p:spPr>
        <p:txBody>
          <a:bodyPr wrap="square" anchor="t" lIns="0" rIns="0" tIns="0" bIns="0">
            <a:spAutoFit/>
          </a:bodyPr>
          <a:lstStyle/>
          <a:p>
            <a:pPr algn="l"/>
            <a:r>
              <a:rPr sz="1500" b="1" i="0">
                <a:solidFill>
                  <a:srgbClr val="4E79A6"/>
                </a:solidFill>
                <a:latin typeface="Arial"/>
              </a:rPr>
              <a:t>Provocation</a:t>
            </a:r>
          </a:p>
        </p:txBody>
      </p:sp>
      <p:sp>
        <p:nvSpPr>
          <p:cNvPr id="19" name="TextBox 18"/>
          <p:cNvSpPr txBox="1"/>
          <p:nvPr/>
        </p:nvSpPr>
        <p:spPr>
          <a:xfrm>
            <a:off x="8229599" y="2011680"/>
            <a:ext cx="3108960" cy="237744"/>
          </a:xfrm>
          <a:prstGeom prst="rect">
            <a:avLst/>
          </a:prstGeom>
          <a:noFill/>
        </p:spPr>
        <p:txBody>
          <a:bodyPr wrap="square" anchor="t" lIns="0" rIns="0" tIns="0" bIns="0">
            <a:spAutoFit/>
          </a:bodyPr>
          <a:lstStyle/>
          <a:p>
            <a:pPr algn="l"/>
            <a:r>
              <a:rPr sz="1200" b="0" i="0">
                <a:solidFill>
                  <a:srgbClr val="4A453D"/>
                </a:solidFill>
                <a:latin typeface="Arial"/>
              </a:rPr>
              <a:t>surface what hides</a:t>
            </a:r>
          </a:p>
        </p:txBody>
      </p:sp>
      <p:sp>
        <p:nvSpPr>
          <p:cNvPr id="20" name="TextBox 19"/>
          <p:cNvSpPr txBox="1"/>
          <p:nvPr/>
        </p:nvSpPr>
        <p:spPr>
          <a:xfrm>
            <a:off x="8229599" y="2267712"/>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21" name="Rounded Rectangle 20"/>
          <p:cNvSpPr/>
          <p:nvPr/>
        </p:nvSpPr>
        <p:spPr>
          <a:xfrm>
            <a:off x="640080"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4</a:t>
            </a:r>
          </a:p>
        </p:txBody>
      </p:sp>
      <p:sp>
        <p:nvSpPr>
          <p:cNvPr id="23" name="TextBox 22"/>
          <p:cNvSpPr txBox="1"/>
          <p:nvPr/>
        </p:nvSpPr>
        <p:spPr>
          <a:xfrm>
            <a:off x="822959" y="2907791"/>
            <a:ext cx="3108960" cy="365760"/>
          </a:xfrm>
          <a:prstGeom prst="rect">
            <a:avLst/>
          </a:prstGeom>
          <a:noFill/>
        </p:spPr>
        <p:txBody>
          <a:bodyPr wrap="square" anchor="t" lIns="0" rIns="0" tIns="0" bIns="0">
            <a:spAutoFit/>
          </a:bodyPr>
          <a:lstStyle/>
          <a:p>
            <a:pPr algn="l"/>
            <a:r>
              <a:rPr sz="1500" b="1" i="0">
                <a:solidFill>
                  <a:srgbClr val="5F7249"/>
                </a:solidFill>
                <a:latin typeface="Arial"/>
              </a:rPr>
              <a:t>Verification</a:t>
            </a:r>
          </a:p>
        </p:txBody>
      </p:sp>
      <p:sp>
        <p:nvSpPr>
          <p:cNvPr id="24" name="TextBox 23"/>
          <p:cNvSpPr txBox="1"/>
          <p:nvPr/>
        </p:nvSpPr>
        <p:spPr>
          <a:xfrm>
            <a:off x="822959"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grade every claim</a:t>
            </a:r>
          </a:p>
        </p:txBody>
      </p:sp>
      <p:sp>
        <p:nvSpPr>
          <p:cNvPr id="25" name="TextBox 24"/>
          <p:cNvSpPr txBox="1"/>
          <p:nvPr/>
        </p:nvSpPr>
        <p:spPr>
          <a:xfrm>
            <a:off x="822959"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/insight-engine:verify</a:t>
            </a:r>
          </a:p>
        </p:txBody>
      </p:sp>
      <p:sp>
        <p:nvSpPr>
          <p:cNvPr id="26" name="TextBox 25"/>
          <p:cNvSpPr txBox="1"/>
          <p:nvPr/>
        </p:nvSpPr>
        <p:spPr>
          <a:xfrm>
            <a:off x="4087368" y="2633472"/>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27" name="Rounded Rectangle 26"/>
          <p:cNvSpPr/>
          <p:nvPr/>
        </p:nvSpPr>
        <p:spPr>
          <a:xfrm>
            <a:off x="4343400"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6280"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5</a:t>
            </a:r>
          </a:p>
        </p:txBody>
      </p:sp>
      <p:sp>
        <p:nvSpPr>
          <p:cNvPr id="29" name="TextBox 28"/>
          <p:cNvSpPr txBox="1"/>
          <p:nvPr/>
        </p:nvSpPr>
        <p:spPr>
          <a:xfrm>
            <a:off x="4526280" y="2907791"/>
            <a:ext cx="3108960" cy="365760"/>
          </a:xfrm>
          <a:prstGeom prst="rect">
            <a:avLst/>
          </a:prstGeom>
          <a:noFill/>
        </p:spPr>
        <p:txBody>
          <a:bodyPr wrap="square" anchor="t" lIns="0" rIns="0" tIns="0" bIns="0">
            <a:spAutoFit/>
          </a:bodyPr>
          <a:lstStyle/>
          <a:p>
            <a:pPr algn="l"/>
            <a:r>
              <a:rPr sz="1500" b="1" i="0">
                <a:solidFill>
                  <a:srgbClr val="4E79A6"/>
                </a:solidFill>
                <a:latin typeface="Arial"/>
              </a:rPr>
              <a:t>Systems pass</a:t>
            </a:r>
          </a:p>
        </p:txBody>
      </p:sp>
      <p:sp>
        <p:nvSpPr>
          <p:cNvPr id="30" name="TextBox 29"/>
          <p:cNvSpPr txBox="1"/>
          <p:nvPr/>
        </p:nvSpPr>
        <p:spPr>
          <a:xfrm>
            <a:off x="4526280"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conditional</a:t>
            </a:r>
          </a:p>
        </p:txBody>
      </p:sp>
      <p:sp>
        <p:nvSpPr>
          <p:cNvPr id="31" name="TextBox 30"/>
          <p:cNvSpPr txBox="1"/>
          <p:nvPr/>
        </p:nvSpPr>
        <p:spPr>
          <a:xfrm>
            <a:off x="4526280"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32" name="TextBox 31"/>
          <p:cNvSpPr txBox="1"/>
          <p:nvPr/>
        </p:nvSpPr>
        <p:spPr>
          <a:xfrm>
            <a:off x="7790688" y="2633472"/>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33" name="Rounded Rectangle 32"/>
          <p:cNvSpPr/>
          <p:nvPr/>
        </p:nvSpPr>
        <p:spPr>
          <a:xfrm>
            <a:off x="8046719" y="2633472"/>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9" y="2697479"/>
            <a:ext cx="3108960" cy="219456"/>
          </a:xfrm>
          <a:prstGeom prst="rect">
            <a:avLst/>
          </a:prstGeom>
          <a:noFill/>
        </p:spPr>
        <p:txBody>
          <a:bodyPr wrap="square" anchor="t" lIns="0" rIns="0" tIns="0" bIns="0">
            <a:spAutoFit/>
          </a:bodyPr>
          <a:lstStyle/>
          <a:p>
            <a:pPr algn="l"/>
            <a:r>
              <a:rPr sz="1000" b="1" i="0">
                <a:solidFill>
                  <a:srgbClr val="8A8578"/>
                </a:solidFill>
                <a:latin typeface="Arial"/>
              </a:rPr>
              <a:t>STEP 6</a:t>
            </a:r>
          </a:p>
        </p:txBody>
      </p:sp>
      <p:sp>
        <p:nvSpPr>
          <p:cNvPr id="35" name="TextBox 34"/>
          <p:cNvSpPr txBox="1"/>
          <p:nvPr/>
        </p:nvSpPr>
        <p:spPr>
          <a:xfrm>
            <a:off x="8229599" y="2907791"/>
            <a:ext cx="3108960" cy="365760"/>
          </a:xfrm>
          <a:prstGeom prst="rect">
            <a:avLst/>
          </a:prstGeom>
          <a:noFill/>
        </p:spPr>
        <p:txBody>
          <a:bodyPr wrap="square" anchor="t" lIns="0" rIns="0" tIns="0" bIns="0">
            <a:spAutoFit/>
          </a:bodyPr>
          <a:lstStyle/>
          <a:p>
            <a:pPr algn="l"/>
            <a:r>
              <a:rPr sz="1500" b="1" i="0">
                <a:solidFill>
                  <a:srgbClr val="4E79A6"/>
                </a:solidFill>
                <a:latin typeface="Arial"/>
              </a:rPr>
              <a:t>Deep-core</a:t>
            </a:r>
          </a:p>
        </p:txBody>
      </p:sp>
      <p:sp>
        <p:nvSpPr>
          <p:cNvPr id="36" name="TextBox 35"/>
          <p:cNvSpPr txBox="1"/>
          <p:nvPr/>
        </p:nvSpPr>
        <p:spPr>
          <a:xfrm>
            <a:off x="8229599" y="3273552"/>
            <a:ext cx="3108960" cy="237744"/>
          </a:xfrm>
          <a:prstGeom prst="rect">
            <a:avLst/>
          </a:prstGeom>
          <a:noFill/>
        </p:spPr>
        <p:txBody>
          <a:bodyPr wrap="square" anchor="t" lIns="0" rIns="0" tIns="0" bIns="0">
            <a:spAutoFit/>
          </a:bodyPr>
          <a:lstStyle/>
          <a:p>
            <a:pPr algn="l"/>
            <a:r>
              <a:rPr sz="1200" b="0" i="0">
                <a:solidFill>
                  <a:srgbClr val="4A453D"/>
                </a:solidFill>
                <a:latin typeface="Arial"/>
              </a:rPr>
              <a:t>set aside un-answerable</a:t>
            </a:r>
          </a:p>
        </p:txBody>
      </p:sp>
      <p:sp>
        <p:nvSpPr>
          <p:cNvPr id="37" name="TextBox 36"/>
          <p:cNvSpPr txBox="1"/>
          <p:nvPr/>
        </p:nvSpPr>
        <p:spPr>
          <a:xfrm>
            <a:off x="8229599" y="3529584"/>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38" name="Rounded Rectangle 37"/>
          <p:cNvSpPr/>
          <p:nvPr/>
        </p:nvSpPr>
        <p:spPr>
          <a:xfrm>
            <a:off x="640080"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7</a:t>
            </a:r>
          </a:p>
        </p:txBody>
      </p:sp>
      <p:sp>
        <p:nvSpPr>
          <p:cNvPr id="40" name="TextBox 39"/>
          <p:cNvSpPr txBox="1"/>
          <p:nvPr/>
        </p:nvSpPr>
        <p:spPr>
          <a:xfrm>
            <a:off x="822959" y="4169663"/>
            <a:ext cx="3108960" cy="365760"/>
          </a:xfrm>
          <a:prstGeom prst="rect">
            <a:avLst/>
          </a:prstGeom>
          <a:noFill/>
        </p:spPr>
        <p:txBody>
          <a:bodyPr wrap="square" anchor="t" lIns="0" rIns="0" tIns="0" bIns="0">
            <a:spAutoFit/>
          </a:bodyPr>
          <a:lstStyle/>
          <a:p>
            <a:pPr algn="l"/>
            <a:r>
              <a:rPr sz="1500" b="1" i="0">
                <a:solidFill>
                  <a:srgbClr val="5F7249"/>
                </a:solidFill>
                <a:latin typeface="Arial"/>
              </a:rPr>
              <a:t>Grade-lock</a:t>
            </a:r>
          </a:p>
        </p:txBody>
      </p:sp>
      <p:sp>
        <p:nvSpPr>
          <p:cNvPr id="41" name="TextBox 40"/>
          <p:cNvSpPr txBox="1"/>
          <p:nvPr/>
        </p:nvSpPr>
        <p:spPr>
          <a:xfrm>
            <a:off x="822959"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fix + stress-test</a:t>
            </a:r>
          </a:p>
        </p:txBody>
      </p:sp>
      <p:sp>
        <p:nvSpPr>
          <p:cNvPr id="42" name="TextBox 41"/>
          <p:cNvSpPr txBox="1"/>
          <p:nvPr/>
        </p:nvSpPr>
        <p:spPr>
          <a:xfrm>
            <a:off x="822959"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43" name="TextBox 42"/>
          <p:cNvSpPr txBox="1"/>
          <p:nvPr/>
        </p:nvSpPr>
        <p:spPr>
          <a:xfrm>
            <a:off x="4087368" y="3895344"/>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44" name="Rounded Rectangle 43"/>
          <p:cNvSpPr/>
          <p:nvPr/>
        </p:nvSpPr>
        <p:spPr>
          <a:xfrm>
            <a:off x="4343400"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26280"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8</a:t>
            </a:r>
          </a:p>
        </p:txBody>
      </p:sp>
      <p:sp>
        <p:nvSpPr>
          <p:cNvPr id="46" name="TextBox 45"/>
          <p:cNvSpPr txBox="1"/>
          <p:nvPr/>
        </p:nvSpPr>
        <p:spPr>
          <a:xfrm>
            <a:off x="4526280" y="4169663"/>
            <a:ext cx="3108960" cy="365760"/>
          </a:xfrm>
          <a:prstGeom prst="rect">
            <a:avLst/>
          </a:prstGeom>
          <a:noFill/>
        </p:spPr>
        <p:txBody>
          <a:bodyPr wrap="square" anchor="t" lIns="0" rIns="0" tIns="0" bIns="0">
            <a:spAutoFit/>
          </a:bodyPr>
          <a:lstStyle/>
          <a:p>
            <a:pPr algn="l"/>
            <a:r>
              <a:rPr sz="1500" b="1" i="0">
                <a:solidFill>
                  <a:srgbClr val="D97757"/>
                </a:solidFill>
                <a:latin typeface="Arial"/>
              </a:rPr>
              <a:t>THE GATE</a:t>
            </a:r>
          </a:p>
        </p:txBody>
      </p:sp>
      <p:sp>
        <p:nvSpPr>
          <p:cNvPr id="47" name="TextBox 46"/>
          <p:cNvSpPr txBox="1"/>
          <p:nvPr/>
        </p:nvSpPr>
        <p:spPr>
          <a:xfrm>
            <a:off x="4526280"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your judgment</a:t>
            </a:r>
          </a:p>
        </p:txBody>
      </p:sp>
      <p:sp>
        <p:nvSpPr>
          <p:cNvPr id="48" name="TextBox 47"/>
          <p:cNvSpPr txBox="1"/>
          <p:nvPr/>
        </p:nvSpPr>
        <p:spPr>
          <a:xfrm>
            <a:off x="4526280"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49" name="TextBox 48"/>
          <p:cNvSpPr txBox="1"/>
          <p:nvPr/>
        </p:nvSpPr>
        <p:spPr>
          <a:xfrm>
            <a:off x="7790688" y="3895344"/>
            <a:ext cx="237744" cy="1152144"/>
          </a:xfrm>
          <a:prstGeom prst="rect">
            <a:avLst/>
          </a:prstGeom>
          <a:noFill/>
        </p:spPr>
        <p:txBody>
          <a:bodyPr wrap="square" anchor="ctr" lIns="0" rIns="0" tIns="0" bIns="0">
            <a:spAutoFit/>
          </a:bodyPr>
          <a:lstStyle/>
          <a:p>
            <a:pPr algn="ctr"/>
            <a:r>
              <a:rPr sz="1800" b="0" i="0">
                <a:solidFill>
                  <a:srgbClr val="8A8578"/>
                </a:solidFill>
                <a:latin typeface="Arial"/>
              </a:rPr>
              <a:t>‣</a:t>
            </a:r>
          </a:p>
        </p:txBody>
      </p:sp>
      <p:sp>
        <p:nvSpPr>
          <p:cNvPr id="50" name="Rounded Rectangle 49"/>
          <p:cNvSpPr/>
          <p:nvPr/>
        </p:nvSpPr>
        <p:spPr>
          <a:xfrm>
            <a:off x="8046719" y="3895344"/>
            <a:ext cx="342900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959352"/>
            <a:ext cx="3108960" cy="219456"/>
          </a:xfrm>
          <a:prstGeom prst="rect">
            <a:avLst/>
          </a:prstGeom>
          <a:noFill/>
        </p:spPr>
        <p:txBody>
          <a:bodyPr wrap="square" anchor="t" lIns="0" rIns="0" tIns="0" bIns="0">
            <a:spAutoFit/>
          </a:bodyPr>
          <a:lstStyle/>
          <a:p>
            <a:pPr algn="l"/>
            <a:r>
              <a:rPr sz="1000" b="1" i="0">
                <a:solidFill>
                  <a:srgbClr val="8A8578"/>
                </a:solidFill>
                <a:latin typeface="Arial"/>
              </a:rPr>
              <a:t>STEP 9</a:t>
            </a:r>
          </a:p>
        </p:txBody>
      </p:sp>
      <p:sp>
        <p:nvSpPr>
          <p:cNvPr id="52" name="TextBox 51"/>
          <p:cNvSpPr txBox="1"/>
          <p:nvPr/>
        </p:nvSpPr>
        <p:spPr>
          <a:xfrm>
            <a:off x="8229599" y="4169663"/>
            <a:ext cx="3108960" cy="365760"/>
          </a:xfrm>
          <a:prstGeom prst="rect">
            <a:avLst/>
          </a:prstGeom>
          <a:noFill/>
        </p:spPr>
        <p:txBody>
          <a:bodyPr wrap="square" anchor="t" lIns="0" rIns="0" tIns="0" bIns="0">
            <a:spAutoFit/>
          </a:bodyPr>
          <a:lstStyle/>
          <a:p>
            <a:pPr algn="l"/>
            <a:r>
              <a:rPr sz="1500" b="1" i="0">
                <a:solidFill>
                  <a:srgbClr val="4E79A6"/>
                </a:solidFill>
                <a:latin typeface="Arial"/>
              </a:rPr>
              <a:t>Decision brief</a:t>
            </a:r>
          </a:p>
        </p:txBody>
      </p:sp>
      <p:sp>
        <p:nvSpPr>
          <p:cNvPr id="53" name="TextBox 52"/>
          <p:cNvSpPr txBox="1"/>
          <p:nvPr/>
        </p:nvSpPr>
        <p:spPr>
          <a:xfrm>
            <a:off x="8229599" y="4535424"/>
            <a:ext cx="3108960" cy="237744"/>
          </a:xfrm>
          <a:prstGeom prst="rect">
            <a:avLst/>
          </a:prstGeom>
          <a:noFill/>
        </p:spPr>
        <p:txBody>
          <a:bodyPr wrap="square" anchor="t" lIns="0" rIns="0" tIns="0" bIns="0">
            <a:spAutoFit/>
          </a:bodyPr>
          <a:lstStyle/>
          <a:p>
            <a:pPr algn="l"/>
            <a:r>
              <a:rPr sz="1200" b="0" i="0">
                <a:solidFill>
                  <a:srgbClr val="4A453D"/>
                </a:solidFill>
                <a:latin typeface="Arial"/>
              </a:rPr>
              <a:t>the call · what flips it</a:t>
            </a:r>
          </a:p>
        </p:txBody>
      </p:sp>
      <p:sp>
        <p:nvSpPr>
          <p:cNvPr id="54" name="TextBox 53"/>
          <p:cNvSpPr txBox="1"/>
          <p:nvPr/>
        </p:nvSpPr>
        <p:spPr>
          <a:xfrm>
            <a:off x="8229599" y="4791456"/>
            <a:ext cx="3108960" cy="201168"/>
          </a:xfrm>
          <a:prstGeom prst="rect">
            <a:avLst/>
          </a:prstGeom>
          <a:noFill/>
        </p:spPr>
        <p:txBody>
          <a:bodyPr wrap="square" anchor="t" lIns="0" rIns="0" tIns="0" bIns="0">
            <a:spAutoFit/>
          </a:bodyPr>
          <a:lstStyle/>
          <a:p>
            <a:pPr algn="l"/>
            <a:r>
              <a:rPr sz="850" b="0" i="0">
                <a:solidFill>
                  <a:srgbClr val="8A8578"/>
                </a:solidFill>
                <a:latin typeface="Consolas"/>
              </a:rPr>
              <a:t>/insight-engine:analyse</a:t>
            </a:r>
          </a:p>
        </p:txBody>
      </p:sp>
      <p:sp>
        <p:nvSpPr>
          <p:cNvPr id="55" name="Rounded Rectangle 54"/>
          <p:cNvSpPr/>
          <p:nvPr/>
        </p:nvSpPr>
        <p:spPr>
          <a:xfrm>
            <a:off x="640080"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2959"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10</a:t>
            </a:r>
          </a:p>
        </p:txBody>
      </p:sp>
      <p:sp>
        <p:nvSpPr>
          <p:cNvPr id="57" name="TextBox 56"/>
          <p:cNvSpPr txBox="1"/>
          <p:nvPr/>
        </p:nvSpPr>
        <p:spPr>
          <a:xfrm>
            <a:off x="822959"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Adjudication</a:t>
            </a:r>
          </a:p>
        </p:txBody>
      </p:sp>
      <p:sp>
        <p:nvSpPr>
          <p:cNvPr id="58" name="TextBox 57"/>
          <p:cNvSpPr txBox="1"/>
          <p:nvPr/>
        </p:nvSpPr>
        <p:spPr>
          <a:xfrm>
            <a:off x="822959"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opt-in · 2nd-model check</a:t>
            </a:r>
          </a:p>
        </p:txBody>
      </p:sp>
      <p:sp>
        <p:nvSpPr>
          <p:cNvPr id="59" name="TextBox 58"/>
          <p:cNvSpPr txBox="1"/>
          <p:nvPr/>
        </p:nvSpPr>
        <p:spPr>
          <a:xfrm>
            <a:off x="822959"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/insight-engine:adjudicate</a:t>
            </a:r>
          </a:p>
        </p:txBody>
      </p:sp>
      <p:sp>
        <p:nvSpPr>
          <p:cNvPr id="60" name="TextBox 59"/>
          <p:cNvSpPr txBox="1"/>
          <p:nvPr/>
        </p:nvSpPr>
        <p:spPr>
          <a:xfrm>
            <a:off x="4087368" y="5157216"/>
            <a:ext cx="237744" cy="1152144"/>
          </a:xfrm>
          <a:prstGeom prst="rect">
            <a:avLst/>
          </a:prstGeom>
          <a:noFill/>
        </p:spPr>
        <p:txBody>
          <a:bodyPr wrap="square" anchor="ctr" lIns="0" rIns="0" tIns="0" bIns="0">
            <a:spAutoFit/>
          </a:bodyPr>
          <a:lstStyle/>
          <a:p>
            <a:pPr algn="ctr"/>
            <a:r>
              <a:rPr sz="1800" b="0" i="0">
                <a:solidFill>
                  <a:srgbClr val="7A3F28"/>
                </a:solidFill>
                <a:latin typeface="Arial"/>
              </a:rPr>
              <a:t>‣</a:t>
            </a:r>
          </a:p>
        </p:txBody>
      </p:sp>
      <p:sp>
        <p:nvSpPr>
          <p:cNvPr id="61" name="Rounded Rectangle 60"/>
          <p:cNvSpPr/>
          <p:nvPr/>
        </p:nvSpPr>
        <p:spPr>
          <a:xfrm>
            <a:off x="4343400"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26280"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11</a:t>
            </a:r>
          </a:p>
        </p:txBody>
      </p:sp>
      <p:sp>
        <p:nvSpPr>
          <p:cNvPr id="63" name="TextBox 62"/>
          <p:cNvSpPr txBox="1"/>
          <p:nvPr/>
        </p:nvSpPr>
        <p:spPr>
          <a:xfrm>
            <a:off x="4526280"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Render</a:t>
            </a:r>
          </a:p>
        </p:txBody>
      </p:sp>
      <p:sp>
        <p:nvSpPr>
          <p:cNvPr id="64" name="TextBox 63"/>
          <p:cNvSpPr txBox="1"/>
          <p:nvPr/>
        </p:nvSpPr>
        <p:spPr>
          <a:xfrm>
            <a:off x="4526280"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re-voice for a reader</a:t>
            </a:r>
          </a:p>
        </p:txBody>
      </p:sp>
      <p:sp>
        <p:nvSpPr>
          <p:cNvPr id="65" name="TextBox 64"/>
          <p:cNvSpPr txBox="1"/>
          <p:nvPr/>
        </p:nvSpPr>
        <p:spPr>
          <a:xfrm>
            <a:off x="4526280"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/insight-engine:render</a:t>
            </a:r>
          </a:p>
        </p:txBody>
      </p:sp>
      <p:sp>
        <p:nvSpPr>
          <p:cNvPr id="66" name="TextBox 65"/>
          <p:cNvSpPr txBox="1"/>
          <p:nvPr/>
        </p:nvSpPr>
        <p:spPr>
          <a:xfrm>
            <a:off x="7790688" y="5157216"/>
            <a:ext cx="237744" cy="1152144"/>
          </a:xfrm>
          <a:prstGeom prst="rect">
            <a:avLst/>
          </a:prstGeom>
          <a:noFill/>
        </p:spPr>
        <p:txBody>
          <a:bodyPr wrap="square" anchor="ctr" lIns="0" rIns="0" tIns="0" bIns="0">
            <a:spAutoFit/>
          </a:bodyPr>
          <a:lstStyle/>
          <a:p>
            <a:pPr algn="ctr"/>
            <a:r>
              <a:rPr sz="1800" b="0" i="0">
                <a:solidFill>
                  <a:srgbClr val="7A3F28"/>
                </a:solidFill>
                <a:latin typeface="Arial"/>
              </a:rPr>
              <a:t>‣</a:t>
            </a:r>
          </a:p>
        </p:txBody>
      </p:sp>
      <p:sp>
        <p:nvSpPr>
          <p:cNvPr id="67" name="Rounded Rectangle 66"/>
          <p:cNvSpPr/>
          <p:nvPr/>
        </p:nvSpPr>
        <p:spPr>
          <a:xfrm>
            <a:off x="8046719" y="5157216"/>
            <a:ext cx="3429000" cy="1152144"/>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29599" y="5221224"/>
            <a:ext cx="3108960" cy="219456"/>
          </a:xfrm>
          <a:prstGeom prst="rect">
            <a:avLst/>
          </a:prstGeom>
          <a:noFill/>
        </p:spPr>
        <p:txBody>
          <a:bodyPr wrap="square" anchor="t" lIns="0" rIns="0" tIns="0" bIns="0">
            <a:spAutoFit/>
          </a:bodyPr>
          <a:lstStyle/>
          <a:p>
            <a:pPr algn="l"/>
            <a:r>
              <a:rPr sz="1000" b="1" i="0">
                <a:solidFill>
                  <a:srgbClr val="7A3F28"/>
                </a:solidFill>
                <a:latin typeface="Arial"/>
              </a:rPr>
              <a:t>STEP 12</a:t>
            </a:r>
          </a:p>
        </p:txBody>
      </p:sp>
      <p:sp>
        <p:nvSpPr>
          <p:cNvPr id="69" name="TextBox 68"/>
          <p:cNvSpPr txBox="1"/>
          <p:nvPr/>
        </p:nvSpPr>
        <p:spPr>
          <a:xfrm>
            <a:off x="8229599" y="5431536"/>
            <a:ext cx="3108960" cy="365760"/>
          </a:xfrm>
          <a:prstGeom prst="rect">
            <a:avLst/>
          </a:prstGeom>
          <a:noFill/>
        </p:spPr>
        <p:txBody>
          <a:bodyPr wrap="square" anchor="t" lIns="0" rIns="0" tIns="0" bIns="0">
            <a:spAutoFit/>
          </a:bodyPr>
          <a:lstStyle/>
          <a:p>
            <a:pPr algn="l"/>
            <a:r>
              <a:rPr sz="1500" b="1" i="0">
                <a:solidFill>
                  <a:srgbClr val="7A3F28"/>
                </a:solidFill>
                <a:latin typeface="Arial"/>
              </a:rPr>
              <a:t>Track</a:t>
            </a:r>
          </a:p>
        </p:txBody>
      </p:sp>
      <p:sp>
        <p:nvSpPr>
          <p:cNvPr id="70" name="TextBox 69"/>
          <p:cNvSpPr txBox="1"/>
          <p:nvPr/>
        </p:nvSpPr>
        <p:spPr>
          <a:xfrm>
            <a:off x="8229599" y="5797296"/>
            <a:ext cx="3108960" cy="237744"/>
          </a:xfrm>
          <a:prstGeom prst="rect">
            <a:avLst/>
          </a:prstGeom>
          <a:noFill/>
        </p:spPr>
        <p:txBody>
          <a:bodyPr wrap="square" anchor="t" lIns="0" rIns="0" tIns="0" bIns="0">
            <a:spAutoFit/>
          </a:bodyPr>
          <a:lstStyle/>
          <a:p>
            <a:pPr algn="l"/>
            <a:r>
              <a:rPr sz="1200" b="0" i="0">
                <a:solidFill>
                  <a:srgbClr val="7A3F28"/>
                </a:solidFill>
                <a:latin typeface="Arial"/>
              </a:rPr>
              <a:t>keep it live as facts arrive</a:t>
            </a:r>
          </a:p>
        </p:txBody>
      </p:sp>
      <p:sp>
        <p:nvSpPr>
          <p:cNvPr id="71" name="TextBox 70"/>
          <p:cNvSpPr txBox="1"/>
          <p:nvPr/>
        </p:nvSpPr>
        <p:spPr>
          <a:xfrm>
            <a:off x="8229599" y="6053327"/>
            <a:ext cx="3108960" cy="201168"/>
          </a:xfrm>
          <a:prstGeom prst="rect">
            <a:avLst/>
          </a:prstGeom>
          <a:noFill/>
        </p:spPr>
        <p:txBody>
          <a:bodyPr wrap="square" anchor="t" lIns="0" rIns="0" tIns="0" bIns="0">
            <a:spAutoFit/>
          </a:bodyPr>
          <a:lstStyle/>
          <a:p>
            <a:pPr algn="l"/>
            <a:r>
              <a:rPr sz="850" b="0" i="0">
                <a:solidFill>
                  <a:srgbClr val="7A3F28"/>
                </a:solidFill>
                <a:latin typeface="Consolas"/>
              </a:rPr>
              <a:t>/insight-engine:track</a:t>
            </a:r>
          </a:p>
        </p:txBody>
      </p:sp>
      <p:sp>
        <p:nvSpPr>
          <p:cNvPr id="72" name="TextBox 7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6/26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 · PROPORTIONALITY TRIAGE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First, decide how hard to look.</a:t>
            </a:r>
          </a:p>
        </p:txBody>
      </p:sp>
      <p:sp>
        <p:nvSpPr>
          <p:cNvPr id="4" name="Rounded Rectangle 3"/>
          <p:cNvSpPr/>
          <p:nvPr/>
        </p:nvSpPr>
        <p:spPr>
          <a:xfrm>
            <a:off x="640080" y="1783080"/>
            <a:ext cx="672084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900" b="1" i="0">
                <a:solidFill>
                  <a:srgbClr val="4E79A6"/>
                </a:solidFill>
                <a:latin typeface="Arial"/>
              </a:rPr>
              <a:t>Runs the FULL method — the default</a:t>
            </a:r>
          </a:p>
        </p:txBody>
      </p:sp>
      <p:sp>
        <p:nvSpPr>
          <p:cNvPr id="6" name="TextBox 5"/>
          <p:cNvSpPr txBox="1"/>
          <p:nvPr/>
        </p:nvSpPr>
        <p:spPr>
          <a:xfrm>
            <a:off x="914400" y="2651760"/>
            <a:ext cx="6217920" cy="2286000"/>
          </a:xfrm>
          <a:prstGeom prst="rect">
            <a:avLst/>
          </a:prstGeom>
          <a:noFill/>
        </p:spPr>
        <p:txBody>
          <a:bodyPr wrap="square" anchor="t" lIns="0" rIns="0" tIns="0" bIns="0">
            <a:spAutoFit/>
          </a:bodyPr>
          <a:lstStyle/>
          <a:p>
            <a:pPr algn="l">
              <a:spcAft>
                <a:spcPts val="400"/>
              </a:spcAft>
            </a:pPr>
            <a:r>
              <a:rPr sz="1500" b="0" i="1">
                <a:solidFill>
                  <a:srgbClr val="4A453D"/>
                </a:solidFill>
                <a:latin typeface="Arial"/>
              </a:rPr>
              <a:t>Any one of these is enough:</a:t>
            </a:r>
          </a:p>
          <a:p>
            <a:pPr algn="l">
              <a:spcAft>
                <a:spcPts val="400"/>
              </a:spcAft>
            </a:pPr>
            <a:r>
              <a:rPr sz="1600" b="0" i="0">
                <a:solidFill>
                  <a:srgbClr val="141413"/>
                </a:solidFill>
                <a:latin typeface="Arial"/>
              </a:rPr>
              <a:t>• irreversible</a:t>
            </a:r>
          </a:p>
          <a:p>
            <a:pPr algn="l">
              <a:spcAft>
                <a:spcPts val="400"/>
              </a:spcAft>
            </a:pPr>
            <a:r>
              <a:rPr sz="1600" b="0" i="0">
                <a:solidFill>
                  <a:srgbClr val="141413"/>
                </a:solidFill>
                <a:latin typeface="Arial"/>
              </a:rPr>
              <a:t>• someone bound who isn't in the room</a:t>
            </a:r>
          </a:p>
          <a:p>
            <a:pPr algn="l">
              <a:spcAft>
                <a:spcPts val="400"/>
              </a:spcAft>
            </a:pPr>
            <a:r>
              <a:rPr sz="1600" b="0" i="0">
                <a:solidFill>
                  <a:srgbClr val="141413"/>
                </a:solidFill>
                <a:latin typeface="Arial"/>
              </a:rPr>
              <a:t>• real money or dependency</a:t>
            </a:r>
          </a:p>
          <a:p>
            <a:pPr algn="l">
              <a:spcAft>
                <a:spcPts val="400"/>
              </a:spcAft>
            </a:pPr>
            <a:r>
              <a:rPr sz="1600" b="0" i="0">
                <a:solidFill>
                  <a:srgbClr val="141413"/>
                </a:solidFill>
                <a:latin typeface="Arial"/>
              </a:rPr>
              <a:t>• legal or regulatory exposure</a:t>
            </a:r>
          </a:p>
          <a:p>
            <a:pPr algn="l">
              <a:spcAft>
                <a:spcPts val="400"/>
              </a:spcAft>
            </a:pPr>
            <a:r>
              <a:rPr sz="1600" b="0" i="0">
                <a:solidFill>
                  <a:srgbClr val="141413"/>
                </a:solidFill>
                <a:latin typeface="Arial"/>
              </a:rPr>
              <a:t>• contested values</a:t>
            </a:r>
          </a:p>
          <a:p>
            <a:pPr algn="l">
              <a:spcAft>
                <a:spcPts val="400"/>
              </a:spcAft>
            </a:pPr>
            <a:r>
              <a:rPr sz="1600" b="0" i="0">
                <a:solidFill>
                  <a:srgbClr val="141413"/>
                </a:solidFill>
                <a:latin typeface="Arial"/>
              </a:rPr>
              <a:t>• a party who benefits from light scrutiny</a:t>
            </a:r>
          </a:p>
        </p:txBody>
      </p:sp>
      <p:sp>
        <p:nvSpPr>
          <p:cNvPr id="7" name="Rounded Rectangle 6"/>
          <p:cNvSpPr/>
          <p:nvPr/>
        </p:nvSpPr>
        <p:spPr>
          <a:xfrm>
            <a:off x="7589520" y="1783080"/>
            <a:ext cx="395935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900" b="1" i="0">
                <a:solidFill>
                  <a:srgbClr val="4A453D"/>
                </a:solidFill>
                <a:latin typeface="Arial"/>
              </a:rPr>
              <a:t>A short answer — rare</a:t>
            </a:r>
          </a:p>
        </p:txBody>
      </p:sp>
      <p:sp>
        <p:nvSpPr>
          <p:cNvPr id="9" name="TextBox 8"/>
          <p:cNvSpPr txBox="1"/>
          <p:nvPr/>
        </p:nvSpPr>
        <p:spPr>
          <a:xfrm>
            <a:off x="7863840" y="2651760"/>
            <a:ext cx="3429000" cy="2194560"/>
          </a:xfrm>
          <a:prstGeom prst="rect">
            <a:avLst/>
          </a:prstGeom>
          <a:noFill/>
        </p:spPr>
        <p:txBody>
          <a:bodyPr wrap="square" anchor="t" lIns="0" rIns="0" tIns="0" bIns="0">
            <a:spAutoFit/>
          </a:bodyPr>
          <a:lstStyle/>
          <a:p>
            <a:pPr algn="l"/>
            <a:r>
              <a:rPr sz="1700" b="0" i="0">
                <a:solidFill>
                  <a:srgbClr val="4A453D"/>
                </a:solidFill>
                <a:latin typeface="Arial"/>
              </a:rPr>
              <a:t>Only when the problem is unambiguously routine, reversible, and binds nobody. Under any doubt, it runs the full method.</a:t>
            </a:r>
          </a:p>
        </p:txBody>
      </p:sp>
      <p:sp>
        <p:nvSpPr>
          <p:cNvPr id="10" name="Rounded Rectangle 9"/>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A little over-analysis is cheap.  </a:t>
            </a:r>
          </a:p>
          <a:p>
            <a:pPr algn="l"/>
            <a:r>
              <a:rPr sz="1800" b="1" i="0">
                <a:solidFill>
                  <a:srgbClr val="FAF9F5"/>
                </a:solidFill>
                <a:latin typeface="Arial"/>
              </a:rPr>
              <a:t>Treating a serious problem as routine is not.</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7/26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2 · OPTIONAL SCOPING</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Five questions you can answer — or skip.</a:t>
            </a:r>
          </a:p>
        </p:txBody>
      </p:sp>
      <p:sp>
        <p:nvSpPr>
          <p:cNvPr id="4" name="Rounded Rectangle 3"/>
          <p:cNvSpPr/>
          <p:nvPr/>
        </p:nvSpPr>
        <p:spPr>
          <a:xfrm>
            <a:off x="640080" y="1783080"/>
            <a:ext cx="1090879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93392"/>
            <a:ext cx="10241280" cy="2743200"/>
          </a:xfrm>
          <a:prstGeom prst="rect">
            <a:avLst/>
          </a:prstGeom>
          <a:noFill/>
        </p:spPr>
        <p:txBody>
          <a:bodyPr wrap="square" anchor="t" lIns="0" rIns="0" tIns="0" bIns="0">
            <a:spAutoFit/>
          </a:bodyPr>
          <a:lstStyle/>
          <a:p>
            <a:pPr algn="l">
              <a:spcAft>
                <a:spcPts val="700"/>
              </a:spcAft>
            </a:pPr>
            <a:r>
              <a:rPr sz="1600" b="0" i="0">
                <a:solidFill>
                  <a:srgbClr val="4A453D"/>
                </a:solidFill>
                <a:latin typeface="Arial"/>
              </a:rPr>
              <a:t>Before the analysis, the engine offers up to five clarifying questions — one thing each, all skippable:</a:t>
            </a:r>
          </a:p>
          <a:p>
            <a:pPr algn="l">
              <a:spcAft>
                <a:spcPts val="700"/>
              </a:spcAft>
            </a:pPr>
            <a:r>
              <a:rPr sz="1500" b="0" i="0">
                <a:solidFill>
                  <a:srgbClr val="141413"/>
                </a:solidFill>
                <a:latin typeface="Arial"/>
              </a:rPr>
              <a:t>1 · The trouble — what is going wrong, stated as the symptom not the diagnosis, and why now.</a:t>
            </a:r>
          </a:p>
          <a:p>
            <a:pPr algn="l">
              <a:spcAft>
                <a:spcPts val="700"/>
              </a:spcAft>
            </a:pPr>
            <a:r>
              <a:rPr sz="1500" b="0" i="0">
                <a:solidFill>
                  <a:srgbClr val="141413"/>
                </a:solidFill>
                <a:latin typeface="Arial"/>
              </a:rPr>
              <a:t>2 · The owner — whose problem this is, who acts on the answer, and who else will read it.</a:t>
            </a:r>
          </a:p>
          <a:p>
            <a:pPr algn="l">
              <a:spcAft>
                <a:spcPts val="700"/>
              </a:spcAft>
            </a:pPr>
            <a:r>
              <a:rPr sz="1500" b="0" i="0">
                <a:solidFill>
                  <a:srgbClr val="141413"/>
                </a:solidFill>
                <a:latin typeface="Arial"/>
              </a:rPr>
              <a:t>3 · Success &amp; stakes — what a good outcome looks like, what counts as a serious cost, whose costs matter most.</a:t>
            </a:r>
          </a:p>
          <a:p>
            <a:pPr algn="l">
              <a:spcAft>
                <a:spcPts val="700"/>
              </a:spcAft>
            </a:pPr>
            <a:r>
              <a:rPr sz="1500" b="0" i="0">
                <a:solidFill>
                  <a:srgbClr val="141413"/>
                </a:solidFill>
                <a:latin typeface="Arial"/>
              </a:rPr>
              <a:t>4 · Constraints &amp; scope — what is fixed, and what is explicitly in and out (scope is where the largest hiddens hide).</a:t>
            </a:r>
          </a:p>
          <a:p>
            <a:pPr algn="l">
              <a:spcAft>
                <a:spcPts val="700"/>
              </a:spcAft>
            </a:pPr>
            <a:r>
              <a:rPr sz="1500" b="0" i="0">
                <a:solidFill>
                  <a:srgbClr val="141413"/>
                </a:solidFill>
                <a:latin typeface="Arial"/>
              </a:rPr>
              <a:t>5 · Party-held material — documents or figures only you hold; upload them.</a:t>
            </a:r>
          </a:p>
        </p:txBody>
      </p:sp>
      <p:sp>
        <p:nvSpPr>
          <p:cNvPr id="6" name="Rounded Rectangle 5"/>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Skip any or all — nothing blocks.</a:t>
            </a:r>
          </a:p>
          <a:p>
            <a:pPr algn="l"/>
            <a:r>
              <a:rPr sz="1800" b="1" i="0">
                <a:solidFill>
                  <a:srgbClr val="FFFFFF"/>
                </a:solidFill>
                <a:latin typeface="Arial"/>
              </a:rPr>
              <a:t>Whatever you don't answer, the engine fills with a stated assumption and marks it as one.</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8/26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3 · THE PROVOCATION PASS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See what's hidden — before you verify.</a:t>
            </a:r>
          </a:p>
        </p:txBody>
      </p:sp>
      <p:sp>
        <p:nvSpPr>
          <p:cNvPr id="4" name="Rounded Rectangle 3"/>
          <p:cNvSpPr/>
          <p:nvPr/>
        </p:nvSpPr>
        <p:spPr>
          <a:xfrm>
            <a:off x="640080"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Whose voice is absent?</a:t>
            </a:r>
          </a:p>
        </p:txBody>
      </p:sp>
      <p:sp>
        <p:nvSpPr>
          <p:cNvPr id="6" name="TextBox 5"/>
          <p:cNvSpPr txBox="1"/>
          <p:nvPr/>
        </p:nvSpPr>
        <p:spPr>
          <a:xfrm>
            <a:off x="896112"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who isn't in the room</a:t>
            </a:r>
          </a:p>
        </p:txBody>
      </p:sp>
      <p:sp>
        <p:nvSpPr>
          <p:cNvPr id="7" name="Rounded Rectangle 6"/>
          <p:cNvSpPr/>
          <p:nvPr/>
        </p:nvSpPr>
        <p:spPr>
          <a:xfrm>
            <a:off x="6190488"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 benefits from the framing?</a:t>
            </a:r>
          </a:p>
        </p:txBody>
      </p:sp>
      <p:sp>
        <p:nvSpPr>
          <p:cNvPr id="9" name="TextBox 8"/>
          <p:cNvSpPr txBox="1"/>
          <p:nvPr/>
        </p:nvSpPr>
        <p:spPr>
          <a:xfrm>
            <a:off x="6446520"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cui bono</a:t>
            </a:r>
          </a:p>
        </p:txBody>
      </p:sp>
      <p:sp>
        <p:nvSpPr>
          <p:cNvPr id="10" name="Rounded Rectangle 9"/>
          <p:cNvSpPr/>
          <p:nvPr/>
        </p:nvSpPr>
        <p:spPr>
          <a:xfrm>
            <a:off x="640080" y="2990088"/>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127248"/>
            <a:ext cx="4846320" cy="502920"/>
          </a:xfrm>
          <a:prstGeom prst="rect">
            <a:avLst/>
          </a:prstGeom>
          <a:noFill/>
        </p:spPr>
        <p:txBody>
          <a:bodyPr wrap="square" anchor="t" lIns="0" rIns="0" tIns="0" bIns="0">
            <a:spAutoFit/>
          </a:bodyPr>
          <a:lstStyle/>
          <a:p>
            <a:pPr algn="l"/>
            <a:r>
              <a:rPr sz="1800" b="1" i="0">
                <a:solidFill>
                  <a:srgbClr val="4E79A6"/>
                </a:solidFill>
                <a:latin typeface="Arial"/>
              </a:rPr>
              <a:t>What's normalised</a:t>
            </a:r>
          </a:p>
        </p:txBody>
      </p:sp>
      <p:sp>
        <p:nvSpPr>
          <p:cNvPr id="12" name="TextBox 11"/>
          <p:cNvSpPr txBox="1"/>
          <p:nvPr/>
        </p:nvSpPr>
        <p:spPr>
          <a:xfrm>
            <a:off x="896112"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treated as natural — but shouldn't be</a:t>
            </a:r>
          </a:p>
        </p:txBody>
      </p:sp>
      <p:sp>
        <p:nvSpPr>
          <p:cNvPr id="13" name="Rounded Rectangle 12"/>
          <p:cNvSpPr/>
          <p:nvPr/>
        </p:nvSpPr>
        <p:spPr>
          <a:xfrm>
            <a:off x="6190488" y="2990088"/>
            <a:ext cx="5303520" cy="1152144"/>
          </a:xfrm>
          <a:prstGeom prst="roundRect">
            <a:avLst>
              <a:gd name="adj" fmla="val 5500"/>
            </a:avLst>
          </a:prstGeom>
          <a:solidFill>
            <a:srgbClr val="F2DBCE"/>
          </a:solidFill>
          <a:ln w="12700">
            <a:solidFill>
              <a:srgbClr val="E890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127248"/>
            <a:ext cx="4846320" cy="502920"/>
          </a:xfrm>
          <a:prstGeom prst="rect">
            <a:avLst/>
          </a:prstGeom>
          <a:noFill/>
        </p:spPr>
        <p:txBody>
          <a:bodyPr wrap="square" anchor="t" lIns="0" rIns="0" tIns="0" bIns="0">
            <a:spAutoFit/>
          </a:bodyPr>
          <a:lstStyle/>
          <a:p>
            <a:pPr algn="l"/>
            <a:r>
              <a:rPr sz="1800" b="1" i="0">
                <a:solidFill>
                  <a:srgbClr val="7A3F28"/>
                </a:solidFill>
                <a:latin typeface="Arial"/>
              </a:rPr>
              <a:t>What's conspicuously MISSING?</a:t>
            </a:r>
          </a:p>
        </p:txBody>
      </p:sp>
      <p:sp>
        <p:nvSpPr>
          <p:cNvPr id="15" name="TextBox 14"/>
          <p:cNvSpPr txBox="1"/>
          <p:nvPr/>
        </p:nvSpPr>
        <p:spPr>
          <a:xfrm>
            <a:off x="6446520"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the document that isn't there; the un-asked question</a:t>
            </a:r>
          </a:p>
        </p:txBody>
      </p:sp>
      <p:sp>
        <p:nvSpPr>
          <p:cNvPr id="16" name="TextBox 15"/>
          <p:cNvSpPr txBox="1"/>
          <p:nvPr/>
        </p:nvSpPr>
        <p:spPr>
          <a:xfrm>
            <a:off x="640080" y="4407408"/>
            <a:ext cx="10881360" cy="685800"/>
          </a:xfrm>
          <a:prstGeom prst="rect">
            <a:avLst/>
          </a:prstGeom>
          <a:noFill/>
        </p:spPr>
        <p:txBody>
          <a:bodyPr wrap="square" anchor="t" lIns="0" rIns="0" tIns="0" bIns="0">
            <a:spAutoFit/>
          </a:bodyPr>
          <a:lstStyle/>
          <a:p>
            <a:pPr algn="l"/>
            <a:r>
              <a:rPr sz="1700" b="1" i="0">
                <a:solidFill>
                  <a:srgbClr val="141413"/>
                </a:solidFill>
                <a:latin typeface="Arial"/>
              </a:rPr>
              <a:t>Some is simply overlooked; some is kept out of view on purpose. Either way — make the invisible visible.</a:t>
            </a:r>
          </a:p>
        </p:txBody>
      </p:sp>
      <p:sp>
        <p:nvSpPr>
          <p:cNvPr id="17" name="Rounded Rectangle 16"/>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Then it steelmans your strongest findings and names everyone the outcome materially touches — including those not in the room.</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9/26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VERIFY &amp; GRADE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Every claim — graded, and locked.</a:t>
            </a:r>
          </a:p>
        </p:txBody>
      </p:sp>
      <p:sp>
        <p:nvSpPr>
          <p:cNvPr id="4" name="Rounded Rectangle 3"/>
          <p:cNvSpPr/>
          <p:nvPr/>
        </p:nvSpPr>
        <p:spPr>
          <a:xfrm>
            <a:off x="640080"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1371600" cy="1051560"/>
          </a:xfrm>
          <a:prstGeom prst="rect">
            <a:avLst/>
          </a:prstGeom>
          <a:noFill/>
        </p:spPr>
        <p:txBody>
          <a:bodyPr wrap="square" anchor="ctr" lIns="0" rIns="0" tIns="0" bIns="0">
            <a:spAutoFit/>
          </a:bodyPr>
          <a:lstStyle/>
          <a:p>
            <a:pPr algn="l"/>
            <a:r>
              <a:rPr sz="3400" b="1" i="0">
                <a:solidFill>
                  <a:srgbClr val="5F7249"/>
                </a:solidFill>
                <a:latin typeface="Arial"/>
              </a:rPr>
              <a:t>[V]</a:t>
            </a:r>
          </a:p>
        </p:txBody>
      </p:sp>
      <p:sp>
        <p:nvSpPr>
          <p:cNvPr id="6" name="TextBox 5"/>
          <p:cNvSpPr txBox="1"/>
          <p:nvPr/>
        </p:nvSpPr>
        <p:spPr>
          <a:xfrm>
            <a:off x="2148840"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verified — independently corroborated</a:t>
            </a:r>
          </a:p>
        </p:txBody>
      </p:sp>
      <p:sp>
        <p:nvSpPr>
          <p:cNvPr id="7" name="Rounded Rectangle 6"/>
          <p:cNvSpPr/>
          <p:nvPr/>
        </p:nvSpPr>
        <p:spPr>
          <a:xfrm>
            <a:off x="6245352"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9672" y="1600200"/>
            <a:ext cx="1371600" cy="1051560"/>
          </a:xfrm>
          <a:prstGeom prst="rect">
            <a:avLst/>
          </a:prstGeom>
          <a:noFill/>
        </p:spPr>
        <p:txBody>
          <a:bodyPr wrap="square" anchor="ctr" lIns="0" rIns="0" tIns="0" bIns="0">
            <a:spAutoFit/>
          </a:bodyPr>
          <a:lstStyle/>
          <a:p>
            <a:pPr algn="l"/>
            <a:r>
              <a:rPr sz="3400" b="1" i="0">
                <a:solidFill>
                  <a:srgbClr val="D97757"/>
                </a:solidFill>
                <a:latin typeface="Arial"/>
              </a:rPr>
              <a:t>[N]</a:t>
            </a:r>
          </a:p>
        </p:txBody>
      </p:sp>
      <p:sp>
        <p:nvSpPr>
          <p:cNvPr id="9" name="TextBox 8"/>
          <p:cNvSpPr txBox="1"/>
          <p:nvPr/>
        </p:nvSpPr>
        <p:spPr>
          <a:xfrm>
            <a:off x="7754112"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not — rests on an interested party</a:t>
            </a:r>
          </a:p>
        </p:txBody>
      </p:sp>
      <p:sp>
        <p:nvSpPr>
          <p:cNvPr id="10" name="Rounded Rectangle 9"/>
          <p:cNvSpPr/>
          <p:nvPr/>
        </p:nvSpPr>
        <p:spPr>
          <a:xfrm>
            <a:off x="640080"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34640"/>
            <a:ext cx="3108960" cy="777240"/>
          </a:xfrm>
          <a:prstGeom prst="rect">
            <a:avLst/>
          </a:prstGeom>
          <a:noFill/>
        </p:spPr>
        <p:txBody>
          <a:bodyPr wrap="square" anchor="ctr" lIns="0" rIns="0" tIns="0" bIns="0">
            <a:spAutoFit/>
          </a:bodyPr>
          <a:lstStyle/>
          <a:p>
            <a:pPr algn="l"/>
            <a:r>
              <a:rPr sz="1800" b="1" i="0">
                <a:solidFill>
                  <a:srgbClr val="5F7249"/>
                </a:solidFill>
                <a:latin typeface="Arial"/>
              </a:rPr>
              <a:t>[V1]  </a:t>
            </a:r>
          </a:p>
          <a:p>
            <a:pPr algn="l"/>
            <a:r>
              <a:rPr sz="1600" b="0" i="0">
                <a:solidFill>
                  <a:srgbClr val="4A453D"/>
                </a:solidFill>
                <a:latin typeface="Arial"/>
              </a:rPr>
              <a:t>primary</a:t>
            </a:r>
          </a:p>
        </p:txBody>
      </p:sp>
      <p:sp>
        <p:nvSpPr>
          <p:cNvPr id="12" name="Rounded Rectangle 11"/>
          <p:cNvSpPr/>
          <p:nvPr/>
        </p:nvSpPr>
        <p:spPr>
          <a:xfrm>
            <a:off x="4361688"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34640"/>
            <a:ext cx="3108960" cy="777240"/>
          </a:xfrm>
          <a:prstGeom prst="rect">
            <a:avLst/>
          </a:prstGeom>
          <a:noFill/>
        </p:spPr>
        <p:txBody>
          <a:bodyPr wrap="square" anchor="ctr" lIns="0" rIns="0" tIns="0" bIns="0">
            <a:spAutoFit/>
          </a:bodyPr>
          <a:lstStyle/>
          <a:p>
            <a:pPr algn="l"/>
            <a:r>
              <a:rPr sz="1800" b="1" i="0">
                <a:solidFill>
                  <a:srgbClr val="4E79A6"/>
                </a:solidFill>
                <a:latin typeface="Arial"/>
              </a:rPr>
              <a:t>[V2]  </a:t>
            </a:r>
          </a:p>
          <a:p>
            <a:pPr algn="l"/>
            <a:r>
              <a:rPr sz="1600" b="0" i="0">
                <a:solidFill>
                  <a:srgbClr val="4A453D"/>
                </a:solidFill>
                <a:latin typeface="Arial"/>
              </a:rPr>
              <a:t>secondary</a:t>
            </a:r>
          </a:p>
        </p:txBody>
      </p:sp>
      <p:sp>
        <p:nvSpPr>
          <p:cNvPr id="14" name="Rounded Rectangle 13"/>
          <p:cNvSpPr/>
          <p:nvPr/>
        </p:nvSpPr>
        <p:spPr>
          <a:xfrm>
            <a:off x="8083296"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2834640"/>
            <a:ext cx="3108960" cy="777240"/>
          </a:xfrm>
          <a:prstGeom prst="rect">
            <a:avLst/>
          </a:prstGeom>
          <a:noFill/>
        </p:spPr>
        <p:txBody>
          <a:bodyPr wrap="square" anchor="ctr" lIns="0" rIns="0" tIns="0" bIns="0">
            <a:spAutoFit/>
          </a:bodyPr>
          <a:lstStyle/>
          <a:p>
            <a:pPr algn="l"/>
            <a:r>
              <a:rPr sz="1800" b="1" i="0">
                <a:solidFill>
                  <a:srgbClr val="A96A45"/>
                </a:solidFill>
                <a:latin typeface="Arial"/>
              </a:rPr>
              <a:t>[V3]  </a:t>
            </a:r>
          </a:p>
          <a:p>
            <a:pPr algn="l"/>
            <a:r>
              <a:rPr sz="1600" b="0" i="0">
                <a:solidFill>
                  <a:srgbClr val="4A453D"/>
                </a:solidFill>
                <a:latin typeface="Arial"/>
              </a:rPr>
              <a:t>weak / contested</a:t>
            </a:r>
          </a:p>
        </p:txBody>
      </p:sp>
      <p:sp>
        <p:nvSpPr>
          <p:cNvPr id="16" name="Rounded Rectangle 15"/>
          <p:cNvSpPr/>
          <p:nvPr/>
        </p:nvSpPr>
        <p:spPr>
          <a:xfrm>
            <a:off x="640080" y="384048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40480"/>
            <a:ext cx="10332720" cy="1051560"/>
          </a:xfrm>
          <a:prstGeom prst="rect">
            <a:avLst/>
          </a:prstGeom>
          <a:noFill/>
        </p:spPr>
        <p:txBody>
          <a:bodyPr wrap="square" anchor="ctr" lIns="0" rIns="0" tIns="0" bIns="0">
            <a:spAutoFit/>
          </a:bodyPr>
          <a:lstStyle/>
          <a:p>
            <a:pPr algn="l"/>
            <a:r>
              <a:rPr sz="1700" b="1" i="0">
                <a:solidFill>
                  <a:srgbClr val="141413"/>
                </a:solidFill>
                <a:latin typeface="Arial"/>
              </a:rPr>
              <a:t>A tier marks how CLOSE a source is — not how much to trust it.  </a:t>
            </a:r>
          </a:p>
          <a:p>
            <a:pPr algn="l"/>
            <a:r>
              <a:rPr sz="1700" b="0" i="0">
                <a:solidFill>
                  <a:srgbClr val="4A453D"/>
                </a:solidFill>
                <a:latin typeface="Arial"/>
              </a:rPr>
              <a:t>A party's own document doesn't earn [V1] on a claim it has a stake in.</a:t>
            </a:r>
          </a:p>
        </p:txBody>
      </p:sp>
      <p:sp>
        <p:nvSpPr>
          <p:cNvPr id="18" name="Rounded Rectangle 17"/>
          <p:cNvSpPr/>
          <p:nvPr/>
        </p:nvSpPr>
        <p:spPr>
          <a:xfrm>
            <a:off x="640080" y="512064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120640"/>
            <a:ext cx="10177272" cy="1188720"/>
          </a:xfrm>
          <a:prstGeom prst="rect">
            <a:avLst/>
          </a:prstGeom>
          <a:noFill/>
        </p:spPr>
        <p:txBody>
          <a:bodyPr wrap="square" anchor="ctr" lIns="0" rIns="0" tIns="0" bIns="0">
            <a:spAutoFit/>
          </a:bodyPr>
          <a:lstStyle/>
          <a:p>
            <a:pPr algn="l"/>
            <a:r>
              <a:rPr sz="1800" b="1" i="0">
                <a:solidFill>
                  <a:srgbClr val="FFFFFF"/>
                </a:solidFill>
                <a:latin typeface="Arial"/>
              </a:rPr>
              <a:t>Set here, and held — never changed downstream, only re-expressed.</a:t>
            </a:r>
          </a:p>
          <a:p>
            <a:pPr algn="l"/>
            <a:r>
              <a:rPr sz="1800" b="1" i="0">
                <a:solidFill>
                  <a:srgbClr val="FFFFFF"/>
                </a:solidFill>
                <a:latin typeface="Arial"/>
              </a:rPr>
              <a:t>The formal lock comes at Step 7.</a:t>
            </a:r>
          </a:p>
        </p:txBody>
      </p:sp>
      <p:sp>
        <p:nvSpPr>
          <p:cNvPr id="20" name="TextBox 19"/>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HOW A CLAIM GETS GRADED</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Route, search, tier by independence, lock.</a:t>
            </a:r>
          </a:p>
        </p:txBody>
      </p:sp>
      <p:sp>
        <p:nvSpPr>
          <p:cNvPr id="4" name="Rounded Rectangle 3"/>
          <p:cNvSpPr/>
          <p:nvPr/>
        </p:nvSpPr>
        <p:spPr>
          <a:xfrm>
            <a:off x="640080" y="1572768"/>
            <a:ext cx="3474720" cy="11887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19072"/>
            <a:ext cx="3063240" cy="457200"/>
          </a:xfrm>
          <a:prstGeom prst="rect">
            <a:avLst/>
          </a:prstGeom>
          <a:noFill/>
        </p:spPr>
        <p:txBody>
          <a:bodyPr wrap="square" anchor="t" lIns="0" rIns="0" tIns="0" bIns="0">
            <a:spAutoFit/>
          </a:bodyPr>
          <a:lstStyle/>
          <a:p>
            <a:pPr algn="l"/>
            <a:r>
              <a:rPr sz="1700" b="1" i="0">
                <a:solidFill>
                  <a:srgbClr val="5F7249"/>
                </a:solidFill>
                <a:latin typeface="Arial"/>
              </a:rPr>
              <a:t>Public fact</a:t>
            </a:r>
          </a:p>
        </p:txBody>
      </p:sp>
      <p:sp>
        <p:nvSpPr>
          <p:cNvPr id="6" name="TextBox 5"/>
          <p:cNvSpPr txBox="1"/>
          <p:nvPr/>
        </p:nvSpPr>
        <p:spPr>
          <a:xfrm>
            <a:off x="859536"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searched against independent sources</a:t>
            </a:r>
          </a:p>
        </p:txBody>
      </p:sp>
      <p:sp>
        <p:nvSpPr>
          <p:cNvPr id="7" name="Rounded Rectangle 6"/>
          <p:cNvSpPr/>
          <p:nvPr/>
        </p:nvSpPr>
        <p:spPr>
          <a:xfrm>
            <a:off x="4361688"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719072"/>
            <a:ext cx="3063240" cy="457200"/>
          </a:xfrm>
          <a:prstGeom prst="rect">
            <a:avLst/>
          </a:prstGeom>
          <a:noFill/>
        </p:spPr>
        <p:txBody>
          <a:bodyPr wrap="square" anchor="t" lIns="0" rIns="0" tIns="0" bIns="0">
            <a:spAutoFit/>
          </a:bodyPr>
          <a:lstStyle/>
          <a:p>
            <a:pPr algn="l"/>
            <a:r>
              <a:rPr sz="1700" b="1" i="0">
                <a:solidFill>
                  <a:srgbClr val="4E79A6"/>
                </a:solidFill>
                <a:latin typeface="Arial"/>
              </a:rPr>
              <a:t>Party-held</a:t>
            </a:r>
          </a:p>
        </p:txBody>
      </p:sp>
      <p:sp>
        <p:nvSpPr>
          <p:cNvPr id="9" name="TextBox 8"/>
          <p:cNvSpPr txBox="1"/>
          <p:nvPr/>
        </p:nvSpPr>
        <p:spPr>
          <a:xfrm>
            <a:off x="4581144"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parked — name the doc that would settle it</a:t>
            </a:r>
          </a:p>
        </p:txBody>
      </p:sp>
      <p:sp>
        <p:nvSpPr>
          <p:cNvPr id="10" name="Rounded Rectangle 9"/>
          <p:cNvSpPr/>
          <p:nvPr/>
        </p:nvSpPr>
        <p:spPr>
          <a:xfrm>
            <a:off x="8083296"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719072"/>
            <a:ext cx="3063240" cy="457200"/>
          </a:xfrm>
          <a:prstGeom prst="rect">
            <a:avLst/>
          </a:prstGeom>
          <a:noFill/>
        </p:spPr>
        <p:txBody>
          <a:bodyPr wrap="square" anchor="t" lIns="0" rIns="0" tIns="0" bIns="0">
            <a:spAutoFit/>
          </a:bodyPr>
          <a:lstStyle/>
          <a:p>
            <a:pPr algn="l"/>
            <a:r>
              <a:rPr sz="1700" b="1" i="0">
                <a:solidFill>
                  <a:srgbClr val="D97757"/>
                </a:solidFill>
                <a:latin typeface="Arial"/>
              </a:rPr>
              <a:t>Judgement call</a:t>
            </a:r>
          </a:p>
        </p:txBody>
      </p:sp>
      <p:sp>
        <p:nvSpPr>
          <p:cNvPr id="12" name="TextBox 11"/>
          <p:cNvSpPr txBox="1"/>
          <p:nvPr/>
        </p:nvSpPr>
        <p:spPr>
          <a:xfrm>
            <a:off x="8302752" y="2121408"/>
            <a:ext cx="3063240" cy="731520"/>
          </a:xfrm>
          <a:prstGeom prst="rect">
            <a:avLst/>
          </a:prstGeom>
          <a:noFill/>
        </p:spPr>
        <p:txBody>
          <a:bodyPr wrap="square" anchor="t" lIns="0" rIns="0" tIns="0" bIns="0">
            <a:spAutoFit/>
          </a:bodyPr>
          <a:lstStyle/>
          <a:p>
            <a:pPr algn="l"/>
            <a:r>
              <a:rPr sz="1200" b="0" i="0">
                <a:solidFill>
                  <a:srgbClr val="4A453D"/>
                </a:solidFill>
                <a:latin typeface="Arial"/>
              </a:rPr>
              <a:t>a value / framing / forecast no search settles — routed to you at the gate, never graded</a:t>
            </a:r>
          </a:p>
        </p:txBody>
      </p:sp>
      <p:sp>
        <p:nvSpPr>
          <p:cNvPr id="13" name="Rounded Rectangle 12"/>
          <p:cNvSpPr/>
          <p:nvPr/>
        </p:nvSpPr>
        <p:spPr>
          <a:xfrm>
            <a:off x="640080" y="2999232"/>
            <a:ext cx="6720840" cy="22860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82112"/>
            <a:ext cx="1051560" cy="457200"/>
          </a:xfrm>
          <a:prstGeom prst="rect">
            <a:avLst/>
          </a:prstGeom>
          <a:noFill/>
        </p:spPr>
        <p:txBody>
          <a:bodyPr wrap="square" anchor="t" lIns="0" rIns="0" tIns="0" bIns="0">
            <a:spAutoFit/>
          </a:bodyPr>
          <a:lstStyle/>
          <a:p>
            <a:pPr algn="l"/>
            <a:r>
              <a:rPr sz="1700" b="1" i="0">
                <a:solidFill>
                  <a:srgbClr val="5F7249"/>
                </a:solidFill>
                <a:latin typeface="Arial"/>
              </a:rPr>
              <a:t>[V1]</a:t>
            </a:r>
          </a:p>
        </p:txBody>
      </p:sp>
      <p:sp>
        <p:nvSpPr>
          <p:cNvPr id="15" name="TextBox 14"/>
          <p:cNvSpPr txBox="1"/>
          <p:nvPr/>
        </p:nvSpPr>
        <p:spPr>
          <a:xfrm>
            <a:off x="2011680" y="3182112"/>
            <a:ext cx="5166360" cy="502920"/>
          </a:xfrm>
          <a:prstGeom prst="rect">
            <a:avLst/>
          </a:prstGeom>
          <a:noFill/>
        </p:spPr>
        <p:txBody>
          <a:bodyPr wrap="square" anchor="ctr" lIns="0" rIns="0" tIns="0" bIns="0">
            <a:spAutoFit/>
          </a:bodyPr>
          <a:lstStyle/>
          <a:p>
            <a:pPr algn="l"/>
            <a:r>
              <a:rPr sz="1400" b="0" i="0">
                <a:solidFill>
                  <a:srgbClr val="141413"/>
                </a:solidFill>
                <a:latin typeface="Arial"/>
              </a:rPr>
              <a:t>primary — independent of any interested party</a:t>
            </a:r>
          </a:p>
        </p:txBody>
      </p:sp>
      <p:sp>
        <p:nvSpPr>
          <p:cNvPr id="16" name="TextBox 15"/>
          <p:cNvSpPr txBox="1"/>
          <p:nvPr/>
        </p:nvSpPr>
        <p:spPr>
          <a:xfrm>
            <a:off x="914400" y="3703320"/>
            <a:ext cx="1051560" cy="457200"/>
          </a:xfrm>
          <a:prstGeom prst="rect">
            <a:avLst/>
          </a:prstGeom>
          <a:noFill/>
        </p:spPr>
        <p:txBody>
          <a:bodyPr wrap="square" anchor="t" lIns="0" rIns="0" tIns="0" bIns="0">
            <a:spAutoFit/>
          </a:bodyPr>
          <a:lstStyle/>
          <a:p>
            <a:pPr algn="l"/>
            <a:r>
              <a:rPr sz="1700" b="1" i="0">
                <a:solidFill>
                  <a:srgbClr val="4E79A6"/>
                </a:solidFill>
                <a:latin typeface="Arial"/>
              </a:rPr>
              <a:t>[V2]</a:t>
            </a:r>
          </a:p>
        </p:txBody>
      </p:sp>
      <p:sp>
        <p:nvSpPr>
          <p:cNvPr id="17" name="TextBox 16"/>
          <p:cNvSpPr txBox="1"/>
          <p:nvPr/>
        </p:nvSpPr>
        <p:spPr>
          <a:xfrm>
            <a:off x="2011680" y="3703320"/>
            <a:ext cx="5166360" cy="502920"/>
          </a:xfrm>
          <a:prstGeom prst="rect">
            <a:avLst/>
          </a:prstGeom>
          <a:noFill/>
        </p:spPr>
        <p:txBody>
          <a:bodyPr wrap="square" anchor="ctr" lIns="0" rIns="0" tIns="0" bIns="0">
            <a:spAutoFit/>
          </a:bodyPr>
          <a:lstStyle/>
          <a:p>
            <a:pPr algn="l"/>
            <a:r>
              <a:rPr sz="1400" b="0" i="0">
                <a:solidFill>
                  <a:srgbClr val="141413"/>
                </a:solidFill>
                <a:latin typeface="Arial"/>
              </a:rPr>
              <a:t>reputable reporting resting on those</a:t>
            </a:r>
          </a:p>
        </p:txBody>
      </p:sp>
      <p:sp>
        <p:nvSpPr>
          <p:cNvPr id="18" name="TextBox 17"/>
          <p:cNvSpPr txBox="1"/>
          <p:nvPr/>
        </p:nvSpPr>
        <p:spPr>
          <a:xfrm>
            <a:off x="914400" y="4224528"/>
            <a:ext cx="1051560" cy="457200"/>
          </a:xfrm>
          <a:prstGeom prst="rect">
            <a:avLst/>
          </a:prstGeom>
          <a:noFill/>
        </p:spPr>
        <p:txBody>
          <a:bodyPr wrap="square" anchor="t" lIns="0" rIns="0" tIns="0" bIns="0">
            <a:spAutoFit/>
          </a:bodyPr>
          <a:lstStyle/>
          <a:p>
            <a:pPr algn="l"/>
            <a:r>
              <a:rPr sz="1700" b="1" i="0">
                <a:solidFill>
                  <a:srgbClr val="A96A45"/>
                </a:solidFill>
                <a:latin typeface="Arial"/>
              </a:rPr>
              <a:t>[V3]</a:t>
            </a:r>
          </a:p>
        </p:txBody>
      </p:sp>
      <p:sp>
        <p:nvSpPr>
          <p:cNvPr id="19" name="TextBox 18"/>
          <p:cNvSpPr txBox="1"/>
          <p:nvPr/>
        </p:nvSpPr>
        <p:spPr>
          <a:xfrm>
            <a:off x="2011680" y="4224528"/>
            <a:ext cx="5166360" cy="502920"/>
          </a:xfrm>
          <a:prstGeom prst="rect">
            <a:avLst/>
          </a:prstGeom>
          <a:noFill/>
        </p:spPr>
        <p:txBody>
          <a:bodyPr wrap="square" anchor="ctr" lIns="0" rIns="0" tIns="0" bIns="0">
            <a:spAutoFit/>
          </a:bodyPr>
          <a:lstStyle/>
          <a:p>
            <a:pPr algn="l"/>
            <a:r>
              <a:rPr sz="1400" b="0" i="0">
                <a:solidFill>
                  <a:srgbClr val="141413"/>
                </a:solidFill>
                <a:latin typeface="Arial"/>
              </a:rPr>
              <a:t>weak but independent, or credible sources disagree</a:t>
            </a:r>
          </a:p>
        </p:txBody>
      </p:sp>
      <p:sp>
        <p:nvSpPr>
          <p:cNvPr id="20" name="TextBox 19"/>
          <p:cNvSpPr txBox="1"/>
          <p:nvPr/>
        </p:nvSpPr>
        <p:spPr>
          <a:xfrm>
            <a:off x="914400" y="4745736"/>
            <a:ext cx="1051560" cy="457200"/>
          </a:xfrm>
          <a:prstGeom prst="rect">
            <a:avLst/>
          </a:prstGeom>
          <a:noFill/>
        </p:spPr>
        <p:txBody>
          <a:bodyPr wrap="square" anchor="t" lIns="0" rIns="0" tIns="0" bIns="0">
            <a:spAutoFit/>
          </a:bodyPr>
          <a:lstStyle/>
          <a:p>
            <a:pPr algn="l"/>
            <a:r>
              <a:rPr sz="1700" b="1" i="0">
                <a:solidFill>
                  <a:srgbClr val="D97757"/>
                </a:solidFill>
                <a:latin typeface="Arial"/>
              </a:rPr>
              <a:t>[N]</a:t>
            </a:r>
          </a:p>
        </p:txBody>
      </p:sp>
      <p:sp>
        <p:nvSpPr>
          <p:cNvPr id="21" name="TextBox 20"/>
          <p:cNvSpPr txBox="1"/>
          <p:nvPr/>
        </p:nvSpPr>
        <p:spPr>
          <a:xfrm>
            <a:off x="2011680" y="4745736"/>
            <a:ext cx="5166360" cy="502920"/>
          </a:xfrm>
          <a:prstGeom prst="rect">
            <a:avLst/>
          </a:prstGeom>
          <a:noFill/>
        </p:spPr>
        <p:txBody>
          <a:bodyPr wrap="square" anchor="ctr" lIns="0" rIns="0" tIns="0" bIns="0">
            <a:spAutoFit/>
          </a:bodyPr>
          <a:lstStyle/>
          <a:p>
            <a:pPr algn="l"/>
            <a:r>
              <a:rPr sz="1400" b="0" i="0">
                <a:solidFill>
                  <a:srgbClr val="141413"/>
                </a:solidFill>
                <a:latin typeface="Arial"/>
              </a:rPr>
              <a:t>nothing independent behind it, or an interested party's own account</a:t>
            </a:r>
          </a:p>
        </p:txBody>
      </p:sp>
      <p:sp>
        <p:nvSpPr>
          <p:cNvPr id="22" name="Rounded Rectangle 21"/>
          <p:cNvSpPr/>
          <p:nvPr/>
        </p:nvSpPr>
        <p:spPr>
          <a:xfrm>
            <a:off x="7589520" y="2999232"/>
            <a:ext cx="3959352" cy="22860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0" y="3246120"/>
            <a:ext cx="3429000" cy="1828800"/>
          </a:xfrm>
          <a:prstGeom prst="rect">
            <a:avLst/>
          </a:prstGeom>
          <a:noFill/>
        </p:spPr>
        <p:txBody>
          <a:bodyPr wrap="square" anchor="t" lIns="0" rIns="0" tIns="0" bIns="0">
            <a:spAutoFit/>
          </a:bodyPr>
          <a:lstStyle/>
          <a:p>
            <a:pPr algn="l">
              <a:spcAft>
                <a:spcPts val="700"/>
              </a:spcAft>
            </a:pPr>
            <a:r>
              <a:rPr sz="1600" b="1" i="0">
                <a:solidFill>
                  <a:srgbClr val="5F7249"/>
                </a:solidFill>
                <a:latin typeface="Arial"/>
              </a:rPr>
              <a:t>Graded by independence.</a:t>
            </a:r>
          </a:p>
          <a:p>
            <a:pPr algn="l">
              <a:spcAft>
                <a:spcPts val="700"/>
              </a:spcAft>
            </a:pPr>
            <a:r>
              <a:rPr sz="1500" b="0" i="0">
                <a:solidFill>
                  <a:srgbClr val="4A453D"/>
                </a:solidFill>
                <a:latin typeface="Arial"/>
              </a:rPr>
              <a:t>A party's own document doesn't earn V1 on a claim it has a stake in.</a:t>
            </a:r>
          </a:p>
        </p:txBody>
      </p:sp>
      <p:sp>
        <p:nvSpPr>
          <p:cNvPr id="24" name="Rounded Rectangle 23"/>
          <p:cNvSpPr/>
          <p:nvPr/>
        </p:nvSpPr>
        <p:spPr>
          <a:xfrm>
            <a:off x="640080" y="5440680"/>
            <a:ext cx="10908792" cy="9601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40680"/>
            <a:ext cx="10177272" cy="960120"/>
          </a:xfrm>
          <a:prstGeom prst="rect">
            <a:avLst/>
          </a:prstGeom>
          <a:noFill/>
        </p:spPr>
        <p:txBody>
          <a:bodyPr wrap="square" anchor="ctr" lIns="0" rIns="0" tIns="0" bIns="0">
            <a:spAutoFit/>
          </a:bodyPr>
          <a:lstStyle/>
          <a:p>
            <a:pPr algn="l"/>
            <a:r>
              <a:rPr sz="1800" b="1" i="0">
                <a:solidFill>
                  <a:srgbClr val="FFFFFF"/>
                </a:solidFill>
                <a:latin typeface="Arial"/>
              </a:rPr>
              <a:t>Then each claim is disconfirmed — searched at its own negation, which can downgrade — and only then does it stand (formal lock at Step 7).</a:t>
            </a:r>
          </a:p>
        </p:txBody>
      </p:sp>
      <p:sp>
        <p:nvSpPr>
          <p:cNvPr id="26" name="TextBox 2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11/26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4 · DISCONFIRMATION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It tries to prove itself wrong.</a:t>
            </a:r>
          </a:p>
        </p:txBody>
      </p:sp>
      <p:sp>
        <p:nvSpPr>
          <p:cNvPr id="4" name="TextBox 3"/>
          <p:cNvSpPr txBox="1"/>
          <p:nvPr/>
        </p:nvSpPr>
        <p:spPr>
          <a:xfrm>
            <a:off x="640080" y="1645920"/>
            <a:ext cx="10881360" cy="548640"/>
          </a:xfrm>
          <a:prstGeom prst="rect">
            <a:avLst/>
          </a:prstGeom>
          <a:noFill/>
        </p:spPr>
        <p:txBody>
          <a:bodyPr wrap="square" anchor="t" lIns="0" rIns="0" tIns="0" bIns="0">
            <a:spAutoFit/>
          </a:bodyPr>
          <a:lstStyle/>
          <a:p>
            <a:pPr algn="l"/>
            <a:r>
              <a:rPr sz="1800" b="0" i="0">
                <a:solidFill>
                  <a:srgbClr val="141413"/>
                </a:solidFill>
                <a:latin typeface="Arial"/>
              </a:rPr>
              <a:t>For every claim the conclusion rests on, it runs a second search — aimed at the opposite.</a:t>
            </a:r>
          </a:p>
        </p:txBody>
      </p:sp>
      <p:sp>
        <p:nvSpPr>
          <p:cNvPr id="5" name="Rounded Rectangle 4"/>
          <p:cNvSpPr/>
          <p:nvPr/>
        </p:nvSpPr>
        <p:spPr>
          <a:xfrm>
            <a:off x="640080"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31720"/>
            <a:ext cx="3017520" cy="1234440"/>
          </a:xfrm>
          <a:prstGeom prst="rect">
            <a:avLst/>
          </a:prstGeom>
          <a:noFill/>
        </p:spPr>
        <p:txBody>
          <a:bodyPr wrap="square" anchor="ctr" lIns="0" rIns="0" tIns="0" bIns="0">
            <a:spAutoFit/>
          </a:bodyPr>
          <a:lstStyle/>
          <a:p>
            <a:pPr algn="ctr"/>
            <a:r>
              <a:rPr sz="1800" b="1" i="0">
                <a:solidFill>
                  <a:srgbClr val="4E79A6"/>
                </a:solidFill>
                <a:latin typeface="Arial"/>
              </a:rPr>
              <a:t>A load-bearing claim</a:t>
            </a:r>
          </a:p>
        </p:txBody>
      </p:sp>
      <p:sp>
        <p:nvSpPr>
          <p:cNvPr id="7" name="TextBox 6"/>
          <p:cNvSpPr txBox="1"/>
          <p:nvPr/>
        </p:nvSpPr>
        <p:spPr>
          <a:xfrm>
            <a:off x="4041648"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8" name="Rounded Rectangle 7"/>
          <p:cNvSpPr/>
          <p:nvPr/>
        </p:nvSpPr>
        <p:spPr>
          <a:xfrm>
            <a:off x="4544568"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7448" y="2331720"/>
            <a:ext cx="3017520" cy="1234440"/>
          </a:xfrm>
          <a:prstGeom prst="rect">
            <a:avLst/>
          </a:prstGeom>
          <a:noFill/>
        </p:spPr>
        <p:txBody>
          <a:bodyPr wrap="square" anchor="ctr" lIns="0" rIns="0" tIns="0" bIns="0">
            <a:spAutoFit/>
          </a:bodyPr>
          <a:lstStyle/>
          <a:p>
            <a:pPr algn="ctr"/>
            <a:r>
              <a:rPr sz="1800" b="1" i="0">
                <a:solidFill>
                  <a:srgbClr val="D97757"/>
                </a:solidFill>
                <a:latin typeface="Arial"/>
              </a:rPr>
              <a:t>Search its negation</a:t>
            </a:r>
          </a:p>
        </p:txBody>
      </p:sp>
      <p:sp>
        <p:nvSpPr>
          <p:cNvPr id="10" name="TextBox 9"/>
          <p:cNvSpPr txBox="1"/>
          <p:nvPr/>
        </p:nvSpPr>
        <p:spPr>
          <a:xfrm>
            <a:off x="7946136"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11" name="Rounded Rectangle 10"/>
          <p:cNvSpPr/>
          <p:nvPr/>
        </p:nvSpPr>
        <p:spPr>
          <a:xfrm>
            <a:off x="8449055"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1935" y="2331720"/>
            <a:ext cx="3017520" cy="1234440"/>
          </a:xfrm>
          <a:prstGeom prst="rect">
            <a:avLst/>
          </a:prstGeom>
          <a:noFill/>
        </p:spPr>
        <p:txBody>
          <a:bodyPr wrap="square" anchor="ctr" lIns="0" rIns="0" tIns="0" bIns="0">
            <a:spAutoFit/>
          </a:bodyPr>
          <a:lstStyle/>
          <a:p>
            <a:pPr algn="ctr"/>
            <a:r>
              <a:rPr sz="1800" b="1" i="0">
                <a:solidFill>
                  <a:srgbClr val="5F7249"/>
                </a:solidFill>
                <a:latin typeface="Arial"/>
              </a:rPr>
              <a:t>Survives, or downgrades</a:t>
            </a:r>
          </a:p>
        </p:txBody>
      </p:sp>
      <p:sp>
        <p:nvSpPr>
          <p:cNvPr id="13" name="Rounded Rectangle 12"/>
          <p:cNvSpPr/>
          <p:nvPr/>
        </p:nvSpPr>
        <p:spPr>
          <a:xfrm>
            <a:off x="640080" y="379476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10332720" cy="1051560"/>
          </a:xfrm>
          <a:prstGeom prst="rect">
            <a:avLst/>
          </a:prstGeom>
          <a:noFill/>
        </p:spPr>
        <p:txBody>
          <a:bodyPr wrap="square" anchor="ctr" lIns="0" rIns="0" tIns="0" bIns="0">
            <a:spAutoFit/>
          </a:bodyPr>
          <a:lstStyle/>
          <a:p>
            <a:pPr algn="l"/>
            <a:r>
              <a:rPr sz="1700" b="1" i="0">
                <a:solidFill>
                  <a:srgbClr val="141413"/>
                </a:solidFill>
                <a:latin typeface="Arial"/>
              </a:rPr>
              <a:t>“Survived” needs two independent sources.  </a:t>
            </a:r>
          </a:p>
          <a:p>
            <a:pPr algn="l"/>
            <a:r>
              <a:rPr sz="1700" b="0" i="0">
                <a:solidFill>
                  <a:srgbClr val="4A453D"/>
                </a:solidFill>
                <a:latin typeface="Arial"/>
              </a:rPr>
              <a:t>A single origin echoed around is flagged “unopposed” — not survived.</a:t>
            </a:r>
          </a:p>
        </p:txBody>
      </p:sp>
      <p:sp>
        <p:nvSpPr>
          <p:cNvPr id="15" name="Rounded Rectangle 14"/>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direct counter to confirmation bias — the failure mode any single-pass search invites.</a:t>
            </a:r>
          </a:p>
        </p:txBody>
      </p:sp>
      <p:sp>
        <p:nvSpPr>
          <p:cNvPr id="17" name="TextBox 16"/>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5 · SYSTEMS PASS · CONDITIONAL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When the problem feeds back on itself.</a:t>
            </a:r>
          </a:p>
        </p:txBody>
      </p:sp>
      <p:sp>
        <p:nvSpPr>
          <p:cNvPr id="4" name="Rounded Rectangle 3"/>
          <p:cNvSpPr/>
          <p:nvPr/>
        </p:nvSpPr>
        <p:spPr>
          <a:xfrm>
            <a:off x="640080" y="1783080"/>
            <a:ext cx="544068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4E79A6"/>
                </a:solidFill>
                <a:latin typeface="Arial"/>
              </a:rPr>
              <a:t>Runs only when 2+ signatures appear</a:t>
            </a:r>
          </a:p>
        </p:txBody>
      </p:sp>
      <p:sp>
        <p:nvSpPr>
          <p:cNvPr id="6" name="TextBox 5"/>
          <p:cNvSpPr txBox="1"/>
          <p:nvPr/>
        </p:nvSpPr>
        <p:spPr>
          <a:xfrm>
            <a:off x="914400" y="2697480"/>
            <a:ext cx="4937760" cy="2011680"/>
          </a:xfrm>
          <a:prstGeom prst="rect">
            <a:avLst/>
          </a:prstGeom>
          <a:noFill/>
        </p:spPr>
        <p:txBody>
          <a:bodyPr wrap="square" anchor="t" lIns="0" rIns="0" tIns="0" bIns="0">
            <a:spAutoFit/>
          </a:bodyPr>
          <a:lstStyle/>
          <a:p>
            <a:pPr algn="l">
              <a:spcAft>
                <a:spcPts val="400"/>
              </a:spcAft>
            </a:pPr>
            <a:r>
              <a:rPr sz="1600" b="0" i="0">
                <a:solidFill>
                  <a:srgbClr val="141413"/>
                </a:solidFill>
                <a:latin typeface="Arial"/>
              </a:rPr>
              <a:t>• feedback loops</a:t>
            </a:r>
          </a:p>
          <a:p>
            <a:pPr algn="l">
              <a:spcAft>
                <a:spcPts val="400"/>
              </a:spcAft>
            </a:pPr>
            <a:r>
              <a:rPr sz="1600" b="0" i="0">
                <a:solidFill>
                  <a:srgbClr val="141413"/>
                </a:solidFill>
                <a:latin typeface="Arial"/>
              </a:rPr>
              <a:t>• delays between cause and effect</a:t>
            </a:r>
          </a:p>
          <a:p>
            <a:pPr algn="l">
              <a:spcAft>
                <a:spcPts val="400"/>
              </a:spcAft>
            </a:pPr>
            <a:r>
              <a:rPr sz="1600" b="0" i="0">
                <a:solidFill>
                  <a:srgbClr val="141413"/>
                </a:solidFill>
                <a:latin typeface="Arial"/>
              </a:rPr>
              <a:t>• things that accumulate</a:t>
            </a:r>
          </a:p>
          <a:p>
            <a:pPr algn="l">
              <a:spcAft>
                <a:spcPts val="400"/>
              </a:spcAft>
            </a:pPr>
            <a:r>
              <a:rPr sz="1600" b="0" i="0">
                <a:solidFill>
                  <a:srgbClr val="141413"/>
                </a:solidFill>
                <a:latin typeface="Arial"/>
              </a:rPr>
              <a:t>• many interacting actors</a:t>
            </a:r>
          </a:p>
          <a:p>
            <a:pPr algn="l">
              <a:spcAft>
                <a:spcPts val="400"/>
              </a:spcAft>
            </a:pPr>
            <a:r>
              <a:rPr sz="1600" b="0" i="0">
                <a:solidFill>
                  <a:srgbClr val="141413"/>
                </a:solidFill>
                <a:latin typeface="Arial"/>
              </a:rPr>
              <a:t>• a possible tipping point</a:t>
            </a:r>
          </a:p>
          <a:p>
            <a:pPr algn="l">
              <a:spcAft>
                <a:spcPts val="400"/>
              </a:spcAft>
            </a:pPr>
            <a:r>
              <a:rPr sz="1600" b="0" i="0">
                <a:solidFill>
                  <a:srgbClr val="141413"/>
                </a:solidFill>
                <a:latin typeface="Arial"/>
              </a:rPr>
              <a:t>• self-fulfilling expectations</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5F7249"/>
                </a:solidFill>
                <a:latin typeface="Arial"/>
              </a:rPr>
              <a:t>A graded hypothesis — not a simulation</a:t>
            </a:r>
          </a:p>
        </p:txBody>
      </p:sp>
      <p:sp>
        <p:nvSpPr>
          <p:cNvPr id="9" name="TextBox 8"/>
          <p:cNvSpPr txBox="1"/>
          <p:nvPr/>
        </p:nvSpPr>
        <p:spPr>
          <a:xfrm>
            <a:off x="6537960" y="2697480"/>
            <a:ext cx="4754880" cy="2011680"/>
          </a:xfrm>
          <a:prstGeom prst="rect">
            <a:avLst/>
          </a:prstGeom>
          <a:noFill/>
        </p:spPr>
        <p:txBody>
          <a:bodyPr wrap="square" anchor="t" lIns="0" rIns="0" tIns="0" bIns="0">
            <a:spAutoFit/>
          </a:bodyPr>
          <a:lstStyle/>
          <a:p>
            <a:pPr algn="l"/>
            <a:r>
              <a:rPr sz="1700" b="0" i="0">
                <a:solidFill>
                  <a:srgbClr val="4A453D"/>
                </a:solidFill>
                <a:latin typeface="Arial"/>
              </a:rPr>
              <a:t>It will tell you a loop EXISTS. It will not tell you, as fact, which loop WINS — that routes back to you. Structure can be verified; whether or when it tips cannot.</a:t>
            </a:r>
          </a:p>
        </p:txBody>
      </p:sp>
      <p:sp>
        <p:nvSpPr>
          <p:cNvPr id="10" name="Rounded Rectangle 9"/>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It states whose framing the map takes, and who's affected but missing.</a:t>
            </a:r>
          </a:p>
          <a:p>
            <a:pPr algn="l"/>
            <a:r>
              <a:rPr sz="1800" b="1" i="0">
                <a:solidFill>
                  <a:srgbClr val="FFFFFF"/>
                </a:solidFill>
                <a:latin typeface="Arial"/>
              </a:rPr>
              <a:t>A tidy map that hides its blind spot is false precision.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13/26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6 · DEEP-CORE ROUTING</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Separate out what no evidence can settle.</a:t>
            </a:r>
          </a:p>
        </p:txBody>
      </p:sp>
      <p:sp>
        <p:nvSpPr>
          <p:cNvPr id="4" name="Rounded Rectangle 3"/>
          <p:cNvSpPr/>
          <p:nvPr/>
        </p:nvSpPr>
        <p:spPr>
          <a:xfrm>
            <a:off x="640080" y="1783080"/>
            <a:ext cx="672084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4E79A6"/>
                </a:solidFill>
                <a:latin typeface="Arial"/>
              </a:rPr>
              <a:t>Onto an explicit OPEN list</a:t>
            </a:r>
          </a:p>
        </p:txBody>
      </p:sp>
      <p:sp>
        <p:nvSpPr>
          <p:cNvPr id="6" name="TextBox 5"/>
          <p:cNvSpPr txBox="1"/>
          <p:nvPr/>
        </p:nvSpPr>
        <p:spPr>
          <a:xfrm>
            <a:off x="914400" y="2697480"/>
            <a:ext cx="6217920" cy="2057400"/>
          </a:xfrm>
          <a:prstGeom prst="rect">
            <a:avLst/>
          </a:prstGeom>
          <a:noFill/>
        </p:spPr>
        <p:txBody>
          <a:bodyPr wrap="square" anchor="t" lIns="0" rIns="0" tIns="0" bIns="0">
            <a:spAutoFit/>
          </a:bodyPr>
          <a:lstStyle/>
          <a:p>
            <a:pPr algn="l">
              <a:spcAft>
                <a:spcPts val="700"/>
              </a:spcAft>
            </a:pPr>
            <a:r>
              <a:rPr sz="1600" b="0" i="0">
                <a:solidFill>
                  <a:srgbClr val="141413"/>
                </a:solidFill>
                <a:latin typeface="Arial"/>
              </a:rPr>
              <a:t>• how the decision is framed in the first place</a:t>
            </a:r>
          </a:p>
          <a:p>
            <a:pPr algn="l">
              <a:spcAft>
                <a:spcPts val="700"/>
              </a:spcAft>
            </a:pPr>
            <a:r>
              <a:rPr sz="1600" b="0" i="0">
                <a:solidFill>
                  <a:srgbClr val="141413"/>
                </a:solidFill>
                <a:latin typeface="Arial"/>
              </a:rPr>
              <a:t>• legitimacy — who is bound without a say</a:t>
            </a:r>
          </a:p>
          <a:p>
            <a:pPr algn="l">
              <a:spcAft>
                <a:spcPts val="700"/>
              </a:spcAft>
            </a:pPr>
            <a:r>
              <a:rPr sz="1600" b="0" i="0">
                <a:solidFill>
                  <a:srgbClr val="141413"/>
                </a:solidFill>
                <a:latin typeface="Arial"/>
              </a:rPr>
              <a:t>• opportunity cost, and alternatives no one modelled</a:t>
            </a:r>
          </a:p>
          <a:p>
            <a:pPr algn="l">
              <a:spcAft>
                <a:spcPts val="700"/>
              </a:spcAft>
            </a:pPr>
            <a:r>
              <a:rPr sz="1600" b="0" i="0">
                <a:solidFill>
                  <a:srgbClr val="141413"/>
                </a:solidFill>
                <a:latin typeface="Arial"/>
              </a:rPr>
              <a:t>• the value trade-offs</a:t>
            </a:r>
          </a:p>
        </p:txBody>
      </p:sp>
      <p:sp>
        <p:nvSpPr>
          <p:cNvPr id="7" name="Rounded Rectangle 6"/>
          <p:cNvSpPr/>
          <p:nvPr/>
        </p:nvSpPr>
        <p:spPr>
          <a:xfrm>
            <a:off x="7589520" y="1783080"/>
            <a:ext cx="3959352" cy="30632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7A3F28"/>
                </a:solidFill>
                <a:latin typeface="Arial"/>
              </a:rPr>
              <a:t>Three rules</a:t>
            </a:r>
          </a:p>
        </p:txBody>
      </p:sp>
      <p:sp>
        <p:nvSpPr>
          <p:cNvPr id="9" name="TextBox 8"/>
          <p:cNvSpPr txBox="1"/>
          <p:nvPr/>
        </p:nvSpPr>
        <p:spPr>
          <a:xfrm>
            <a:off x="7863840" y="2697480"/>
            <a:ext cx="3429000" cy="2057400"/>
          </a:xfrm>
          <a:prstGeom prst="rect">
            <a:avLst/>
          </a:prstGeom>
          <a:noFill/>
        </p:spPr>
        <p:txBody>
          <a:bodyPr wrap="square" anchor="t" lIns="0" rIns="0" tIns="0" bIns="0">
            <a:spAutoFit/>
          </a:bodyPr>
          <a:lstStyle/>
          <a:p>
            <a:pPr algn="l">
              <a:spcAft>
                <a:spcPts val="1000"/>
              </a:spcAft>
            </a:pPr>
            <a:r>
              <a:rPr sz="1500" b="0" i="0">
                <a:solidFill>
                  <a:srgbClr val="7A3F28"/>
                </a:solidFill>
                <a:latin typeface="Arial"/>
              </a:rPr>
              <a:t>Don't resolve them — you can't.</a:t>
            </a:r>
          </a:p>
          <a:p>
            <a:pPr algn="l">
              <a:spcAft>
                <a:spcPts val="1000"/>
              </a:spcAft>
            </a:pPr>
            <a:r>
              <a:rPr sz="1500" b="0" i="0">
                <a:solidFill>
                  <a:srgbClr val="7A3F28"/>
                </a:solidFill>
                <a:latin typeface="Arial"/>
              </a:rPr>
              <a:t>Don't drop them — they matter most.</a:t>
            </a:r>
          </a:p>
          <a:p>
            <a:pPr algn="l">
              <a:spcAft>
                <a:spcPts val="1000"/>
              </a:spcAft>
            </a:pPr>
            <a:r>
              <a:rPr sz="1500" b="0" i="0">
                <a:solidFill>
                  <a:srgbClr val="7A3F28"/>
                </a:solidFill>
                <a:latin typeface="Arial"/>
              </a:rPr>
              <a:t>Don't assert them as verified.</a:t>
            </a:r>
          </a:p>
        </p:txBody>
      </p:sp>
      <p:sp>
        <p:nvSpPr>
          <p:cNvPr id="10" name="Rounded Rectangle 9"/>
          <p:cNvSpPr/>
          <p:nvPr/>
        </p:nvSpPr>
        <p:spPr>
          <a:xfrm>
            <a:off x="640080" y="507492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188720"/>
          </a:xfrm>
          <a:prstGeom prst="rect">
            <a:avLst/>
          </a:prstGeom>
          <a:noFill/>
        </p:spPr>
        <p:txBody>
          <a:bodyPr wrap="square" anchor="ctr" lIns="0" rIns="0" tIns="0" bIns="0">
            <a:spAutoFit/>
          </a:bodyPr>
          <a:lstStyle/>
          <a:p>
            <a:pPr algn="l"/>
            <a:r>
              <a:rPr sz="1800" b="1" i="0">
                <a:solidFill>
                  <a:srgbClr val="FFFFFF"/>
                </a:solidFill>
                <a:latin typeface="Arial"/>
              </a:rPr>
              <a:t>Named precisely, and carried untouched to the gate (Step 8) — where you answer them.</a:t>
            </a:r>
          </a:p>
          <a:p>
            <a:pPr algn="l"/>
            <a:r>
              <a:rPr sz="1800" b="1" i="0">
                <a:solidFill>
                  <a:srgbClr val="FFFFFF"/>
                </a:solidFill>
                <a:latin typeface="Arial"/>
              </a:rPr>
              <a:t>This is what stops a value judgment being smuggled in as a finding.</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14/26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7 · GRADE-LOCK + RESILIENCE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Freeze the grades. Then try to break the call.</a:t>
            </a:r>
          </a:p>
        </p:txBody>
      </p:sp>
      <p:sp>
        <p:nvSpPr>
          <p:cNvPr id="4" name="Rounded Rectangle 3"/>
          <p:cNvSpPr/>
          <p:nvPr/>
        </p:nvSpPr>
        <p:spPr>
          <a:xfrm>
            <a:off x="640080" y="1783080"/>
            <a:ext cx="544068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5F7249"/>
                </a:solidFill>
                <a:latin typeface="Arial"/>
              </a:rPr>
              <a:t>Grade-lock</a:t>
            </a:r>
          </a:p>
        </p:txBody>
      </p:sp>
      <p:sp>
        <p:nvSpPr>
          <p:cNvPr id="6" name="TextBox 5"/>
          <p:cNvSpPr txBox="1"/>
          <p:nvPr/>
        </p:nvSpPr>
        <p:spPr>
          <a:xfrm>
            <a:off x="914400" y="2697480"/>
            <a:ext cx="4937760" cy="2057400"/>
          </a:xfrm>
          <a:prstGeom prst="rect">
            <a:avLst/>
          </a:prstGeom>
          <a:noFill/>
        </p:spPr>
        <p:txBody>
          <a:bodyPr wrap="square" anchor="t" lIns="0" rIns="0" tIns="0" bIns="0">
            <a:spAutoFit/>
          </a:bodyPr>
          <a:lstStyle/>
          <a:p>
            <a:pPr algn="l"/>
            <a:r>
              <a:rPr sz="1600" b="0" i="0">
                <a:solidFill>
                  <a:srgbClr val="141413"/>
                </a:solidFill>
                <a:latin typeface="Arial"/>
              </a:rPr>
              <a:t>Every grade from verification is now frozen. Nothing downstream can change it — a later step can only restate it. The confidence on each claim is fixed and auditable, not drifting to suit the conclusion.</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4E79A6"/>
                </a:solidFill>
                <a:latin typeface="Arial"/>
              </a:rPr>
              <a:t>Resilience check</a:t>
            </a:r>
          </a:p>
        </p:txBody>
      </p:sp>
      <p:sp>
        <p:nvSpPr>
          <p:cNvPr id="9" name="TextBox 8"/>
          <p:cNvSpPr txBox="1"/>
          <p:nvPr/>
        </p:nvSpPr>
        <p:spPr>
          <a:xfrm>
            <a:off x="6537960" y="2697480"/>
            <a:ext cx="4754880" cy="2057400"/>
          </a:xfrm>
          <a:prstGeom prst="rect">
            <a:avLst/>
          </a:prstGeom>
          <a:noFill/>
        </p:spPr>
        <p:txBody>
          <a:bodyPr wrap="square" anchor="t" lIns="0" rIns="0" tIns="0" bIns="0">
            <a:spAutoFit/>
          </a:bodyPr>
          <a:lstStyle/>
          <a:p>
            <a:pPr algn="l"/>
            <a:r>
              <a:rPr sz="1600" b="0" i="0">
                <a:solidFill>
                  <a:srgbClr val="141413"/>
                </a:solidFill>
                <a:latin typeface="Arial"/>
              </a:rPr>
              <a:t>Before committing, stress-test the call against its load-bearing assumptions and the systems map's key links: if one claim you're leaning on were wrong, would the call survive — or does everything hinge on it?</a:t>
            </a:r>
          </a:p>
        </p:txBody>
      </p:sp>
      <p:sp>
        <p:nvSpPr>
          <p:cNvPr id="10" name="Rounded Rectangle 9"/>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Locked grades make the confidence auditable; the resilience check makes sure the call doesn't rest on a single fragile assumption.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15/26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658368" y="365760"/>
            <a:ext cx="10881360" cy="365760"/>
          </a:xfrm>
          <a:prstGeom prst="rect">
            <a:avLst/>
          </a:prstGeom>
          <a:noFill/>
        </p:spPr>
        <p:txBody>
          <a:bodyPr wrap="square" anchor="t" lIns="0" rIns="0" tIns="0" bIns="0">
            <a:spAutoFit/>
          </a:bodyPr>
          <a:lstStyle/>
          <a:p>
            <a:pPr algn="l"/>
            <a:r>
              <a:rPr sz="1500" b="1" i="0">
                <a:solidFill>
                  <a:srgbClr val="E89078"/>
                </a:solidFill>
                <a:latin typeface="Arial"/>
              </a:rPr>
              <a:t>STEP 8 · THE FORCED GATE</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r>
              <a:rPr sz="3000" b="1" i="0">
                <a:solidFill>
                  <a:srgbClr val="FFFFFF"/>
                </a:solidFill>
                <a:latin typeface="Arial"/>
              </a:rPr>
              <a:t>The value questions are yours to answer.</a:t>
            </a:r>
          </a:p>
        </p:txBody>
      </p:sp>
      <p:sp>
        <p:nvSpPr>
          <p:cNvPr id="4" name="Rounded Rectangle 3"/>
          <p:cNvSpPr/>
          <p:nvPr/>
        </p:nvSpPr>
        <p:spPr>
          <a:xfrm>
            <a:off x="640080" y="1691640"/>
            <a:ext cx="10908792" cy="1691640"/>
          </a:xfrm>
          <a:prstGeom prst="roundRect">
            <a:avLst>
              <a:gd name="adj" fmla="val 5500"/>
            </a:avLst>
          </a:prstGeom>
          <a:solidFill>
            <a:srgbClr val="F2D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10241280" cy="1691640"/>
          </a:xfrm>
          <a:prstGeom prst="rect">
            <a:avLst/>
          </a:prstGeom>
          <a:noFill/>
        </p:spPr>
        <p:txBody>
          <a:bodyPr wrap="square" anchor="ctr" lIns="0" rIns="0" tIns="0" bIns="0">
            <a:spAutoFit/>
          </a:bodyPr>
          <a:lstStyle/>
          <a:p>
            <a:pPr algn="l"/>
            <a:r>
              <a:rPr sz="2000" b="0" i="0">
                <a:solidFill>
                  <a:srgbClr val="7A3F28"/>
                </a:solidFill>
                <a:latin typeface="Arial"/>
              </a:rPr>
              <a:t>The questions no evidence can settle — the framing, the legitimacy, the trade-offs — are handed back to you, one at a time. The analysis won't finalise until you take a position — or explicitly defer, which is logged, not ignored.</a:t>
            </a:r>
          </a:p>
        </p:txBody>
      </p:sp>
      <p:sp>
        <p:nvSpPr>
          <p:cNvPr id="6" name="TextBox 5"/>
          <p:cNvSpPr txBox="1"/>
          <p:nvPr/>
        </p:nvSpPr>
        <p:spPr>
          <a:xfrm>
            <a:off x="640080" y="3794760"/>
            <a:ext cx="10881360" cy="1371600"/>
          </a:xfrm>
          <a:prstGeom prst="rect">
            <a:avLst/>
          </a:prstGeom>
          <a:noFill/>
        </p:spPr>
        <p:txBody>
          <a:bodyPr wrap="square" anchor="t" lIns="0" rIns="0" tIns="0" bIns="0">
            <a:spAutoFit/>
          </a:bodyPr>
          <a:lstStyle/>
          <a:p>
            <a:pPr algn="l"/>
            <a:r>
              <a:rPr sz="1900" b="1" i="0">
                <a:solidFill>
                  <a:srgbClr val="E89078"/>
                </a:solidFill>
                <a:latin typeface="Arial"/>
              </a:rPr>
              <a:t>Why forced?  </a:t>
            </a:r>
          </a:p>
          <a:p>
            <a:pPr algn="l"/>
            <a:r>
              <a:rPr sz="1900" b="0" i="0">
                <a:solidFill>
                  <a:srgbClr val="FAF9F5"/>
                </a:solidFill>
                <a:latin typeface="Arial"/>
              </a:rPr>
              <a:t>Testing showed that merely showing you these questions doesn't work — attention slides to the verifiable. Being made to answer is what gets them addressed.</a:t>
            </a:r>
          </a:p>
        </p:txBody>
      </p:sp>
      <p:sp>
        <p:nvSpPr>
          <p:cNvPr id="7" name="TextBox 6"/>
          <p:cNvSpPr txBox="1"/>
          <p:nvPr/>
        </p:nvSpPr>
        <p:spPr>
          <a:xfrm>
            <a:off x="640080" y="5257800"/>
            <a:ext cx="10881360" cy="457200"/>
          </a:xfrm>
          <a:prstGeom prst="rect">
            <a:avLst/>
          </a:prstGeom>
          <a:noFill/>
        </p:spPr>
        <p:txBody>
          <a:bodyPr wrap="square" anchor="t" lIns="0" rIns="0" tIns="0" bIns="0">
            <a:spAutoFit/>
          </a:bodyPr>
          <a:lstStyle/>
          <a:p>
            <a:pPr algn="l"/>
            <a:r>
              <a:rPr sz="1700" b="0" i="0">
                <a:solidFill>
                  <a:srgbClr val="C9C6BA"/>
                </a:solidFill>
                <a:latin typeface="Arial"/>
              </a:rPr>
              <a:t>The engine surfaces the questions; you own the judgment.</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16/26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9 · THE DECISION BRIEF</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short decision surface — not an essay.</a:t>
            </a:r>
          </a:p>
        </p:txBody>
      </p:sp>
      <p:sp>
        <p:nvSpPr>
          <p:cNvPr id="4" name="Rounded Rectangle 3"/>
          <p:cNvSpPr/>
          <p:nvPr/>
        </p:nvSpPr>
        <p:spPr>
          <a:xfrm>
            <a:off x="640080" y="178308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929384"/>
            <a:ext cx="3063240" cy="457200"/>
          </a:xfrm>
          <a:prstGeom prst="rect">
            <a:avLst/>
          </a:prstGeom>
          <a:noFill/>
        </p:spPr>
        <p:txBody>
          <a:bodyPr wrap="square" anchor="t" lIns="0" rIns="0" tIns="0" bIns="0">
            <a:spAutoFit/>
          </a:bodyPr>
          <a:lstStyle/>
          <a:p>
            <a:pPr algn="l"/>
            <a:r>
              <a:rPr sz="1700" b="1" i="0">
                <a:solidFill>
                  <a:srgbClr val="4E79A6"/>
                </a:solidFill>
                <a:latin typeface="Arial"/>
              </a:rPr>
              <a:t>The call</a:t>
            </a:r>
          </a:p>
        </p:txBody>
      </p:sp>
      <p:sp>
        <p:nvSpPr>
          <p:cNvPr id="6" name="TextBox 5"/>
          <p:cNvSpPr txBox="1"/>
          <p:nvPr/>
        </p:nvSpPr>
        <p:spPr>
          <a:xfrm>
            <a:off x="859536"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provisional stance if the problem is wicked</a:t>
            </a:r>
          </a:p>
        </p:txBody>
      </p:sp>
      <p:sp>
        <p:nvSpPr>
          <p:cNvPr id="7" name="Rounded Rectangle 6"/>
          <p:cNvSpPr/>
          <p:nvPr/>
        </p:nvSpPr>
        <p:spPr>
          <a:xfrm>
            <a:off x="4361688"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Confidence basis</a:t>
            </a:r>
          </a:p>
        </p:txBody>
      </p:sp>
      <p:sp>
        <p:nvSpPr>
          <p:cNvPr id="9" name="TextBox 8"/>
          <p:cNvSpPr txBox="1"/>
          <p:nvPr/>
        </p:nvSpPr>
        <p:spPr>
          <a:xfrm>
            <a:off x="4581144"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how solid the EVIDENCE is — the weakest grade</a:t>
            </a:r>
          </a:p>
        </p:txBody>
      </p:sp>
      <p:sp>
        <p:nvSpPr>
          <p:cNvPr id="10" name="Rounded Rectangle 9"/>
          <p:cNvSpPr/>
          <p:nvPr/>
        </p:nvSpPr>
        <p:spPr>
          <a:xfrm>
            <a:off x="8083296"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Action contingency</a:t>
            </a:r>
          </a:p>
        </p:txBody>
      </p:sp>
      <p:sp>
        <p:nvSpPr>
          <p:cNvPr id="12" name="TextBox 11"/>
          <p:cNvSpPr txBox="1"/>
          <p:nvPr/>
        </p:nvSpPr>
        <p:spPr>
          <a:xfrm>
            <a:off x="8302752"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whether the ACTION will work — kept separate</a:t>
            </a:r>
          </a:p>
        </p:txBody>
      </p:sp>
      <p:sp>
        <p:nvSpPr>
          <p:cNvPr id="13" name="Rounded Rectangle 12"/>
          <p:cNvSpPr/>
          <p:nvPr/>
        </p:nvSpPr>
        <p:spPr>
          <a:xfrm>
            <a:off x="640080"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Dominant unknown</a:t>
            </a:r>
          </a:p>
        </p:txBody>
      </p:sp>
      <p:sp>
        <p:nvSpPr>
          <p:cNvPr id="15" name="TextBox 14"/>
          <p:cNvSpPr txBox="1"/>
          <p:nvPr/>
        </p:nvSpPr>
        <p:spPr>
          <a:xfrm>
            <a:off x="859536"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one fact that would most move it</a:t>
            </a:r>
          </a:p>
        </p:txBody>
      </p:sp>
      <p:sp>
        <p:nvSpPr>
          <p:cNvPr id="16" name="Rounded Rectangle 15"/>
          <p:cNvSpPr/>
          <p:nvPr/>
        </p:nvSpPr>
        <p:spPr>
          <a:xfrm>
            <a:off x="4361688"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Verify first</a:t>
            </a:r>
          </a:p>
        </p:txBody>
      </p:sp>
      <p:sp>
        <p:nvSpPr>
          <p:cNvPr id="18" name="TextBox 17"/>
          <p:cNvSpPr txBox="1"/>
          <p:nvPr/>
        </p:nvSpPr>
        <p:spPr>
          <a:xfrm>
            <a:off x="4581144"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cheapest next step that cuts risk</a:t>
            </a:r>
          </a:p>
        </p:txBody>
      </p:sp>
      <p:sp>
        <p:nvSpPr>
          <p:cNvPr id="19" name="Rounded Rectangle 18"/>
          <p:cNvSpPr/>
          <p:nvPr/>
        </p:nvSpPr>
        <p:spPr>
          <a:xfrm>
            <a:off x="8083296"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What would flip it</a:t>
            </a:r>
          </a:p>
        </p:txBody>
      </p:sp>
      <p:sp>
        <p:nvSpPr>
          <p:cNvPr id="21" name="TextBox 20"/>
          <p:cNvSpPr txBox="1"/>
          <p:nvPr/>
        </p:nvSpPr>
        <p:spPr>
          <a:xfrm>
            <a:off x="8302752"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“if this is false, the call reverses”</a:t>
            </a:r>
          </a:p>
        </p:txBody>
      </p:sp>
      <p:sp>
        <p:nvSpPr>
          <p:cNvPr id="22" name="Rounded Rectangle 21"/>
          <p:cNvSpPr/>
          <p:nvPr/>
        </p:nvSpPr>
        <p:spPr>
          <a:xfrm>
            <a:off x="640080" y="498348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983480"/>
            <a:ext cx="10177272" cy="1188720"/>
          </a:xfrm>
          <a:prstGeom prst="rect">
            <a:avLst/>
          </a:prstGeom>
          <a:noFill/>
        </p:spPr>
        <p:txBody>
          <a:bodyPr wrap="square" anchor="ctr" lIns="0" rIns="0" tIns="0" bIns="0">
            <a:spAutoFit/>
          </a:bodyPr>
          <a:lstStyle/>
          <a:p>
            <a:pPr algn="l"/>
            <a:r>
              <a:rPr sz="1800" b="1" i="0">
                <a:solidFill>
                  <a:srgbClr val="FFFFFF"/>
                </a:solidFill>
                <a:latin typeface="Arial"/>
              </a:rPr>
              <a:t>Every hedge names what it depends on.</a:t>
            </a:r>
          </a:p>
          <a:p>
            <a:pPr algn="l"/>
            <a:r>
              <a:rPr sz="1800" b="1" i="0">
                <a:solidFill>
                  <a:srgbClr val="FFFFFF"/>
                </a:solidFill>
                <a:latin typeface="Arial"/>
              </a:rPr>
              <a:t>A caveat that points at nothing isn't allowed.</a:t>
            </a:r>
          </a:p>
        </p:txBody>
      </p:sp>
      <p:sp>
        <p:nvSpPr>
          <p:cNvPr id="24" name="TextBox 23"/>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17/26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HOW IT RUNS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Run it as a subagent — blind, then adversarial.</a:t>
            </a:r>
          </a:p>
        </p:txBody>
      </p:sp>
      <p:sp>
        <p:nvSpPr>
          <p:cNvPr id="4" name="Rounded Rectangle 3"/>
          <p:cNvSpPr/>
          <p:nvPr/>
        </p:nvSpPr>
        <p:spPr>
          <a:xfrm>
            <a:off x="640080" y="1691640"/>
            <a:ext cx="544068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01952"/>
            <a:ext cx="4937760" cy="457200"/>
          </a:xfrm>
          <a:prstGeom prst="rect">
            <a:avLst/>
          </a:prstGeom>
          <a:noFill/>
        </p:spPr>
        <p:txBody>
          <a:bodyPr wrap="square" anchor="t" lIns="0" rIns="0" tIns="0" bIns="0">
            <a:spAutoFit/>
          </a:bodyPr>
          <a:lstStyle/>
          <a:p>
            <a:pPr algn="l"/>
            <a:r>
              <a:rPr sz="1800" b="1" i="0">
                <a:solidFill>
                  <a:srgbClr val="4E79A6"/>
                </a:solidFill>
                <a:latin typeface="Arial"/>
              </a:rPr>
              <a:t>The mechanism</a:t>
            </a:r>
          </a:p>
        </p:txBody>
      </p:sp>
      <p:sp>
        <p:nvSpPr>
          <p:cNvPr id="6" name="TextBox 5"/>
          <p:cNvSpPr txBox="1"/>
          <p:nvPr/>
        </p:nvSpPr>
        <p:spPr>
          <a:xfrm>
            <a:off x="914400" y="2514600"/>
            <a:ext cx="4937760" cy="2377440"/>
          </a:xfrm>
          <a:prstGeom prst="rect">
            <a:avLst/>
          </a:prstGeom>
          <a:noFill/>
        </p:spPr>
        <p:txBody>
          <a:bodyPr wrap="square" anchor="t" lIns="0" rIns="0" tIns="0" bIns="0">
            <a:spAutoFit/>
          </a:bodyPr>
          <a:lstStyle/>
          <a:p>
            <a:pPr algn="l">
              <a:spcAft>
                <a:spcPts val="700"/>
              </a:spcAft>
            </a:pPr>
            <a:r>
              <a:rPr sz="1500" b="0" i="0">
                <a:solidFill>
                  <a:srgbClr val="141413"/>
                </a:solidFill>
                <a:latin typeface="Arial"/>
              </a:rPr>
              <a:t>• a separate subagent, its own isolated context</a:t>
            </a:r>
          </a:p>
          <a:p>
            <a:pPr algn="l">
              <a:spcAft>
                <a:spcPts val="700"/>
              </a:spcAft>
            </a:pPr>
            <a:r>
              <a:rPr sz="1400" b="0" i="0">
                <a:solidFill>
                  <a:srgbClr val="141413"/>
                </a:solidFill>
                <a:latin typeface="Arial"/>
              </a:rPr>
              <a:t>• fed the facts + the grade-locked spine from the Anthropic analysis — a second model on top, never standalone</a:t>
            </a:r>
          </a:p>
          <a:p>
            <a:pPr algn="l">
              <a:spcAft>
                <a:spcPts val="700"/>
              </a:spcAft>
            </a:pPr>
            <a:r>
              <a:rPr sz="1500" b="0" i="0">
                <a:solidFill>
                  <a:srgbClr val="141413"/>
                </a:solidFill>
                <a:latin typeface="Arial"/>
              </a:rPr>
              <a:t>• Pass 1 · blind — re-derive: same call?</a:t>
            </a:r>
          </a:p>
          <a:p>
            <a:pPr algn="l">
              <a:spcAft>
                <a:spcPts val="700"/>
              </a:spcAft>
            </a:pPr>
            <a:r>
              <a:rPr sz="1500" b="0" i="0">
                <a:solidFill>
                  <a:srgbClr val="141413"/>
                </a:solidFill>
                <a:latin typeface="Arial"/>
              </a:rPr>
              <a:t>• Pass 2 · adversarial — try to break it</a:t>
            </a:r>
          </a:p>
          <a:p>
            <a:pPr algn="l">
              <a:spcAft>
                <a:spcPts val="700"/>
              </a:spcAft>
            </a:pPr>
            <a:r>
              <a:rPr sz="1500" b="0" i="0">
                <a:solidFill>
                  <a:srgbClr val="141413"/>
                </a:solidFill>
                <a:latin typeface="Arial"/>
              </a:rPr>
              <a:t>• discrepancies fold in under grade-lock; you own the call</a:t>
            </a:r>
          </a:p>
        </p:txBody>
      </p:sp>
      <p:sp>
        <p:nvSpPr>
          <p:cNvPr id="7" name="Rounded Rectangle 6"/>
          <p:cNvSpPr/>
          <p:nvPr/>
        </p:nvSpPr>
        <p:spPr>
          <a:xfrm>
            <a:off x="6263640" y="1691640"/>
            <a:ext cx="528523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01952"/>
            <a:ext cx="4754880" cy="457200"/>
          </a:xfrm>
          <a:prstGeom prst="rect">
            <a:avLst/>
          </a:prstGeom>
          <a:noFill/>
        </p:spPr>
        <p:txBody>
          <a:bodyPr wrap="square" anchor="t" lIns="0" rIns="0" tIns="0" bIns="0">
            <a:spAutoFit/>
          </a:bodyPr>
          <a:lstStyle/>
          <a:p>
            <a:pPr algn="l"/>
            <a:r>
              <a:rPr sz="1800" b="1" i="0">
                <a:solidFill>
                  <a:srgbClr val="D97757"/>
                </a:solidFill>
                <a:latin typeface="Arial"/>
              </a:rPr>
              <a:t>Which independent adjudicator (strongest first)</a:t>
            </a:r>
          </a:p>
        </p:txBody>
      </p:sp>
      <p:sp>
        <p:nvSpPr>
          <p:cNvPr id="9" name="TextBox 8"/>
          <p:cNvSpPr txBox="1"/>
          <p:nvPr/>
        </p:nvSpPr>
        <p:spPr>
          <a:xfrm>
            <a:off x="6537960" y="2432304"/>
            <a:ext cx="4754880" cy="2468880"/>
          </a:xfrm>
          <a:prstGeom prst="rect">
            <a:avLst/>
          </a:prstGeom>
          <a:noFill/>
        </p:spPr>
        <p:txBody>
          <a:bodyPr wrap="square" anchor="t" lIns="0" rIns="0" tIns="0" bIns="0">
            <a:spAutoFit/>
          </a:bodyPr>
          <a:lstStyle/>
          <a:p>
            <a:pPr algn="l">
              <a:spcAft>
                <a:spcPts val="700"/>
              </a:spcAft>
            </a:pPr>
            <a:r>
              <a:rPr sz="1300" b="0" i="0">
                <a:solidFill>
                  <a:srgbClr val="141413"/>
                </a:solidFill>
                <a:latin typeface="Arial"/>
              </a:rPr>
              <a:t>A · different-LAB model (GPT-5.6 Sol; interim GPT-5.5) — strongest; runs ALONGSIDE the Anthropic model, never alone. Invoked by an API call — the engine guides the set-up interactively. </a:t>
            </a:r>
            <a:r>
              <a:rPr sz="1300" b="0" i="1">
                <a:solidFill>
                  <a:srgbClr val="7A3F28"/>
                </a:solidFill>
                <a:latin typeface="Arial"/>
              </a:rPr>
              <a:t>Built + live-verified as a harness; opt-in, off by default; data leaves the boundary, off for privileged/confidential matters.</a:t>
            </a:r>
          </a:p>
          <a:p>
            <a:pPr algn="l">
              <a:spcAft>
                <a:spcPts val="700"/>
              </a:spcAft>
            </a:pPr>
            <a:r>
              <a:rPr sz="1300" b="0" i="0">
                <a:solidFill>
                  <a:srgbClr val="141413"/>
                </a:solidFill>
                <a:latin typeface="Arial"/>
              </a:rPr>
              <a:t>B · a different in-house model (Fable 5)</a:t>
            </a:r>
          </a:p>
          <a:p>
            <a:pPr algn="l">
              <a:spcAft>
                <a:spcPts val="700"/>
              </a:spcAft>
            </a:pPr>
            <a:r>
              <a:rPr sz="1300" b="0" i="0">
                <a:solidFill>
                  <a:srgbClr val="141413"/>
                </a:solidFill>
                <a:latin typeface="Arial"/>
              </a:rPr>
              <a:t>C · a panel of 2+ blind Opus instances — divergence is the signal</a:t>
            </a:r>
          </a:p>
          <a:p>
            <a:pPr algn="l">
              <a:spcAft>
                <a:spcPts val="700"/>
              </a:spcAft>
            </a:pPr>
            <a:r>
              <a:rPr sz="1300" b="0" i="0">
                <a:solidFill>
                  <a:srgbClr val="141413"/>
                </a:solidFill>
                <a:latin typeface="Arial"/>
              </a:rPr>
              <a:t>D · a self-adversarial reset (weakest)</a:t>
            </a:r>
          </a:p>
        </p:txBody>
      </p:sp>
      <p:sp>
        <p:nvSpPr>
          <p:cNvPr id="10" name="Rounded Rectangle 9"/>
          <p:cNvSpPr/>
          <p:nvPr/>
        </p:nvSpPr>
        <p:spPr>
          <a:xfrm>
            <a:off x="640080" y="512064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51560"/>
          </a:xfrm>
          <a:prstGeom prst="rect">
            <a:avLst/>
          </a:prstGeom>
          <a:noFill/>
        </p:spPr>
        <p:txBody>
          <a:bodyPr wrap="square" anchor="ctr" lIns="0" rIns="0" tIns="0" bIns="0">
            <a:spAutoFit/>
          </a:bodyPr>
          <a:lstStyle/>
          <a:p>
            <a:pPr algn="l"/>
            <a:r>
              <a:rPr sz="1500" b="1" i="0">
                <a:solidFill>
                  <a:srgbClr val="FFFFFF"/>
                </a:solidFill>
                <a:latin typeface="Arial"/>
              </a:rPr>
              <a:t>Always a check on the Anthropic model's finished analysis — the adjudicator never flips the call.  </a:t>
            </a:r>
          </a:p>
          <a:p>
            <a:pPr algn="l"/>
            <a:r>
              <a:rPr sz="1500" b="1" i="0">
                <a:solidFill>
                  <a:srgbClr val="E89078"/>
                </a:solidFill>
                <a:latin typeface="Arial"/>
              </a:rPr>
              <a:t>Declare the rung reached; same-model agreement is stability, not proof.</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18/26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10 · ADJUDICATION · WHERE IT HELPS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Spend the frontier model where judgment decides.</a:t>
            </a:r>
          </a:p>
        </p:txBody>
      </p:sp>
      <p:sp>
        <p:nvSpPr>
          <p:cNvPr id="4" name="Rounded Rectangle 3"/>
          <p:cNvSpPr/>
          <p:nvPr/>
        </p:nvSpPr>
        <p:spPr>
          <a:xfrm>
            <a:off x="640080" y="1783080"/>
            <a:ext cx="672084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5F7249"/>
                </a:solidFill>
                <a:latin typeface="Arial"/>
              </a:rPr>
              <a:t>Sharpens the contested judgments</a:t>
            </a:r>
          </a:p>
        </p:txBody>
      </p:sp>
      <p:sp>
        <p:nvSpPr>
          <p:cNvPr id="6" name="TextBox 5"/>
          <p:cNvSpPr txBox="1"/>
          <p:nvPr/>
        </p:nvSpPr>
        <p:spPr>
          <a:xfrm>
            <a:off x="914400" y="2651760"/>
            <a:ext cx="6217920" cy="210312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load-bearing claims graded weak or uncorroborated</a:t>
            </a:r>
          </a:p>
          <a:p>
            <a:pPr algn="l">
              <a:spcAft>
                <a:spcPts val="500"/>
              </a:spcAft>
            </a:pPr>
            <a:r>
              <a:rPr sz="1600" b="0" i="0">
                <a:solidFill>
                  <a:srgbClr val="141413"/>
                </a:solidFill>
                <a:latin typeface="Arial"/>
              </a:rPr>
              <a:t>• the disconfirmation verdicts</a:t>
            </a:r>
          </a:p>
          <a:p>
            <a:pPr algn="l">
              <a:spcAft>
                <a:spcPts val="500"/>
              </a:spcAft>
            </a:pPr>
            <a:r>
              <a:rPr sz="1600" b="0" i="0">
                <a:solidFill>
                  <a:srgbClr val="141413"/>
                </a:solidFill>
                <a:latin typeface="Arial"/>
              </a:rPr>
              <a:t>• any allocation of blame — where legal cases turn</a:t>
            </a:r>
          </a:p>
          <a:p>
            <a:pPr algn="l">
              <a:spcAft>
                <a:spcPts val="500"/>
              </a:spcAft>
            </a:pPr>
            <a:r>
              <a:rPr sz="1600" b="0" i="0">
                <a:solidFill>
                  <a:srgbClr val="141413"/>
                </a:solidFill>
                <a:latin typeface="Arial"/>
              </a:rPr>
              <a:t>• the value questions at the gate</a:t>
            </a:r>
          </a:p>
          <a:p>
            <a:pPr algn="l">
              <a:spcAft>
                <a:spcPts val="500"/>
              </a:spcAft>
            </a:pPr>
            <a:r>
              <a:rPr sz="1600" b="0" i="0">
                <a:solidFill>
                  <a:srgbClr val="141413"/>
                </a:solidFill>
                <a:latin typeface="Arial"/>
              </a:rPr>
              <a:t>• which loop dominates, in a systems map</a:t>
            </a:r>
          </a:p>
        </p:txBody>
      </p:sp>
      <p:sp>
        <p:nvSpPr>
          <p:cNvPr id="7" name="Rounded Rectangle 6"/>
          <p:cNvSpPr/>
          <p:nvPr/>
        </p:nvSpPr>
        <p:spPr>
          <a:xfrm>
            <a:off x="7589520" y="1783080"/>
            <a:ext cx="395935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4A453D"/>
                </a:solidFill>
                <a:latin typeface="Arial"/>
              </a:rPr>
              <a:t>Adds little on</a:t>
            </a:r>
          </a:p>
        </p:txBody>
      </p:sp>
      <p:sp>
        <p:nvSpPr>
          <p:cNvPr id="9" name="TextBox 8"/>
          <p:cNvSpPr txBox="1"/>
          <p:nvPr/>
        </p:nvSpPr>
        <p:spPr>
          <a:xfrm>
            <a:off x="7863840" y="2651760"/>
            <a:ext cx="3429000" cy="1828800"/>
          </a:xfrm>
          <a:prstGeom prst="rect">
            <a:avLst/>
          </a:prstGeom>
          <a:noFill/>
        </p:spPr>
        <p:txBody>
          <a:bodyPr wrap="square" anchor="t" lIns="0" rIns="0" tIns="0" bIns="0">
            <a:spAutoFit/>
          </a:bodyPr>
          <a:lstStyle/>
          <a:p>
            <a:pPr algn="l"/>
            <a:r>
              <a:rPr sz="1700" b="0" i="0">
                <a:solidFill>
                  <a:srgbClr val="4A453D"/>
                </a:solidFill>
                <a:latin typeface="Arial"/>
              </a:rPr>
              <a:t>the [V1] facts already confirmed against a primary source — those are settled.</a:t>
            </a:r>
          </a:p>
        </p:txBody>
      </p:sp>
      <p:sp>
        <p:nvSpPr>
          <p:cNvPr id="10" name="Rounded Rectangle 9"/>
          <p:cNvSpPr/>
          <p:nvPr/>
        </p:nvSpPr>
        <p:spPr>
          <a:xfrm>
            <a:off x="640080" y="5029200"/>
            <a:ext cx="10908792" cy="11887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188720"/>
          </a:xfrm>
          <a:prstGeom prst="rect">
            <a:avLst/>
          </a:prstGeom>
          <a:noFill/>
        </p:spPr>
        <p:txBody>
          <a:bodyPr wrap="square" anchor="ctr" lIns="0" rIns="0" tIns="0" bIns="0">
            <a:spAutoFit/>
          </a:bodyPr>
          <a:lstStyle/>
          <a:p>
            <a:pPr algn="l"/>
            <a:r>
              <a:rPr sz="1800" b="1" i="0">
                <a:solidFill>
                  <a:srgbClr val="FFFFFF"/>
                </a:solidFill>
                <a:latin typeface="Arial"/>
              </a:rPr>
              <a:t>It reliably sharpens the contested judgments — safely, without reversing a sound call.</a:t>
            </a:r>
          </a:p>
          <a:p>
            <a:pPr algn="l"/>
            <a:r>
              <a:rPr sz="1800" b="1" i="0">
                <a:solidFill>
                  <a:srgbClr val="FFFFFF"/>
                </a:solidFill>
                <a:latin typeface="Arial"/>
              </a:rPr>
              <a:t>Rank its objections to the few that change the decision.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19/26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WHICH MODEL, AND WHEN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Which model, and when.</a:t>
            </a:r>
          </a:p>
        </p:txBody>
      </p:sp>
      <p:sp>
        <p:nvSpPr>
          <p:cNvPr id="4" name="Rounded Rectangle 3"/>
          <p:cNvSpPr/>
          <p:nvPr/>
        </p:nvSpPr>
        <p:spPr>
          <a:xfrm>
            <a:off x="640080" y="1783080"/>
            <a:ext cx="5440680" cy="27889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822960"/>
          </a:xfrm>
          <a:prstGeom prst="rect">
            <a:avLst/>
          </a:prstGeom>
          <a:noFill/>
        </p:spPr>
        <p:txBody>
          <a:bodyPr wrap="square" anchor="t" lIns="0" rIns="0" tIns="0" bIns="0">
            <a:spAutoFit/>
          </a:bodyPr>
          <a:lstStyle/>
          <a:p>
            <a:pPr algn="l"/>
            <a:r>
              <a:rPr sz="1900" b="1" i="0">
                <a:solidFill>
                  <a:srgbClr val="4E79A6"/>
                </a:solidFill>
                <a:latin typeface="Arial"/>
              </a:rPr>
              <a:t>Execution — a top-tier frontier model</a:t>
            </a:r>
          </a:p>
        </p:txBody>
      </p:sp>
      <p:sp>
        <p:nvSpPr>
          <p:cNvPr id="6" name="TextBox 5"/>
          <p:cNvSpPr txBox="1"/>
          <p:nvPr/>
        </p:nvSpPr>
        <p:spPr>
          <a:xfrm>
            <a:off x="914400" y="3246120"/>
            <a:ext cx="493776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Nearly every step leans on the model's own reasoning.</a:t>
            </a:r>
          </a:p>
          <a:p>
            <a:pPr algn="l">
              <a:spcAft>
                <a:spcPts val="600"/>
              </a:spcAft>
            </a:pPr>
            <a:r>
              <a:rPr sz="1600" b="1" i="0">
                <a:solidFill>
                  <a:srgbClr val="4E79A6"/>
                </a:solidFill>
                <a:latin typeface="Arial"/>
              </a:rPr>
              <a:t>We ran the engine on Opus 4.8.</a:t>
            </a:r>
          </a:p>
        </p:txBody>
      </p:sp>
      <p:sp>
        <p:nvSpPr>
          <p:cNvPr id="7" name="Rounded Rectangle 6"/>
          <p:cNvSpPr/>
          <p:nvPr/>
        </p:nvSpPr>
        <p:spPr>
          <a:xfrm>
            <a:off x="6263640" y="1783080"/>
            <a:ext cx="5285232" cy="27889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822960"/>
          </a:xfrm>
          <a:prstGeom prst="rect">
            <a:avLst/>
          </a:prstGeom>
          <a:noFill/>
        </p:spPr>
        <p:txBody>
          <a:bodyPr wrap="square" anchor="t" lIns="0" rIns="0" tIns="0" bIns="0">
            <a:spAutoFit/>
          </a:bodyPr>
          <a:lstStyle/>
          <a:p>
            <a:pPr algn="l"/>
            <a:r>
              <a:rPr sz="1900" b="1" i="0">
                <a:solidFill>
                  <a:srgbClr val="5F7249"/>
                </a:solidFill>
                <a:latin typeface="Arial"/>
              </a:rPr>
              <a:t>High-stakes adjudication — a second, independent frontier model</a:t>
            </a:r>
          </a:p>
        </p:txBody>
      </p:sp>
      <p:sp>
        <p:nvSpPr>
          <p:cNvPr id="9" name="TextBox 8"/>
          <p:cNvSpPr txBox="1"/>
          <p:nvPr/>
        </p:nvSpPr>
        <p:spPr>
          <a:xfrm>
            <a:off x="6537960" y="3246120"/>
            <a:ext cx="475488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For legal exposure, contested blame, decisions that bind people.</a:t>
            </a:r>
          </a:p>
          <a:p>
            <a:pPr algn="l">
              <a:spcAft>
                <a:spcPts val="600"/>
              </a:spcAft>
            </a:pPr>
            <a:r>
              <a:rPr sz="1600" b="1" i="0">
                <a:solidFill>
                  <a:srgbClr val="5F7249"/>
                </a:solidFill>
                <a:latin typeface="Arial"/>
              </a:rPr>
              <a:t>We used Fable 5 — run blind, then adversarial.</a:t>
            </a:r>
          </a:p>
        </p:txBody>
      </p:sp>
      <p:sp>
        <p:nvSpPr>
          <p:cNvPr id="10" name="Rounded Rectangle 9"/>
          <p:cNvSpPr/>
          <p:nvPr/>
        </p:nvSpPr>
        <p:spPr>
          <a:xfrm>
            <a:off x="640080" y="4754880"/>
            <a:ext cx="10908792" cy="12344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754880"/>
            <a:ext cx="10177272" cy="1234440"/>
          </a:xfrm>
          <a:prstGeom prst="rect">
            <a:avLst/>
          </a:prstGeom>
          <a:noFill/>
        </p:spPr>
        <p:txBody>
          <a:bodyPr wrap="square" anchor="ctr" lIns="0" rIns="0" tIns="0" bIns="0">
            <a:spAutoFit/>
          </a:bodyPr>
          <a:lstStyle/>
          <a:p>
            <a:pPr algn="l"/>
            <a:r>
              <a:rPr sz="1800" b="1" i="0">
                <a:solidFill>
                  <a:srgbClr val="FFFFFF"/>
                </a:solidFill>
                <a:latin typeface="Arial"/>
              </a:rPr>
              <a:t>A rigour-and-defensibility check, not a safety net: it sharpens a sound analysis, safely — but catching what the disciplined first pass missed is unproven.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A WEAKER MODEL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The engine disciplines the model — it doesn't rescue it.</a:t>
            </a:r>
          </a:p>
        </p:txBody>
      </p:sp>
      <p:sp>
        <p:nvSpPr>
          <p:cNvPr id="4" name="Rounded Rectangle 3"/>
          <p:cNvSpPr/>
          <p:nvPr/>
        </p:nvSpPr>
        <p:spPr>
          <a:xfrm>
            <a:off x="640080" y="1783080"/>
            <a:ext cx="5440680" cy="23774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93392"/>
            <a:ext cx="4937760" cy="457200"/>
          </a:xfrm>
          <a:prstGeom prst="rect">
            <a:avLst/>
          </a:prstGeom>
          <a:noFill/>
        </p:spPr>
        <p:txBody>
          <a:bodyPr wrap="square" anchor="t" lIns="0" rIns="0" tIns="0" bIns="0">
            <a:spAutoFit/>
          </a:bodyPr>
          <a:lstStyle/>
          <a:p>
            <a:pPr algn="l"/>
            <a:r>
              <a:rPr sz="1800" b="1" i="0">
                <a:solidFill>
                  <a:srgbClr val="5F7249"/>
                </a:solidFill>
                <a:latin typeface="Arial"/>
              </a:rPr>
              <a:t>Survives — the scaffolding</a:t>
            </a:r>
          </a:p>
        </p:txBody>
      </p:sp>
      <p:sp>
        <p:nvSpPr>
          <p:cNvPr id="6" name="TextBox 5"/>
          <p:cNvSpPr txBox="1"/>
          <p:nvPr/>
        </p:nvSpPr>
        <p:spPr>
          <a:xfrm>
            <a:off x="914400" y="2606040"/>
            <a:ext cx="493776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the forced gate</a:t>
            </a:r>
          </a:p>
          <a:p>
            <a:pPr algn="l">
              <a:spcAft>
                <a:spcPts val="500"/>
              </a:spcAft>
            </a:pPr>
            <a:r>
              <a:rPr sz="1600" b="0" i="0">
                <a:solidFill>
                  <a:srgbClr val="141413"/>
                </a:solidFill>
                <a:latin typeface="Arial"/>
              </a:rPr>
              <a:t>• grades &amp; caveats still travel</a:t>
            </a:r>
          </a:p>
          <a:p>
            <a:pPr algn="l">
              <a:spcAft>
                <a:spcPts val="500"/>
              </a:spcAft>
            </a:pPr>
            <a:r>
              <a:rPr sz="1600" b="0" i="0">
                <a:solidFill>
                  <a:srgbClr val="141413"/>
                </a:solidFill>
                <a:latin typeface="Arial"/>
              </a:rPr>
              <a:t>• audience rendering</a:t>
            </a:r>
          </a:p>
        </p:txBody>
      </p:sp>
      <p:sp>
        <p:nvSpPr>
          <p:cNvPr id="7" name="Rounded Rectangle 6"/>
          <p:cNvSpPr/>
          <p:nvPr/>
        </p:nvSpPr>
        <p:spPr>
          <a:xfrm>
            <a:off x="6263640" y="1783080"/>
            <a:ext cx="5285232" cy="23774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93392"/>
            <a:ext cx="4754880" cy="457200"/>
          </a:xfrm>
          <a:prstGeom prst="rect">
            <a:avLst/>
          </a:prstGeom>
          <a:noFill/>
        </p:spPr>
        <p:txBody>
          <a:bodyPr wrap="square" anchor="t" lIns="0" rIns="0" tIns="0" bIns="0">
            <a:spAutoFit/>
          </a:bodyPr>
          <a:lstStyle/>
          <a:p>
            <a:pPr algn="l"/>
            <a:r>
              <a:rPr sz="1800" b="1" i="0">
                <a:solidFill>
                  <a:srgbClr val="D97757"/>
                </a:solidFill>
                <a:latin typeface="Arial"/>
              </a:rPr>
              <a:t>Degrades — what fills it</a:t>
            </a:r>
          </a:p>
        </p:txBody>
      </p:sp>
      <p:sp>
        <p:nvSpPr>
          <p:cNvPr id="9" name="TextBox 8"/>
          <p:cNvSpPr txBox="1"/>
          <p:nvPr/>
        </p:nvSpPr>
        <p:spPr>
          <a:xfrm>
            <a:off x="6537960" y="2606040"/>
            <a:ext cx="475488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source tiers less reliable</a:t>
            </a:r>
          </a:p>
          <a:p>
            <a:pPr algn="l">
              <a:spcAft>
                <a:spcPts val="500"/>
              </a:spcAft>
            </a:pPr>
            <a:r>
              <a:rPr sz="1600" b="0" i="0">
                <a:solidFill>
                  <a:srgbClr val="141413"/>
                </a:solidFill>
                <a:latin typeface="Arial"/>
              </a:rPr>
              <a:t>• thinner counter-evidence search</a:t>
            </a:r>
          </a:p>
          <a:p>
            <a:pPr algn="l">
              <a:spcAft>
                <a:spcPts val="500"/>
              </a:spcAft>
            </a:pPr>
            <a:r>
              <a:rPr sz="1600" b="0" i="0">
                <a:solidFill>
                  <a:srgbClr val="141413"/>
                </a:solidFill>
                <a:latin typeface="Arial"/>
              </a:rPr>
              <a:t>• more confident errors, worse at catching them</a:t>
            </a:r>
          </a:p>
        </p:txBody>
      </p:sp>
      <p:sp>
        <p:nvSpPr>
          <p:cNvPr id="10" name="Rounded Rectangle 9"/>
          <p:cNvSpPr/>
          <p:nvPr/>
        </p:nvSpPr>
        <p:spPr>
          <a:xfrm>
            <a:off x="640080" y="4434840"/>
            <a:ext cx="10908792" cy="14630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434840"/>
            <a:ext cx="10177272" cy="1463040"/>
          </a:xfrm>
          <a:prstGeom prst="rect">
            <a:avLst/>
          </a:prstGeom>
          <a:noFill/>
        </p:spPr>
        <p:txBody>
          <a:bodyPr wrap="square" anchor="ctr" lIns="0" rIns="0" tIns="0" bIns="0">
            <a:spAutoFit/>
          </a:bodyPr>
          <a:lstStyle/>
          <a:p>
            <a:pPr algn="l"/>
            <a:r>
              <a:rPr sz="1700" b="1" i="0">
                <a:solidFill>
                  <a:srgbClr val="FFFFFF"/>
                </a:solidFill>
                <a:latin typeface="Arial"/>
              </a:rPr>
              <a:t>The polish is itself a risk — grades and caveats can make a weak answer look more defensible than it is. </a:t>
            </a:r>
          </a:p>
          <a:p>
            <a:pPr algn="l"/>
            <a:r>
              <a:rPr sz="1700" b="1" i="0">
                <a:solidFill>
                  <a:srgbClr val="E89078"/>
                </a:solidFill>
                <a:latin typeface="Arial"/>
              </a:rPr>
              <a:t>The assurance is only as good as the model underneath.</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21/26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INTERFACE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Five commands.</a:t>
            </a:r>
          </a:p>
        </p:txBody>
      </p:sp>
      <p:sp>
        <p:nvSpPr>
          <p:cNvPr id="4" name="Rounded Rectangle 3"/>
          <p:cNvSpPr/>
          <p:nvPr/>
        </p:nvSpPr>
        <p:spPr>
          <a:xfrm>
            <a:off x="640080" y="1627632"/>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828800"/>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/insight-engine:analyse</a:t>
            </a:r>
          </a:p>
        </p:txBody>
      </p:sp>
      <p:sp>
        <p:nvSpPr>
          <p:cNvPr id="6" name="TextBox 5"/>
          <p:cNvSpPr txBox="1"/>
          <p:nvPr/>
        </p:nvSpPr>
        <p:spPr>
          <a:xfrm>
            <a:off x="932688" y="2359152"/>
            <a:ext cx="4754880" cy="548640"/>
          </a:xfrm>
          <a:prstGeom prst="rect">
            <a:avLst/>
          </a:prstGeom>
          <a:noFill/>
        </p:spPr>
        <p:txBody>
          <a:bodyPr wrap="square" anchor="t" lIns="0" rIns="0" tIns="0" bIns="0">
            <a:spAutoFit/>
          </a:bodyPr>
          <a:lstStyle/>
          <a:p>
            <a:pPr algn="l"/>
            <a:r>
              <a:rPr sz="1400" b="0" i="0">
                <a:solidFill>
                  <a:srgbClr val="4A453D"/>
                </a:solidFill>
                <a:latin typeface="Arial"/>
              </a:rPr>
              <a:t>Runs the whole pipeline, end to end.</a:t>
            </a:r>
          </a:p>
        </p:txBody>
      </p:sp>
      <p:sp>
        <p:nvSpPr>
          <p:cNvPr id="7" name="Rounded Rectangle 6"/>
          <p:cNvSpPr/>
          <p:nvPr/>
        </p:nvSpPr>
        <p:spPr>
          <a:xfrm>
            <a:off x="6190488" y="1627632"/>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83096" y="1828800"/>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/insight-engine:verify</a:t>
            </a:r>
          </a:p>
        </p:txBody>
      </p:sp>
      <p:sp>
        <p:nvSpPr>
          <p:cNvPr id="9" name="TextBox 8"/>
          <p:cNvSpPr txBox="1"/>
          <p:nvPr/>
        </p:nvSpPr>
        <p:spPr>
          <a:xfrm>
            <a:off x="6483096" y="2359152"/>
            <a:ext cx="4754880" cy="548640"/>
          </a:xfrm>
          <a:prstGeom prst="rect">
            <a:avLst/>
          </a:prstGeom>
          <a:noFill/>
        </p:spPr>
        <p:txBody>
          <a:bodyPr wrap="square" anchor="t" lIns="0" rIns="0" tIns="0" bIns="0">
            <a:spAutoFit/>
          </a:bodyPr>
          <a:lstStyle/>
          <a:p>
            <a:pPr algn="l"/>
            <a:r>
              <a:rPr sz="1400" b="0" i="0">
                <a:solidFill>
                  <a:srgbClr val="4A453D"/>
                </a:solidFill>
                <a:latin typeface="Arial"/>
              </a:rPr>
              <a:t>Fact-checks a set of claims, or a single premise.</a:t>
            </a:r>
          </a:p>
        </p:txBody>
      </p:sp>
      <p:sp>
        <p:nvSpPr>
          <p:cNvPr id="10" name="Rounded Rectangle 9"/>
          <p:cNvSpPr/>
          <p:nvPr/>
        </p:nvSpPr>
        <p:spPr>
          <a:xfrm>
            <a:off x="640080" y="3200400"/>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401568"/>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/insight-engine:render</a:t>
            </a:r>
          </a:p>
        </p:txBody>
      </p:sp>
      <p:sp>
        <p:nvSpPr>
          <p:cNvPr id="12" name="TextBox 11"/>
          <p:cNvSpPr txBox="1"/>
          <p:nvPr/>
        </p:nvSpPr>
        <p:spPr>
          <a:xfrm>
            <a:off x="932688" y="3931920"/>
            <a:ext cx="4754880" cy="548640"/>
          </a:xfrm>
          <a:prstGeom prst="rect">
            <a:avLst/>
          </a:prstGeom>
          <a:noFill/>
        </p:spPr>
        <p:txBody>
          <a:bodyPr wrap="square" anchor="t" lIns="0" rIns="0" tIns="0" bIns="0">
            <a:spAutoFit/>
          </a:bodyPr>
          <a:lstStyle/>
          <a:p>
            <a:pPr algn="l"/>
            <a:r>
              <a:rPr sz="1400" b="0" i="0">
                <a:solidFill>
                  <a:srgbClr val="4A453D"/>
                </a:solidFill>
                <a:latin typeface="Arial"/>
              </a:rPr>
              <a:t>Re-voices a finished analysis for a reader — never changing a grade.</a:t>
            </a:r>
          </a:p>
        </p:txBody>
      </p:sp>
      <p:sp>
        <p:nvSpPr>
          <p:cNvPr id="13" name="Rounded Rectangle 12"/>
          <p:cNvSpPr/>
          <p:nvPr/>
        </p:nvSpPr>
        <p:spPr>
          <a:xfrm>
            <a:off x="6190488" y="3200400"/>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401568"/>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/insight-engine:track</a:t>
            </a:r>
          </a:p>
        </p:txBody>
      </p:sp>
      <p:sp>
        <p:nvSpPr>
          <p:cNvPr id="15" name="TextBox 14"/>
          <p:cNvSpPr txBox="1"/>
          <p:nvPr/>
        </p:nvSpPr>
        <p:spPr>
          <a:xfrm>
            <a:off x="6483096" y="3931920"/>
            <a:ext cx="4754880" cy="548640"/>
          </a:xfrm>
          <a:prstGeom prst="rect">
            <a:avLst/>
          </a:prstGeom>
          <a:noFill/>
        </p:spPr>
        <p:txBody>
          <a:bodyPr wrap="square" anchor="t" lIns="0" rIns="0" tIns="0" bIns="0">
            <a:spAutoFit/>
          </a:bodyPr>
          <a:lstStyle/>
          <a:p>
            <a:pPr algn="l"/>
            <a:r>
              <a:rPr sz="1400" b="0" i="0">
                <a:solidFill>
                  <a:srgbClr val="4A453D"/>
                </a:solidFill>
                <a:latin typeface="Arial"/>
              </a:rPr>
              <a:t>Keeps an investigation live as new facts arrive.</a:t>
            </a:r>
          </a:p>
        </p:txBody>
      </p:sp>
      <p:sp>
        <p:nvSpPr>
          <p:cNvPr id="16" name="Rounded Rectangle 15"/>
          <p:cNvSpPr/>
          <p:nvPr/>
        </p:nvSpPr>
        <p:spPr>
          <a:xfrm>
            <a:off x="640080" y="4773168"/>
            <a:ext cx="5303520" cy="14173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974336"/>
            <a:ext cx="4800600" cy="457200"/>
          </a:xfrm>
          <a:prstGeom prst="rect">
            <a:avLst/>
          </a:prstGeom>
          <a:noFill/>
        </p:spPr>
        <p:txBody>
          <a:bodyPr wrap="square" anchor="t" lIns="0" rIns="0" tIns="0" bIns="0">
            <a:spAutoFit/>
          </a:bodyPr>
          <a:lstStyle/>
          <a:p>
            <a:pPr algn="l"/>
            <a:r>
              <a:rPr sz="1700" b="1" i="0">
                <a:solidFill>
                  <a:srgbClr val="4E79A6"/>
                </a:solidFill>
                <a:latin typeface="Consolas"/>
              </a:rPr>
              <a:t>/insight-engine:adjudicate</a:t>
            </a:r>
          </a:p>
        </p:txBody>
      </p:sp>
      <p:sp>
        <p:nvSpPr>
          <p:cNvPr id="18" name="TextBox 17"/>
          <p:cNvSpPr txBox="1"/>
          <p:nvPr/>
        </p:nvSpPr>
        <p:spPr>
          <a:xfrm>
            <a:off x="932688" y="5504688"/>
            <a:ext cx="4754880" cy="548640"/>
          </a:xfrm>
          <a:prstGeom prst="rect">
            <a:avLst/>
          </a:prstGeom>
          <a:noFill/>
        </p:spPr>
        <p:txBody>
          <a:bodyPr wrap="square" anchor="t" lIns="0" rIns="0" tIns="0" bIns="0">
            <a:spAutoFit/>
          </a:bodyPr>
          <a:lstStyle/>
          <a:p>
            <a:pPr algn="l"/>
            <a:r>
              <a:rPr sz="1400" b="0" i="0">
                <a:solidFill>
                  <a:srgbClr val="4A453D"/>
                </a:solidFill>
                <a:latin typeface="Arial"/>
              </a:rPr>
              <a:t>Opt-in, off-by-default independent second pass (Step 10) on a finished high-stakes analysis.</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22/26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11 · RENDER</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After the call: re-voice it for the reader.</a:t>
            </a:r>
          </a:p>
        </p:txBody>
      </p:sp>
      <p:sp>
        <p:nvSpPr>
          <p:cNvPr id="4" name="Rounded Rectangle 3"/>
          <p:cNvSpPr/>
          <p:nvPr/>
        </p:nvSpPr>
        <p:spPr>
          <a:xfrm>
            <a:off x="640080" y="1783080"/>
            <a:ext cx="10908792"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32720" cy="548640"/>
          </a:xfrm>
          <a:prstGeom prst="rect">
            <a:avLst/>
          </a:prstGeom>
          <a:noFill/>
        </p:spPr>
        <p:txBody>
          <a:bodyPr wrap="square" anchor="t" lIns="0" rIns="0" tIns="0" bIns="0">
            <a:spAutoFit/>
          </a:bodyPr>
          <a:lstStyle/>
          <a:p>
            <a:pPr algn="l"/>
            <a:r>
              <a:rPr sz="1900" b="1" i="0">
                <a:solidFill>
                  <a:srgbClr val="4E79A6"/>
                </a:solidFill>
                <a:latin typeface="Arial"/>
              </a:rPr>
              <a:t>Render — for a particular reader</a:t>
            </a:r>
          </a:p>
        </p:txBody>
      </p:sp>
      <p:sp>
        <p:nvSpPr>
          <p:cNvPr id="6" name="TextBox 5"/>
          <p:cNvSpPr txBox="1"/>
          <p:nvPr/>
        </p:nvSpPr>
        <p:spPr>
          <a:xfrm>
            <a:off x="914400" y="2743200"/>
            <a:ext cx="10332720" cy="1920240"/>
          </a:xfrm>
          <a:prstGeom prst="rect">
            <a:avLst/>
          </a:prstGeom>
          <a:noFill/>
        </p:spPr>
        <p:txBody>
          <a:bodyPr wrap="square" anchor="t" lIns="0" rIns="0" tIns="0" bIns="0">
            <a:spAutoFit/>
          </a:bodyPr>
          <a:lstStyle/>
          <a:p>
            <a:pPr algn="l"/>
            <a:r>
              <a:rPr sz="1600" b="0" i="0">
                <a:solidFill>
                  <a:srgbClr val="4A453D"/>
                </a:solidFill>
                <a:latin typeface="Arial"/>
              </a:rPr>
              <a:t>Re-voice the finished analysis for whoever must read it — a board, a regulator, opposing counsel, a family — without ever changing a claim or a grade to suit the audience, and carrying a core of caveats that no version is allowed to drop.</a:t>
            </a:r>
          </a:p>
        </p:txBody>
      </p:sp>
      <p:sp>
        <p:nvSpPr>
          <p:cNvPr id="7" name="Rounded Rectangle 6"/>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A register transform only — it changes the voice, never a claim or a grade.</a:t>
            </a:r>
          </a:p>
        </p:txBody>
      </p:sp>
      <p:sp>
        <p:nvSpPr>
          <p:cNvPr id="9" name="TextBox 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23/26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12 · TRACK</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Keep the analysis alive as facts arrive.</a:t>
            </a:r>
          </a:p>
        </p:txBody>
      </p:sp>
      <p:sp>
        <p:nvSpPr>
          <p:cNvPr id="4" name="Rounded Rectangle 3"/>
          <p:cNvSpPr/>
          <p:nvPr/>
        </p:nvSpPr>
        <p:spPr>
          <a:xfrm>
            <a:off x="640080" y="1783080"/>
            <a:ext cx="1090879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32720" cy="548640"/>
          </a:xfrm>
          <a:prstGeom prst="rect">
            <a:avLst/>
          </a:prstGeom>
          <a:noFill/>
        </p:spPr>
        <p:txBody>
          <a:bodyPr wrap="square" anchor="t" lIns="0" rIns="0" tIns="0" bIns="0">
            <a:spAutoFit/>
          </a:bodyPr>
          <a:lstStyle/>
          <a:p>
            <a:pPr algn="l"/>
            <a:r>
              <a:rPr sz="1900" b="1" i="0">
                <a:solidFill>
                  <a:srgbClr val="5F7249"/>
                </a:solidFill>
                <a:latin typeface="Arial"/>
              </a:rPr>
              <a:t>Track — as new facts arrive</a:t>
            </a:r>
          </a:p>
        </p:txBody>
      </p:sp>
      <p:sp>
        <p:nvSpPr>
          <p:cNvPr id="6" name="TextBox 5"/>
          <p:cNvSpPr txBox="1"/>
          <p:nvPr/>
        </p:nvSpPr>
        <p:spPr>
          <a:xfrm>
            <a:off x="914400" y="2743200"/>
            <a:ext cx="10332720" cy="1920240"/>
          </a:xfrm>
          <a:prstGeom prst="rect">
            <a:avLst/>
          </a:prstGeom>
          <a:noFill/>
        </p:spPr>
        <p:txBody>
          <a:bodyPr wrap="square" anchor="t" lIns="0" rIns="0" tIns="0" bIns="0">
            <a:spAutoFit/>
          </a:bodyPr>
          <a:lstStyle/>
          <a:p>
            <a:pPr algn="l"/>
            <a:r>
              <a:rPr sz="1600" b="0" i="0">
                <a:solidFill>
                  <a:srgbClr val="4A453D"/>
                </a:solidFill>
                <a:latin typeface="Arial"/>
              </a:rPr>
              <a:t>Keep a long-running investigation alive: re-verify the grade-locked spine as fresh evidence lands, and say plainly if the call has moved. So the analysis does not simply end at the brief — it is kept current as the world changes.</a:t>
            </a:r>
          </a:p>
        </p:txBody>
      </p:sp>
      <p:sp>
        <p:nvSpPr>
          <p:cNvPr id="7" name="Rounded Rectangle 6"/>
          <p:cNvSpPr/>
          <p:nvPr/>
        </p:nvSpPr>
        <p:spPr>
          <a:xfrm>
            <a:off x="640080" y="507492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graded spine is re-checked on every update — a living analysis, not a snapshot.</a:t>
            </a:r>
          </a:p>
        </p:txBody>
      </p:sp>
      <p:sp>
        <p:nvSpPr>
          <p:cNvPr id="9" name="TextBox 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24/26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POSITIONING · ICD 203</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Architected around ICD 203.</a:t>
            </a:r>
          </a:p>
        </p:txBody>
      </p:sp>
      <p:sp>
        <p:nvSpPr>
          <p:cNvPr id="4" name="TextBox 3"/>
          <p:cNvSpPr txBox="1"/>
          <p:nvPr/>
        </p:nvSpPr>
        <p:spPr>
          <a:xfrm>
            <a:off x="640080" y="1965960"/>
            <a:ext cx="6309360" cy="2377440"/>
          </a:xfrm>
          <a:prstGeom prst="rect">
            <a:avLst/>
          </a:prstGeom>
          <a:noFill/>
        </p:spPr>
        <p:txBody>
          <a:bodyPr wrap="square" anchor="t" lIns="0" rIns="0" tIns="0" bIns="0">
            <a:spAutoFit/>
          </a:bodyPr>
          <a:lstStyle/>
          <a:p>
            <a:pPr algn="l"/>
            <a:r>
              <a:rPr sz="1900" b="0" i="0">
                <a:solidFill>
                  <a:srgbClr val="141413"/>
                </a:solidFill>
                <a:latin typeface="Arial"/>
              </a:rPr>
              <a:t>ICD 203 is the U.S. intelligence community's Analytic Standards directive. The engine is built around its nine analytic tradecraft standards — describing source quality, expressing uncertainty, separating evidence from judgment, weighing alternatives.</a:t>
            </a:r>
          </a:p>
        </p:txBody>
      </p:sp>
      <p:sp>
        <p:nvSpPr>
          <p:cNvPr id="5" name="TextBox 4"/>
          <p:cNvSpPr txBox="1"/>
          <p:nvPr/>
        </p:nvSpPr>
        <p:spPr>
          <a:xfrm>
            <a:off x="640080" y="3977639"/>
            <a:ext cx="6309360" cy="1371600"/>
          </a:xfrm>
          <a:prstGeom prst="rect">
            <a:avLst/>
          </a:prstGeom>
          <a:noFill/>
        </p:spPr>
        <p:txBody>
          <a:bodyPr wrap="square" anchor="t" lIns="0" rIns="0" tIns="0" bIns="0">
            <a:spAutoFit/>
          </a:bodyPr>
          <a:lstStyle/>
          <a:p>
            <a:pPr algn="l"/>
            <a:r>
              <a:rPr sz="1600" b="0" i="1">
                <a:solidFill>
                  <a:srgbClr val="4A453D"/>
                </a:solidFill>
                <a:latin typeface="Arial"/>
              </a:rPr>
              <a:t>Architected around the standards and assessed once — not a formal certification. A signal, not a seal.</a:t>
            </a:r>
          </a:p>
        </p:txBody>
      </p:sp>
      <p:sp>
        <p:nvSpPr>
          <p:cNvPr id="6" name="Rounded Rectangle 5"/>
          <p:cNvSpPr/>
          <p:nvPr/>
        </p:nvSpPr>
        <p:spPr>
          <a:xfrm>
            <a:off x="7406640" y="1737360"/>
            <a:ext cx="4142232" cy="4023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2011680"/>
            <a:ext cx="3703320" cy="457200"/>
          </a:xfrm>
          <a:prstGeom prst="rect">
            <a:avLst/>
          </a:prstGeom>
          <a:noFill/>
        </p:spPr>
        <p:txBody>
          <a:bodyPr wrap="square" anchor="t" lIns="0" rIns="0" tIns="0" bIns="0">
            <a:spAutoFit/>
          </a:bodyPr>
          <a:lstStyle/>
          <a:p>
            <a:pPr algn="l"/>
            <a:r>
              <a:rPr sz="1400" b="1" i="0">
                <a:solidFill>
                  <a:srgbClr val="4A453D"/>
                </a:solidFill>
                <a:latin typeface="Arial"/>
              </a:rPr>
              <a:t>BLIND ASSESSMENT · ICD 203</a:t>
            </a:r>
          </a:p>
        </p:txBody>
      </p:sp>
      <p:sp>
        <p:nvSpPr>
          <p:cNvPr id="8" name="TextBox 7"/>
          <p:cNvSpPr txBox="1"/>
          <p:nvPr/>
        </p:nvSpPr>
        <p:spPr>
          <a:xfrm>
            <a:off x="7635240" y="2423160"/>
            <a:ext cx="3703320" cy="1188720"/>
          </a:xfrm>
          <a:prstGeom prst="rect">
            <a:avLst/>
          </a:prstGeom>
          <a:noFill/>
        </p:spPr>
        <p:txBody>
          <a:bodyPr wrap="square" anchor="t" lIns="0" rIns="0" tIns="0" bIns="0">
            <a:spAutoFit/>
          </a:bodyPr>
          <a:lstStyle/>
          <a:p>
            <a:pPr algn="l"/>
            <a:r>
              <a:rPr sz="7200" b="1" i="0">
                <a:solidFill>
                  <a:srgbClr val="5F7249"/>
                </a:solidFill>
                <a:latin typeface="Arial"/>
              </a:rPr>
              <a:t>92%</a:t>
            </a:r>
          </a:p>
        </p:txBody>
      </p:sp>
      <p:sp>
        <p:nvSpPr>
          <p:cNvPr id="9" name="TextBox 8"/>
          <p:cNvSpPr txBox="1"/>
          <p:nvPr/>
        </p:nvSpPr>
        <p:spPr>
          <a:xfrm>
            <a:off x="7635240" y="3611880"/>
            <a:ext cx="3703320" cy="365760"/>
          </a:xfrm>
          <a:prstGeom prst="rect">
            <a:avLst/>
          </a:prstGeom>
          <a:noFill/>
        </p:spPr>
        <p:txBody>
          <a:bodyPr wrap="square" anchor="t" lIns="0" rIns="0" tIns="0" bIns="0">
            <a:spAutoFit/>
          </a:bodyPr>
          <a:lstStyle/>
          <a:p>
            <a:pPr algn="l"/>
            <a:r>
              <a:rPr sz="1600" b="0" i="0">
                <a:solidFill>
                  <a:srgbClr val="141413"/>
                </a:solidFill>
                <a:latin typeface="Arial"/>
              </a:rPr>
              <a:t>the Insight Engine</a:t>
            </a:r>
          </a:p>
        </p:txBody>
      </p:sp>
      <p:sp>
        <p:nvSpPr>
          <p:cNvPr id="10" name="TextBox 9"/>
          <p:cNvSpPr txBox="1"/>
          <p:nvPr/>
        </p:nvSpPr>
        <p:spPr>
          <a:xfrm>
            <a:off x="7635240" y="4297680"/>
            <a:ext cx="3703320" cy="822960"/>
          </a:xfrm>
          <a:prstGeom prst="rect">
            <a:avLst/>
          </a:prstGeom>
          <a:noFill/>
        </p:spPr>
        <p:txBody>
          <a:bodyPr wrap="square" anchor="t" lIns="0" rIns="0" tIns="0" bIns="0">
            <a:spAutoFit/>
          </a:bodyPr>
          <a:lstStyle/>
          <a:p>
            <a:pPr algn="l"/>
            <a:r>
              <a:rPr sz="4000" b="1" i="0">
                <a:solidFill>
                  <a:srgbClr val="4A453D"/>
                </a:solidFill>
                <a:latin typeface="Arial"/>
              </a:rPr>
              <a:t>75%</a:t>
            </a:r>
          </a:p>
        </p:txBody>
      </p:sp>
      <p:sp>
        <p:nvSpPr>
          <p:cNvPr id="11" name="TextBox 10"/>
          <p:cNvSpPr txBox="1"/>
          <p:nvPr/>
        </p:nvSpPr>
        <p:spPr>
          <a:xfrm>
            <a:off x="7635240" y="5074920"/>
            <a:ext cx="3703320" cy="365760"/>
          </a:xfrm>
          <a:prstGeom prst="rect">
            <a:avLst/>
          </a:prstGeom>
          <a:noFill/>
        </p:spPr>
        <p:txBody>
          <a:bodyPr wrap="square" anchor="t" lIns="0" rIns="0" tIns="0" bIns="0">
            <a:spAutoFit/>
          </a:bodyPr>
          <a:lstStyle/>
          <a:p>
            <a:pPr algn="l"/>
            <a:r>
              <a:rPr sz="1600" b="0" i="0">
                <a:solidFill>
                  <a:srgbClr val="4A453D"/>
                </a:solidFill>
                <a:latin typeface="Arial"/>
              </a:rPr>
              <a:t>a strong model unaided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25/26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822960" y="1920240"/>
            <a:ext cx="10515600" cy="1005840"/>
          </a:xfrm>
          <a:prstGeom prst="rect">
            <a:avLst/>
          </a:prstGeom>
          <a:noFill/>
        </p:spPr>
        <p:txBody>
          <a:bodyPr wrap="square" anchor="t" lIns="0" rIns="0" tIns="0" bIns="0">
            <a:spAutoFit/>
          </a:bodyPr>
          <a:lstStyle/>
          <a:p>
            <a:pPr algn="l"/>
            <a:r>
              <a:rPr sz="4800" b="1" i="0">
                <a:solidFill>
                  <a:srgbClr val="FFFFFF"/>
                </a:solidFill>
                <a:latin typeface="Arial"/>
              </a:rPr>
              <a:t>Bring it your hardest problem.</a:t>
            </a:r>
          </a:p>
        </p:txBody>
      </p:sp>
      <p:sp>
        <p:nvSpPr>
          <p:cNvPr id="3" name="TextBox 2"/>
          <p:cNvSpPr txBox="1"/>
          <p:nvPr/>
        </p:nvSpPr>
        <p:spPr>
          <a:xfrm>
            <a:off x="841248" y="3154680"/>
            <a:ext cx="10058400" cy="1188720"/>
          </a:xfrm>
          <a:prstGeom prst="rect">
            <a:avLst/>
          </a:prstGeom>
          <a:noFill/>
        </p:spPr>
        <p:txBody>
          <a:bodyPr wrap="square" anchor="t" lIns="0" rIns="0" tIns="0" bIns="0">
            <a:spAutoFit/>
          </a:bodyPr>
          <a:lstStyle/>
          <a:p>
            <a:pPr algn="l"/>
            <a:r>
              <a:rPr sz="2000" b="0" i="0">
                <a:solidFill>
                  <a:srgbClr val="FAF9F5"/>
                </a:solidFill>
                <a:latin typeface="Arial"/>
              </a:rPr>
              <a:t>An open plugin for Claude Code &amp; Cowork. Hand it a real problem, let the gate make you take a position — and get back an analysis you can defend.</a:t>
            </a:r>
          </a:p>
        </p:txBody>
      </p:sp>
      <p:sp>
        <p:nvSpPr>
          <p:cNvPr id="4" name="TextBox 3"/>
          <p:cNvSpPr txBox="1"/>
          <p:nvPr/>
        </p:nvSpPr>
        <p:spPr>
          <a:xfrm>
            <a:off x="841248" y="4709160"/>
            <a:ext cx="7315200" cy="548640"/>
          </a:xfrm>
          <a:prstGeom prst="rect">
            <a:avLst/>
          </a:prstGeom>
          <a:noFill/>
        </p:spPr>
        <p:txBody>
          <a:bodyPr wrap="square" anchor="t" lIns="0" rIns="0" tIns="0" bIns="0">
            <a:spAutoFit/>
          </a:bodyPr>
          <a:lstStyle/>
          <a:p>
            <a:pPr algn="l"/>
            <a:r>
              <a:rPr sz="1800" b="1" i="0">
                <a:solidFill>
                  <a:srgbClr val="FFFFFF"/>
                </a:solidFill>
                <a:latin typeface="Consolas"/>
              </a:rPr>
              <a:t>github.com/ComplexAR/Insight-Engine</a:t>
            </a:r>
          </a:p>
        </p:txBody>
      </p:sp>
      <p:sp>
        <p:nvSpPr>
          <p:cNvPr id="5" name="TextBox 4"/>
          <p:cNvSpPr txBox="1"/>
          <p:nvPr/>
        </p:nvSpPr>
        <p:spPr>
          <a:xfrm>
            <a:off x="841248" y="5943600"/>
            <a:ext cx="10424160" cy="457200"/>
          </a:xfrm>
          <a:prstGeom prst="rect">
            <a:avLst/>
          </a:prstGeom>
          <a:noFill/>
        </p:spPr>
        <p:txBody>
          <a:bodyPr wrap="square" anchor="t" lIns="0" rIns="0" tIns="0" bIns="0">
            <a:spAutoFit/>
          </a:bodyPr>
          <a:lstStyle/>
          <a:p>
            <a:pPr algn="l"/>
            <a:r>
              <a:rPr sz="1700" b="0" i="0">
                <a:solidFill>
                  <a:srgbClr val="C9C6BA"/>
                </a:solidFill>
                <a:latin typeface="Arial"/>
              </a:rPr>
              <a:t>The large language model provides the insight; the engine makes it verified, defensible, and audience-ready.</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26/26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