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Insight Engine — a tool for analysis you can actually defend. The idea behind it fits in one sentence: the language model supplies the insight; the engine makes that insight verified, graded, and honest about its own limits. It doesn't try to think better than the model. It makes the model show its work — and checks that work against the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confident guess is not verified evidence. High-stakes, complex, or wicked problems — the ones with no clean solution — tend to share three features. The things that matter most hide — they sit where attention doesn't naturally go. The evidence is mixed, or it comes from people with a stake in the answer. And the questions that actually decide the outcome are value judgments, which no amount of analysis can settle for you. Hand a problem like that to a strong model and you get a fluent, confident answer. But fluent isn't the same as verified — and it certainly isn't the same as defensible.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engine's move isn't to be smarter — it's to be more honest, and it has two jobs, not one. The first is to reveal what's hidden: the voice that's absent, the fact that's been normalised until no one questions it, the thing left conspicuously out — some of it simply missed, some kept out of view on purpose. The second is to verify what's there: check what can be checked, grade how strongly each checkable claim stands, and try to break its own findings. Seeing and checking — and then it makes you own the value calls, instead of quietly making them for you. Everything that follows serves those two jobs.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shape before we walk it. You hand it a problem; it right-sizes the effort, surfaces what hides, and verifies and grades every load-bearing claim. When the problem is genuinely systemic, it maps the feedback structure. Then it sets aside what no evidence can settle, locks its grades, stops at one gate for your judgment, and hands back a decision brief. One pipeline, and exactly one step that's yours. Let's take them in turn.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thing it does is decide how hard to look. Not every question deserves the full machine — but that call is deliberately fail-safe. Depth is the default. It only scales down when a problem is unambiguously routine, reversible, and binds nobody. If there's any doubt at all — anything irreversible, anyone affected who isn't in the room, real money, legal exposure, or a party who benefits from light scrutiny — it runs the full method. A little over-analysis is cheap. Treating a serious problem as routine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before it verifies anything, it goes hunting for your blind spots — the things a fluent first reading glides straight past. This is the provocation pass — a disciplined set of probes, a couple always run and the rest chosen to fit the case, aimed at what the page hides and at what it quietly smuggles in. Whose voice is absent? Who benefits from the way the problem's been framed? What's being treated as normal that shouldn't be? And hardest of all — what's conspicuously missing: the document that isn't there, the question nobody asked? Some of what matters is simply overlooked; some is kept out of view by someone it would inconvenience. Either way, the engine's job here is to make the invisible visible — then it steelmans your strongest findings and names everyone the outcome materially touches, including those not in the room — so you decide with the whole picture, not the convenient part of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verifies. Every claim the conclusion leans on gets sorted into one of three: a public fact that can be checked, a private document only you hold, or a value that no evidence can settle. The checkable ones are searched and graded. V, for verified, means independently corroborated. N, for not, means not independently verified — including when a claim rests only on an interested party's own account. And every V carries a strength tier — V1 primary, V2 secondary, V3 weak or contested. Here's the part the engine is careful about: a tier marks how close a source is, not how far you should trust it. A company's own incident report is a primary document — but on a claim that company has a stake in, its own paperwork does not earn a V1. That grade has to come from something independent. And once verification is complete — including the disconfirmation pass you'll see next — the grades lock: nothing downstream can change them, only restate them. That's what lets the analysis hold up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does a load-bearing claim get its grade? First it's routed. Is it a public fact you can check, a private document some party holds, or a judgement call — a value, a framing, a forecast — that no search can settle? The judgement call is handed to you; the private document is parked with a note of exactly what would settle it. A public fact gets searched — against independent current sources. If it's backed by a primary source independent of any interested party — the regulation itself, the official statistic, the ruling — that's V1. Reputable reporting resting on those is V2. If independent backing exists but it's weak, or credible sources genuinely disagree, it's V3. If the search turns up nothing independent behind it — including when all it rests on is an interested party's own account — it's N. Then each of those claims is disconfirmed — searched at its own negation, which can pull a grade down — and only then does it lock. That's the machine: route, search, tier by strength and independence, try to break it, lock.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alone isn't enough, because a single confirming search is exactly how a wrong fact survives. So for every claim the conclusion really rests on, the engine runs a second search — aimed at the opposite. It actively hunts for the evidence that would break the claim. If credible counter-evidence of comparable weight turns up, the claim is downgraded and the dispute is recorded. If a genuine search for the negation finds nothing, the claim is marked as having survived — but only when the support comes from at least two independent sources. If it all traces back to a single origin echoed around, that's flagged as unopposed, not survived. This is the direct counter to confirmation bias — the failure mode any single-pass search quietly invites.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problems aren't a list of facts — they're a structure that feeds back on itself. When a problem shows more than one signature of real feedback — loops, delays, things that accumulate, a possible tipping point — the engine runs a conditional systems pass. It maps the problem as causal links, marks the reinforcing and balancing loops, and names where a small push would move the most. But it holds a hard line: the map is a hypothesis to investigate, not a simulation to trust. It will tell you a loop exists; it will not tell you, as established fact, which loop wins — that routes back to you. And it states plainly whose framing the map takes and who is affected but missing from it. A tidy map that hides its own blind spot is false precision — and the engine treats that as a failure, not thoroughness.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one step the engine refuses to take from you. Running underneath every hard problem are questions no evidence can settle — how the decision is framed, who is bound by it without a say, what you are willing to trade against what. The engine separates those out, and instead of answering them, it stops and hands them to you, one at a time, and won't finalise until you take a position — or explicitly defer, which is logged, not ignored. Why force it? Because controlled testing showed that merely showing a decision-maker these questions doesn't work — they read them, then drift back to the verifiable. Being made to answer is what actually gets them addressed. The engine articulates the questions; you own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your positions on the record, it assembles the brief — not an essay, but a short brief you can act on. First the call — and where the problem is wicked, that call is a provisional stance, marked re-openable, not a verdict. Then, kept deliberately apart, two kinds of confidence people usually blur together: how solid the evidence is — naming the single weakest grade the call leans on — and whether the action will actually work, which can fail even when every fact is rock-solid. Then the one unknown that would most move the answer; the cheapest thing to check next; and what would flip the call, written as a plain condition — “I am treating this as true; if it's false, the call reverses.” Every hedge has to name what it depends on. A caveat that points at nothing isn't allowed.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runs through four commands. Analyse runs the whole pipeline you've just seen. Verify runs the fact-checking layer on its own — a set of claims, or a single premise you want pressure-tested. Render re-voices a finished analysis for a particular reader — a board, a regulator, opposing counsel, a family — without ever changing a claim or a grade to suit the audience, and carrying a core of caveats no version is allowed to drop. And track keeps an investigation alive as new facts arrive, re-verifying the spine and telling you if the call has moved.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practical question: which model should run this? The engine is designed for a strong model — a top-tier frontier model for execution, because nearly every step leans on the model's own reasoning: judging a source, running a real search for counter-evidence, catching its own confident mistakes. In building the engine we ran it on Opus 4.8. But for the highest-stakes work — legal exposure, contested blame, a decision that binds people — add a second pass: a different frontier model, brought in to adjudicate. We used Fable 5. Here's the honest, tested part: its benefit at catching an error the disciplined first pass missed is unproven — on our own testing, the first pass already caught the constructible ones. What the second pass does do, reliably and safely, is sharpen a sound analysis: it flags where a load-bearing claim isn't yet established, without corrupting a correct call. Treat it as a rigour-and-defensibility check, not a safety net.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is that second pass actually invoked? As a subagent — a separate agent with its own isolated context, handed the facts and the grade-locked spine but not the first model's reasoning, so it can't anchor on it. It runs blind first — re-derive, and see if it reaches the same call — then adversarial: try to break the load-bearing claims and the call. It hands back a list of discrepancies, which fold in under grade-lock; you still own the final call. And if a different model isn't available? Fall back down a ladder. Best is a different frontier model like Fable 5 — that gives you both model and context independence. If there's no Fable 5, run a panel of two or more blind Opus instances and read where they diverge: agreement tells you the judgment is stable, disagreement localises the fragile point to challenge — but neither escapes Opus's shared blind spots, so it's a same-model cross-check, not independent adjudication. Weakest of all, a self-adversarial reset in the same session. Whichever rung it lands on, the engine should say so — because same-model agreement is stability, not proof.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second pass doesn't redo the whole analysis — it goes where judgment, not fact, decides the answer: the claims graded weak or uncorroborated, the disconfirmation verdicts, any allocation of blame, the value questions at the gate, which loop dominates. There it reliably sharpens — catching where a dominance claim isn't yet established, where an exonerating metric is itself confounded, where an argument contradicts itself — and it does so without reversing a sound call. One caveat from testing: it is verbose, so rank its objections and surface only the few that would actually change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other direction — what if you run it on a weaker model? The scaffolding survives: the gate still makes you own the value calls, the grades and caveats still travel. But what fills that scaffold degrades. A weaker model grades sources less reliably, runs a thinner search for counter-evidence, and carries more confident errors while being worse at catching them — and the engine relies on the model catching itself. The warning worth stating plainly: the engine cannot add reasoning the model doesn't have. It disciplines and exposes the model's work; it does not rescue it. And its own polish is a risk — the grades and caveats can make a weak answer look more defensible than it is. The assurance is only ever as good as the model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this is invented from nothing. The engine is architected around ICD 203 — the U.S. intelligence community's Analytic Standards directive — and specifically its nine analytic tradecraft standards: describing the quality of sources, expressing uncertainty, separating evidence from judgment, weighing alternatives. In a blind assessment against those nine standards, the engine scored ninety-two percent, where a strong model unaided scored seventy-five. To be honest about what that is: it's architected around ICD 203 and assessed once — not a formal certification. The number is a signal, not a seal.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 is finished being built. Now it's for using. It's an open plugin for Claude Code and Cowork. Hand it a real problem, let the gate make you take a position — and get back an analysis you can stand behind.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822960" y="1188720"/>
            <a:ext cx="10515600" cy="640080"/>
          </a:xfrm>
          <a:prstGeom prst="rect">
            <a:avLst/>
          </a:prstGeom>
          <a:noFill/>
        </p:spPr>
        <p:txBody>
          <a:bodyPr wrap="square" anchor="t" lIns="0" rIns="0" tIns="0" bIns="0">
            <a:spAutoFit/>
          </a:bodyPr>
          <a:lstStyle/>
          <a:p>
            <a:pPr algn="l"/>
            <a:r>
              <a:rPr sz="3000" b="1" i="0">
                <a:solidFill>
                  <a:srgbClr val="D97757"/>
                </a:solidFill>
                <a:latin typeface="Arial"/>
              </a:rPr>
              <a:t>Insight Engine</a:t>
            </a:r>
          </a:p>
        </p:txBody>
      </p:sp>
      <p:sp>
        <p:nvSpPr>
          <p:cNvPr id="3" name="TextBox 2"/>
          <p:cNvSpPr txBox="1"/>
          <p:nvPr/>
        </p:nvSpPr>
        <p:spPr>
          <a:xfrm>
            <a:off x="804672" y="1965960"/>
            <a:ext cx="10607040" cy="1280160"/>
          </a:xfrm>
          <a:prstGeom prst="rect">
            <a:avLst/>
          </a:prstGeom>
          <a:noFill/>
        </p:spPr>
        <p:txBody>
          <a:bodyPr wrap="square" anchor="t" lIns="0" rIns="0" tIns="0" bIns="0">
            <a:spAutoFit/>
          </a:bodyPr>
          <a:lstStyle/>
          <a:p>
            <a:pPr algn="l"/>
            <a:r>
              <a:rPr sz="5400" b="1" i="0">
                <a:solidFill>
                  <a:srgbClr val="141413"/>
                </a:solidFill>
                <a:latin typeface="Arial"/>
              </a:rPr>
              <a:t>Analysis defended with assurance.</a:t>
            </a:r>
          </a:p>
        </p:txBody>
      </p:sp>
      <p:sp>
        <p:nvSpPr>
          <p:cNvPr id="4" name="TextBox 3"/>
          <p:cNvSpPr txBox="1"/>
          <p:nvPr/>
        </p:nvSpPr>
        <p:spPr>
          <a:xfrm>
            <a:off x="841248" y="3474720"/>
            <a:ext cx="9966960" cy="1554480"/>
          </a:xfrm>
          <a:prstGeom prst="rect">
            <a:avLst/>
          </a:prstGeom>
          <a:noFill/>
        </p:spPr>
        <p:txBody>
          <a:bodyPr wrap="square" anchor="t" lIns="0" rIns="0" tIns="0" bIns="0">
            <a:spAutoFit/>
          </a:bodyPr>
          <a:lstStyle/>
          <a:p>
            <a:pPr algn="l">
              <a:spcAft>
                <a:spcPts val="600"/>
              </a:spcAft>
            </a:pPr>
            <a:r>
              <a:rPr sz="2200" b="1" i="0">
                <a:solidFill>
                  <a:srgbClr val="4A453D"/>
                </a:solidFill>
                <a:latin typeface="Arial"/>
              </a:rPr>
              <a:t>Insight</a:t>
            </a:r>
            <a:r>
              <a:rPr sz="2200" b="0" i="0">
                <a:solidFill>
                  <a:srgbClr val="4A453D"/>
                </a:solidFill>
                <a:latin typeface="Arial"/>
              </a:rPr>
              <a:t> supplied by a Large Language Model;</a:t>
            </a:r>
          </a:p>
          <a:p>
            <a:pPr algn="l">
              <a:spcAft>
                <a:spcPts val="600"/>
              </a:spcAft>
            </a:pPr>
            <a:r>
              <a:rPr sz="2200" b="1" i="0">
                <a:solidFill>
                  <a:srgbClr val="4A453D"/>
                </a:solidFill>
                <a:latin typeface="Arial"/>
              </a:rPr>
              <a:t>Engine</a:t>
            </a:r>
            <a:r>
              <a:rPr sz="2200" b="0" i="0">
                <a:solidFill>
                  <a:srgbClr val="4A453D"/>
                </a:solidFill>
                <a:latin typeface="Arial"/>
              </a:rPr>
              <a:t> makes that insight verified, defensible, and audience-ready.</a:t>
            </a:r>
          </a:p>
        </p:txBody>
      </p:sp>
      <p:sp>
        <p:nvSpPr>
          <p:cNvPr id="5" name="TextBox 4"/>
          <p:cNvSpPr txBox="1"/>
          <p:nvPr/>
        </p:nvSpPr>
        <p:spPr>
          <a:xfrm>
            <a:off x="841248" y="5943600"/>
            <a:ext cx="10241280" cy="365760"/>
          </a:xfrm>
          <a:prstGeom prst="rect">
            <a:avLst/>
          </a:prstGeom>
          <a:noFill/>
        </p:spPr>
        <p:txBody>
          <a:bodyPr wrap="square" anchor="t" lIns="0" rIns="0" tIns="0" bIns="0">
            <a:spAutoFit/>
          </a:bodyPr>
          <a:lstStyle/>
          <a:p>
            <a:pPr algn="l"/>
            <a:r>
              <a:rPr sz="1600" b="0" i="0">
                <a:solidFill>
                  <a:srgbClr val="8A8578"/>
                </a:solidFill>
                <a:latin typeface="Arial"/>
              </a:rPr>
              <a:t>An open plugin for Claude Code &amp; Cowork   ·   v0.1.14</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PROBLEM</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confident guess is not verified evidence.</a:t>
            </a:r>
          </a:p>
        </p:txBody>
      </p:sp>
      <p:sp>
        <p:nvSpPr>
          <p:cNvPr id="4" name="Rounded Rectangle 3"/>
          <p:cNvSpPr/>
          <p:nvPr/>
        </p:nvSpPr>
        <p:spPr>
          <a:xfrm>
            <a:off x="640080"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important things hide</a:t>
            </a:r>
          </a:p>
        </p:txBody>
      </p:sp>
      <p:sp>
        <p:nvSpPr>
          <p:cNvPr id="6" name="TextBox 5"/>
          <p:cNvSpPr txBox="1"/>
          <p:nvPr/>
        </p:nvSpPr>
        <p:spPr>
          <a:xfrm>
            <a:off x="914400"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What matters most sits where attention doesn't go.</a:t>
            </a:r>
          </a:p>
        </p:txBody>
      </p:sp>
      <p:sp>
        <p:nvSpPr>
          <p:cNvPr id="7" name="Rounded Rectangle 6"/>
          <p:cNvSpPr/>
          <p:nvPr/>
        </p:nvSpPr>
        <p:spPr>
          <a:xfrm>
            <a:off x="4361688"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8"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evidence is mixed, or interested</a:t>
            </a:r>
          </a:p>
        </p:txBody>
      </p:sp>
      <p:sp>
        <p:nvSpPr>
          <p:cNvPr id="9" name="TextBox 8"/>
          <p:cNvSpPr txBox="1"/>
          <p:nvPr/>
        </p:nvSpPr>
        <p:spPr>
          <a:xfrm>
            <a:off x="4636008"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Sources disagree — and some benefit from the answer.</a:t>
            </a:r>
          </a:p>
        </p:txBody>
      </p:sp>
      <p:sp>
        <p:nvSpPr>
          <p:cNvPr id="10" name="Rounded Rectangle 9"/>
          <p:cNvSpPr/>
          <p:nvPr/>
        </p:nvSpPr>
        <p:spPr>
          <a:xfrm>
            <a:off x="8083296" y="1783080"/>
            <a:ext cx="3474720" cy="25146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7616" y="2011680"/>
            <a:ext cx="2926080" cy="914400"/>
          </a:xfrm>
          <a:prstGeom prst="rect">
            <a:avLst/>
          </a:prstGeom>
          <a:noFill/>
        </p:spPr>
        <p:txBody>
          <a:bodyPr wrap="square" anchor="t" lIns="0" rIns="0" tIns="0" bIns="0">
            <a:spAutoFit/>
          </a:bodyPr>
          <a:lstStyle/>
          <a:p>
            <a:pPr algn="l"/>
            <a:r>
              <a:rPr sz="1900" b="1" i="0">
                <a:solidFill>
                  <a:srgbClr val="4E79A6"/>
                </a:solidFill>
                <a:latin typeface="Arial"/>
              </a:rPr>
              <a:t>The deciding questions are value judgments</a:t>
            </a:r>
          </a:p>
        </p:txBody>
      </p:sp>
      <p:sp>
        <p:nvSpPr>
          <p:cNvPr id="12" name="TextBox 11"/>
          <p:cNvSpPr txBox="1"/>
          <p:nvPr/>
        </p:nvSpPr>
        <p:spPr>
          <a:xfrm>
            <a:off x="8357616" y="3063240"/>
            <a:ext cx="2926080" cy="1143000"/>
          </a:xfrm>
          <a:prstGeom prst="rect">
            <a:avLst/>
          </a:prstGeom>
          <a:noFill/>
        </p:spPr>
        <p:txBody>
          <a:bodyPr wrap="square" anchor="t" lIns="0" rIns="0" tIns="0" bIns="0">
            <a:spAutoFit/>
          </a:bodyPr>
          <a:lstStyle/>
          <a:p>
            <a:pPr algn="l"/>
            <a:r>
              <a:rPr sz="1700" b="0" i="0">
                <a:solidFill>
                  <a:srgbClr val="4A453D"/>
                </a:solidFill>
                <a:latin typeface="Arial"/>
              </a:rPr>
              <a:t>No analysis settles what you should value.</a:t>
            </a:r>
          </a:p>
        </p:txBody>
      </p:sp>
      <p:sp>
        <p:nvSpPr>
          <p:cNvPr id="13" name="Rounded Rectangle 12"/>
          <p:cNvSpPr/>
          <p:nvPr/>
        </p:nvSpPr>
        <p:spPr>
          <a:xfrm>
            <a:off x="640080" y="4617720"/>
            <a:ext cx="10908792" cy="12801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617720"/>
            <a:ext cx="10177272" cy="1280160"/>
          </a:xfrm>
          <a:prstGeom prst="rect">
            <a:avLst/>
          </a:prstGeom>
          <a:noFill/>
        </p:spPr>
        <p:txBody>
          <a:bodyPr wrap="square" anchor="ctr" lIns="0" rIns="0" tIns="0" bIns="0">
            <a:spAutoFit/>
          </a:bodyPr>
          <a:lstStyle/>
          <a:p>
            <a:pPr algn="l"/>
            <a:r>
              <a:rPr sz="1800" b="1" i="0">
                <a:solidFill>
                  <a:srgbClr val="FFFFFF"/>
                </a:solidFill>
                <a:latin typeface="Arial"/>
              </a:rPr>
              <a:t>A strong model gives you a fluent answer.  </a:t>
            </a:r>
          </a:p>
          <a:p>
            <a:pPr algn="l"/>
            <a:r>
              <a:rPr sz="1800" b="1" i="0">
                <a:solidFill>
                  <a:srgbClr val="FAF9F5"/>
                </a:solidFill>
                <a:latin typeface="Arial"/>
              </a:rPr>
              <a:t>Fluent isn't the same as verified — or defensible.</a:t>
            </a:r>
          </a:p>
        </p:txBody>
      </p:sp>
      <p:sp>
        <p:nvSpPr>
          <p:cNvPr id="15" name="TextBox 14"/>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2/19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IDEA</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Two jobs: reveal what's hidden, and verify what's there.</a:t>
            </a:r>
          </a:p>
        </p:txBody>
      </p:sp>
      <p:sp>
        <p:nvSpPr>
          <p:cNvPr id="4" name="Rounded Rectangle 3"/>
          <p:cNvSpPr/>
          <p:nvPr/>
        </p:nvSpPr>
        <p:spPr>
          <a:xfrm>
            <a:off x="640080" y="1783080"/>
            <a:ext cx="5440680" cy="2971800"/>
          </a:xfrm>
          <a:prstGeom prst="roundRect">
            <a:avLst>
              <a:gd name="adj" fmla="val 5500"/>
            </a:avLst>
          </a:prstGeom>
          <a:solidFill>
            <a:srgbClr val="FFFFFF"/>
          </a:solidFill>
          <a:ln w="12700">
            <a:solidFill>
              <a:srgbClr val="4E79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548640"/>
          </a:xfrm>
          <a:prstGeom prst="rect">
            <a:avLst/>
          </a:prstGeom>
          <a:noFill/>
        </p:spPr>
        <p:txBody>
          <a:bodyPr wrap="square" anchor="t" lIns="0" rIns="0" tIns="0" bIns="0">
            <a:spAutoFit/>
          </a:bodyPr>
          <a:lstStyle/>
          <a:p>
            <a:pPr algn="l"/>
            <a:r>
              <a:rPr sz="2000" b="1" i="0">
                <a:solidFill>
                  <a:srgbClr val="4E79A6"/>
                </a:solidFill>
                <a:latin typeface="Arial"/>
              </a:rPr>
              <a:t>1 · Reveal what's hidden</a:t>
            </a:r>
          </a:p>
        </p:txBody>
      </p:sp>
      <p:sp>
        <p:nvSpPr>
          <p:cNvPr id="6" name="TextBox 5"/>
          <p:cNvSpPr txBox="1"/>
          <p:nvPr/>
        </p:nvSpPr>
        <p:spPr>
          <a:xfrm>
            <a:off x="914400" y="2743200"/>
            <a:ext cx="493776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the voice that's absent</a:t>
            </a:r>
          </a:p>
          <a:p>
            <a:pPr algn="l">
              <a:spcAft>
                <a:spcPts val="600"/>
              </a:spcAft>
            </a:pPr>
            <a:r>
              <a:rPr sz="1600" b="0" i="0">
                <a:solidFill>
                  <a:srgbClr val="141413"/>
                </a:solidFill>
                <a:latin typeface="Arial"/>
              </a:rPr>
              <a:t>• what's been normalised until no one questions it</a:t>
            </a:r>
          </a:p>
          <a:p>
            <a:pPr algn="l">
              <a:spcAft>
                <a:spcPts val="600"/>
              </a:spcAft>
            </a:pPr>
            <a:r>
              <a:rPr sz="1600" b="0" i="0">
                <a:solidFill>
                  <a:srgbClr val="141413"/>
                </a:solidFill>
                <a:latin typeface="Arial"/>
              </a:rPr>
              <a:t>• the thing left conspicuously out</a:t>
            </a:r>
          </a:p>
          <a:p>
            <a:pPr algn="l">
              <a:spcAft>
                <a:spcPts val="600"/>
              </a:spcAft>
            </a:pPr>
            <a:r>
              <a:rPr sz="1600" b="0" i="0">
                <a:solidFill>
                  <a:srgbClr val="141413"/>
                </a:solidFill>
                <a:latin typeface="Arial"/>
              </a:rPr>
              <a:t>• some missed — some kept out of view on purpose</a:t>
            </a:r>
          </a:p>
        </p:txBody>
      </p:sp>
      <p:sp>
        <p:nvSpPr>
          <p:cNvPr id="7" name="Rounded Rectangle 6"/>
          <p:cNvSpPr/>
          <p:nvPr/>
        </p:nvSpPr>
        <p:spPr>
          <a:xfrm>
            <a:off x="6263640" y="1783080"/>
            <a:ext cx="5285232" cy="29718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548640"/>
          </a:xfrm>
          <a:prstGeom prst="rect">
            <a:avLst/>
          </a:prstGeom>
          <a:noFill/>
        </p:spPr>
        <p:txBody>
          <a:bodyPr wrap="square" anchor="t" lIns="0" rIns="0" tIns="0" bIns="0">
            <a:spAutoFit/>
          </a:bodyPr>
          <a:lstStyle/>
          <a:p>
            <a:pPr algn="l"/>
            <a:r>
              <a:rPr sz="2000" b="1" i="0">
                <a:solidFill>
                  <a:srgbClr val="5F7249"/>
                </a:solidFill>
                <a:latin typeface="Arial"/>
              </a:rPr>
              <a:t>2 · Verify what's there</a:t>
            </a:r>
          </a:p>
        </p:txBody>
      </p:sp>
      <p:sp>
        <p:nvSpPr>
          <p:cNvPr id="9" name="TextBox 8"/>
          <p:cNvSpPr txBox="1"/>
          <p:nvPr/>
        </p:nvSpPr>
        <p:spPr>
          <a:xfrm>
            <a:off x="6537960" y="2743200"/>
            <a:ext cx="4754880" cy="192024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 check what can be checked</a:t>
            </a:r>
          </a:p>
          <a:p>
            <a:pPr algn="l">
              <a:spcAft>
                <a:spcPts val="600"/>
              </a:spcAft>
            </a:pPr>
            <a:r>
              <a:rPr sz="1600" b="0" i="0">
                <a:solidFill>
                  <a:srgbClr val="141413"/>
                </a:solidFill>
                <a:latin typeface="Arial"/>
              </a:rPr>
              <a:t>• grade how strongly each claim stands</a:t>
            </a:r>
          </a:p>
          <a:p>
            <a:pPr algn="l">
              <a:spcAft>
                <a:spcPts val="600"/>
              </a:spcAft>
            </a:pPr>
            <a:r>
              <a:rPr sz="1600" b="0" i="0">
                <a:solidFill>
                  <a:srgbClr val="141413"/>
                </a:solidFill>
                <a:latin typeface="Arial"/>
              </a:rPr>
              <a:t>• try to break its own findings</a:t>
            </a:r>
          </a:p>
        </p:txBody>
      </p:sp>
      <p:sp>
        <p:nvSpPr>
          <p:cNvPr id="10" name="Rounded Rectangle 9"/>
          <p:cNvSpPr/>
          <p:nvPr/>
        </p:nvSpPr>
        <p:spPr>
          <a:xfrm>
            <a:off x="640080" y="502920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005840"/>
          </a:xfrm>
          <a:prstGeom prst="rect">
            <a:avLst/>
          </a:prstGeom>
          <a:noFill/>
        </p:spPr>
        <p:txBody>
          <a:bodyPr wrap="square" anchor="ctr" lIns="0" rIns="0" tIns="0" bIns="0">
            <a:spAutoFit/>
          </a:bodyPr>
          <a:lstStyle/>
          <a:p>
            <a:pPr algn="l"/>
            <a:r>
              <a:rPr sz="1800" b="1" i="0">
                <a:solidFill>
                  <a:srgbClr val="FFFFFF"/>
                </a:solidFill>
                <a:latin typeface="Arial"/>
              </a:rPr>
              <a:t>Seeing and checking — then it makes you own the value calls, instead of quietly making them for you.</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HOW IT WORKS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What happens when you hand it a problem</a:t>
            </a:r>
          </a:p>
        </p:txBody>
      </p:sp>
      <p:sp>
        <p:nvSpPr>
          <p:cNvPr id="4" name="Rounded Rectangle 3"/>
          <p:cNvSpPr/>
          <p:nvPr/>
        </p:nvSpPr>
        <p:spPr>
          <a:xfrm>
            <a:off x="640080" y="169164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92808"/>
            <a:ext cx="2286000" cy="502920"/>
          </a:xfrm>
          <a:prstGeom prst="rect">
            <a:avLst/>
          </a:prstGeom>
          <a:noFill/>
        </p:spPr>
        <p:txBody>
          <a:bodyPr wrap="square" anchor="t" lIns="0" rIns="0" tIns="0" bIns="0">
            <a:spAutoFit/>
          </a:bodyPr>
          <a:lstStyle/>
          <a:p>
            <a:pPr algn="l"/>
            <a:r>
              <a:rPr sz="1700" b="1" i="0">
                <a:solidFill>
                  <a:srgbClr val="4E79A6"/>
                </a:solidFill>
                <a:latin typeface="Arial"/>
              </a:rPr>
              <a:t>Triage</a:t>
            </a:r>
          </a:p>
        </p:txBody>
      </p:sp>
      <p:sp>
        <p:nvSpPr>
          <p:cNvPr id="6" name="TextBox 5"/>
          <p:cNvSpPr txBox="1"/>
          <p:nvPr/>
        </p:nvSpPr>
        <p:spPr>
          <a:xfrm>
            <a:off x="822959" y="2468880"/>
            <a:ext cx="2286000" cy="822960"/>
          </a:xfrm>
          <a:prstGeom prst="rect">
            <a:avLst/>
          </a:prstGeom>
          <a:noFill/>
        </p:spPr>
        <p:txBody>
          <a:bodyPr wrap="square" anchor="t" lIns="0" rIns="0" tIns="0" bIns="0">
            <a:spAutoFit/>
          </a:bodyPr>
          <a:lstStyle/>
          <a:p>
            <a:pPr algn="l"/>
            <a:r>
              <a:rPr sz="1500" b="0" i="0">
                <a:solidFill>
                  <a:srgbClr val="4A453D"/>
                </a:solidFill>
                <a:latin typeface="Arial"/>
              </a:rPr>
              <a:t>right-size the effort</a:t>
            </a:r>
          </a:p>
        </p:txBody>
      </p:sp>
      <p:sp>
        <p:nvSpPr>
          <p:cNvPr id="7" name="TextBox 6"/>
          <p:cNvSpPr txBox="1"/>
          <p:nvPr/>
        </p:nvSpPr>
        <p:spPr>
          <a:xfrm>
            <a:off x="3273552" y="169164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8" name="Rounded Rectangle 7"/>
          <p:cNvSpPr/>
          <p:nvPr/>
        </p:nvSpPr>
        <p:spPr>
          <a:xfrm>
            <a:off x="3547872" y="169164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30752" y="1892808"/>
            <a:ext cx="2286000" cy="502920"/>
          </a:xfrm>
          <a:prstGeom prst="rect">
            <a:avLst/>
          </a:prstGeom>
          <a:noFill/>
        </p:spPr>
        <p:txBody>
          <a:bodyPr wrap="square" anchor="t" lIns="0" rIns="0" tIns="0" bIns="0">
            <a:spAutoFit/>
          </a:bodyPr>
          <a:lstStyle/>
          <a:p>
            <a:pPr algn="l"/>
            <a:r>
              <a:rPr sz="1700" b="1" i="0">
                <a:solidFill>
                  <a:srgbClr val="4E79A6"/>
                </a:solidFill>
                <a:latin typeface="Arial"/>
              </a:rPr>
              <a:t>Provocation</a:t>
            </a:r>
          </a:p>
        </p:txBody>
      </p:sp>
      <p:sp>
        <p:nvSpPr>
          <p:cNvPr id="10" name="TextBox 9"/>
          <p:cNvSpPr txBox="1"/>
          <p:nvPr/>
        </p:nvSpPr>
        <p:spPr>
          <a:xfrm>
            <a:off x="3730752" y="2468880"/>
            <a:ext cx="2286000" cy="822960"/>
          </a:xfrm>
          <a:prstGeom prst="rect">
            <a:avLst/>
          </a:prstGeom>
          <a:noFill/>
        </p:spPr>
        <p:txBody>
          <a:bodyPr wrap="square" anchor="t" lIns="0" rIns="0" tIns="0" bIns="0">
            <a:spAutoFit/>
          </a:bodyPr>
          <a:lstStyle/>
          <a:p>
            <a:pPr algn="l"/>
            <a:r>
              <a:rPr sz="1500" b="0" i="0">
                <a:solidFill>
                  <a:srgbClr val="4A453D"/>
                </a:solidFill>
                <a:latin typeface="Arial"/>
              </a:rPr>
              <a:t>surface what hides</a:t>
            </a:r>
          </a:p>
        </p:txBody>
      </p:sp>
      <p:sp>
        <p:nvSpPr>
          <p:cNvPr id="11" name="TextBox 10"/>
          <p:cNvSpPr txBox="1"/>
          <p:nvPr/>
        </p:nvSpPr>
        <p:spPr>
          <a:xfrm>
            <a:off x="6181344" y="169164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12" name="Rounded Rectangle 11"/>
          <p:cNvSpPr/>
          <p:nvPr/>
        </p:nvSpPr>
        <p:spPr>
          <a:xfrm>
            <a:off x="6455664" y="169164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38544" y="1892808"/>
            <a:ext cx="2286000" cy="502920"/>
          </a:xfrm>
          <a:prstGeom prst="rect">
            <a:avLst/>
          </a:prstGeom>
          <a:noFill/>
        </p:spPr>
        <p:txBody>
          <a:bodyPr wrap="square" anchor="t" lIns="0" rIns="0" tIns="0" bIns="0">
            <a:spAutoFit/>
          </a:bodyPr>
          <a:lstStyle/>
          <a:p>
            <a:pPr algn="l"/>
            <a:r>
              <a:rPr sz="1700" b="1" i="0">
                <a:solidFill>
                  <a:srgbClr val="5F7249"/>
                </a:solidFill>
                <a:latin typeface="Arial"/>
              </a:rPr>
              <a:t>Verification</a:t>
            </a:r>
          </a:p>
        </p:txBody>
      </p:sp>
      <p:sp>
        <p:nvSpPr>
          <p:cNvPr id="14" name="TextBox 13"/>
          <p:cNvSpPr txBox="1"/>
          <p:nvPr/>
        </p:nvSpPr>
        <p:spPr>
          <a:xfrm>
            <a:off x="6638544" y="2468880"/>
            <a:ext cx="2286000" cy="822960"/>
          </a:xfrm>
          <a:prstGeom prst="rect">
            <a:avLst/>
          </a:prstGeom>
          <a:noFill/>
        </p:spPr>
        <p:txBody>
          <a:bodyPr wrap="square" anchor="t" lIns="0" rIns="0" tIns="0" bIns="0">
            <a:spAutoFit/>
          </a:bodyPr>
          <a:lstStyle/>
          <a:p>
            <a:pPr algn="l"/>
            <a:r>
              <a:rPr sz="1500" b="0" i="0">
                <a:solidFill>
                  <a:srgbClr val="4A453D"/>
                </a:solidFill>
                <a:latin typeface="Arial"/>
              </a:rPr>
              <a:t>grade every claim</a:t>
            </a:r>
          </a:p>
        </p:txBody>
      </p:sp>
      <p:sp>
        <p:nvSpPr>
          <p:cNvPr id="15" name="TextBox 14"/>
          <p:cNvSpPr txBox="1"/>
          <p:nvPr/>
        </p:nvSpPr>
        <p:spPr>
          <a:xfrm>
            <a:off x="9089136" y="169164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16" name="Rounded Rectangle 15"/>
          <p:cNvSpPr/>
          <p:nvPr/>
        </p:nvSpPr>
        <p:spPr>
          <a:xfrm>
            <a:off x="9363456" y="169164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46336" y="1892808"/>
            <a:ext cx="2286000" cy="502920"/>
          </a:xfrm>
          <a:prstGeom prst="rect">
            <a:avLst/>
          </a:prstGeom>
          <a:noFill/>
        </p:spPr>
        <p:txBody>
          <a:bodyPr wrap="square" anchor="t" lIns="0" rIns="0" tIns="0" bIns="0">
            <a:spAutoFit/>
          </a:bodyPr>
          <a:lstStyle/>
          <a:p>
            <a:pPr algn="l"/>
            <a:r>
              <a:rPr sz="1700" b="1" i="0">
                <a:solidFill>
                  <a:srgbClr val="4E79A6"/>
                </a:solidFill>
                <a:latin typeface="Arial"/>
              </a:rPr>
              <a:t>Systems pass</a:t>
            </a:r>
          </a:p>
        </p:txBody>
      </p:sp>
      <p:sp>
        <p:nvSpPr>
          <p:cNvPr id="18" name="TextBox 17"/>
          <p:cNvSpPr txBox="1"/>
          <p:nvPr/>
        </p:nvSpPr>
        <p:spPr>
          <a:xfrm>
            <a:off x="9546336" y="2468880"/>
            <a:ext cx="2286000" cy="822960"/>
          </a:xfrm>
          <a:prstGeom prst="rect">
            <a:avLst/>
          </a:prstGeom>
          <a:noFill/>
        </p:spPr>
        <p:txBody>
          <a:bodyPr wrap="square" anchor="t" lIns="0" rIns="0" tIns="0" bIns="0">
            <a:spAutoFit/>
          </a:bodyPr>
          <a:lstStyle/>
          <a:p>
            <a:pPr algn="l"/>
            <a:r>
              <a:rPr sz="1500" b="0" i="0">
                <a:solidFill>
                  <a:srgbClr val="4A453D"/>
                </a:solidFill>
                <a:latin typeface="Arial"/>
              </a:rPr>
              <a:t>2.5 · conditional</a:t>
            </a:r>
          </a:p>
        </p:txBody>
      </p:sp>
      <p:sp>
        <p:nvSpPr>
          <p:cNvPr id="19" name="Rounded Rectangle 18"/>
          <p:cNvSpPr/>
          <p:nvPr/>
        </p:nvSpPr>
        <p:spPr>
          <a:xfrm>
            <a:off x="640080" y="365760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3858768"/>
            <a:ext cx="2286000" cy="502920"/>
          </a:xfrm>
          <a:prstGeom prst="rect">
            <a:avLst/>
          </a:prstGeom>
          <a:noFill/>
        </p:spPr>
        <p:txBody>
          <a:bodyPr wrap="square" anchor="t" lIns="0" rIns="0" tIns="0" bIns="0">
            <a:spAutoFit/>
          </a:bodyPr>
          <a:lstStyle/>
          <a:p>
            <a:pPr algn="l"/>
            <a:r>
              <a:rPr sz="1700" b="1" i="0">
                <a:solidFill>
                  <a:srgbClr val="4E79A6"/>
                </a:solidFill>
                <a:latin typeface="Arial"/>
              </a:rPr>
              <a:t>Deep-core</a:t>
            </a:r>
          </a:p>
        </p:txBody>
      </p:sp>
      <p:sp>
        <p:nvSpPr>
          <p:cNvPr id="21" name="TextBox 20"/>
          <p:cNvSpPr txBox="1"/>
          <p:nvPr/>
        </p:nvSpPr>
        <p:spPr>
          <a:xfrm>
            <a:off x="822959" y="4434840"/>
            <a:ext cx="2286000" cy="822960"/>
          </a:xfrm>
          <a:prstGeom prst="rect">
            <a:avLst/>
          </a:prstGeom>
          <a:noFill/>
        </p:spPr>
        <p:txBody>
          <a:bodyPr wrap="square" anchor="t" lIns="0" rIns="0" tIns="0" bIns="0">
            <a:spAutoFit/>
          </a:bodyPr>
          <a:lstStyle/>
          <a:p>
            <a:pPr algn="l"/>
            <a:r>
              <a:rPr sz="1500" b="0" i="0">
                <a:solidFill>
                  <a:srgbClr val="4A453D"/>
                </a:solidFill>
                <a:latin typeface="Arial"/>
              </a:rPr>
              <a:t>set aside the un-answerable</a:t>
            </a:r>
          </a:p>
        </p:txBody>
      </p:sp>
      <p:sp>
        <p:nvSpPr>
          <p:cNvPr id="22" name="TextBox 21"/>
          <p:cNvSpPr txBox="1"/>
          <p:nvPr/>
        </p:nvSpPr>
        <p:spPr>
          <a:xfrm>
            <a:off x="3273552" y="365760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23" name="Rounded Rectangle 22"/>
          <p:cNvSpPr/>
          <p:nvPr/>
        </p:nvSpPr>
        <p:spPr>
          <a:xfrm>
            <a:off x="3547872" y="365760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0752" y="3858768"/>
            <a:ext cx="2286000" cy="502920"/>
          </a:xfrm>
          <a:prstGeom prst="rect">
            <a:avLst/>
          </a:prstGeom>
          <a:noFill/>
        </p:spPr>
        <p:txBody>
          <a:bodyPr wrap="square" anchor="t" lIns="0" rIns="0" tIns="0" bIns="0">
            <a:spAutoFit/>
          </a:bodyPr>
          <a:lstStyle/>
          <a:p>
            <a:pPr algn="l"/>
            <a:r>
              <a:rPr sz="1700" b="1" i="0">
                <a:solidFill>
                  <a:srgbClr val="5F7249"/>
                </a:solidFill>
                <a:latin typeface="Arial"/>
              </a:rPr>
              <a:t>Grade-lock</a:t>
            </a:r>
          </a:p>
        </p:txBody>
      </p:sp>
      <p:sp>
        <p:nvSpPr>
          <p:cNvPr id="25" name="TextBox 24"/>
          <p:cNvSpPr txBox="1"/>
          <p:nvPr/>
        </p:nvSpPr>
        <p:spPr>
          <a:xfrm>
            <a:off x="3730752" y="4434840"/>
            <a:ext cx="2286000" cy="822960"/>
          </a:xfrm>
          <a:prstGeom prst="rect">
            <a:avLst/>
          </a:prstGeom>
          <a:noFill/>
        </p:spPr>
        <p:txBody>
          <a:bodyPr wrap="square" anchor="t" lIns="0" rIns="0" tIns="0" bIns="0">
            <a:spAutoFit/>
          </a:bodyPr>
          <a:lstStyle/>
          <a:p>
            <a:pPr algn="l"/>
            <a:r>
              <a:rPr sz="1500" b="0" i="0">
                <a:solidFill>
                  <a:srgbClr val="4A453D"/>
                </a:solidFill>
                <a:latin typeface="Arial"/>
              </a:rPr>
              <a:t>fix + stress-test</a:t>
            </a:r>
          </a:p>
        </p:txBody>
      </p:sp>
      <p:sp>
        <p:nvSpPr>
          <p:cNvPr id="26" name="TextBox 25"/>
          <p:cNvSpPr txBox="1"/>
          <p:nvPr/>
        </p:nvSpPr>
        <p:spPr>
          <a:xfrm>
            <a:off x="6181344" y="365760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27" name="Rounded Rectangle 26"/>
          <p:cNvSpPr/>
          <p:nvPr/>
        </p:nvSpPr>
        <p:spPr>
          <a:xfrm>
            <a:off x="6455664" y="365760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8544" y="3858768"/>
            <a:ext cx="2286000" cy="502920"/>
          </a:xfrm>
          <a:prstGeom prst="rect">
            <a:avLst/>
          </a:prstGeom>
          <a:noFill/>
        </p:spPr>
        <p:txBody>
          <a:bodyPr wrap="square" anchor="t" lIns="0" rIns="0" tIns="0" bIns="0">
            <a:spAutoFit/>
          </a:bodyPr>
          <a:lstStyle/>
          <a:p>
            <a:pPr algn="l"/>
            <a:r>
              <a:rPr sz="1700" b="1" i="0">
                <a:solidFill>
                  <a:srgbClr val="D97757"/>
                </a:solidFill>
                <a:latin typeface="Arial"/>
              </a:rPr>
              <a:t>THE GATE</a:t>
            </a:r>
          </a:p>
        </p:txBody>
      </p:sp>
      <p:sp>
        <p:nvSpPr>
          <p:cNvPr id="29" name="TextBox 28"/>
          <p:cNvSpPr txBox="1"/>
          <p:nvPr/>
        </p:nvSpPr>
        <p:spPr>
          <a:xfrm>
            <a:off x="6638544" y="4434840"/>
            <a:ext cx="2286000" cy="822960"/>
          </a:xfrm>
          <a:prstGeom prst="rect">
            <a:avLst/>
          </a:prstGeom>
          <a:noFill/>
        </p:spPr>
        <p:txBody>
          <a:bodyPr wrap="square" anchor="t" lIns="0" rIns="0" tIns="0" bIns="0">
            <a:spAutoFit/>
          </a:bodyPr>
          <a:lstStyle/>
          <a:p>
            <a:pPr algn="l"/>
            <a:r>
              <a:rPr sz="1500" b="0" i="0">
                <a:solidFill>
                  <a:srgbClr val="4A453D"/>
                </a:solidFill>
                <a:latin typeface="Arial"/>
              </a:rPr>
              <a:t>your judgment</a:t>
            </a:r>
          </a:p>
        </p:txBody>
      </p:sp>
      <p:sp>
        <p:nvSpPr>
          <p:cNvPr id="30" name="TextBox 29"/>
          <p:cNvSpPr txBox="1"/>
          <p:nvPr/>
        </p:nvSpPr>
        <p:spPr>
          <a:xfrm>
            <a:off x="9089136" y="3657600"/>
            <a:ext cx="274320" cy="1737360"/>
          </a:xfrm>
          <a:prstGeom prst="rect">
            <a:avLst/>
          </a:prstGeom>
          <a:noFill/>
        </p:spPr>
        <p:txBody>
          <a:bodyPr wrap="square" anchor="ctr" lIns="0" rIns="0" tIns="0" bIns="0">
            <a:spAutoFit/>
          </a:bodyPr>
          <a:lstStyle/>
          <a:p>
            <a:pPr algn="ctr"/>
            <a:r>
              <a:rPr sz="2200" b="0" i="0">
                <a:solidFill>
                  <a:srgbClr val="8A8578"/>
                </a:solidFill>
                <a:latin typeface="Arial"/>
              </a:rPr>
              <a:t>‣</a:t>
            </a:r>
          </a:p>
        </p:txBody>
      </p:sp>
      <p:sp>
        <p:nvSpPr>
          <p:cNvPr id="31" name="Rounded Rectangle 30"/>
          <p:cNvSpPr/>
          <p:nvPr/>
        </p:nvSpPr>
        <p:spPr>
          <a:xfrm>
            <a:off x="9363456" y="3657600"/>
            <a:ext cx="2615184" cy="1737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46336" y="3858768"/>
            <a:ext cx="2286000" cy="502920"/>
          </a:xfrm>
          <a:prstGeom prst="rect">
            <a:avLst/>
          </a:prstGeom>
          <a:noFill/>
        </p:spPr>
        <p:txBody>
          <a:bodyPr wrap="square" anchor="t" lIns="0" rIns="0" tIns="0" bIns="0">
            <a:spAutoFit/>
          </a:bodyPr>
          <a:lstStyle/>
          <a:p>
            <a:pPr algn="l"/>
            <a:r>
              <a:rPr sz="1700" b="1" i="0">
                <a:solidFill>
                  <a:srgbClr val="4E79A6"/>
                </a:solidFill>
                <a:latin typeface="Arial"/>
              </a:rPr>
              <a:t>Decision brief</a:t>
            </a:r>
          </a:p>
        </p:txBody>
      </p:sp>
      <p:sp>
        <p:nvSpPr>
          <p:cNvPr id="33" name="TextBox 32"/>
          <p:cNvSpPr txBox="1"/>
          <p:nvPr/>
        </p:nvSpPr>
        <p:spPr>
          <a:xfrm>
            <a:off x="9546336" y="4434840"/>
            <a:ext cx="2286000" cy="822960"/>
          </a:xfrm>
          <a:prstGeom prst="rect">
            <a:avLst/>
          </a:prstGeom>
          <a:noFill/>
        </p:spPr>
        <p:txBody>
          <a:bodyPr wrap="square" anchor="t" lIns="0" rIns="0" tIns="0" bIns="0">
            <a:spAutoFit/>
          </a:bodyPr>
          <a:lstStyle/>
          <a:p>
            <a:pPr algn="l"/>
            <a:r>
              <a:rPr sz="1500" b="0" i="0">
                <a:solidFill>
                  <a:srgbClr val="4A453D"/>
                </a:solidFill>
                <a:latin typeface="Arial"/>
              </a:rPr>
              <a:t>the call · what flips it</a:t>
            </a:r>
          </a:p>
        </p:txBody>
      </p:sp>
      <p:sp>
        <p:nvSpPr>
          <p:cNvPr id="34" name="TextBox 33"/>
          <p:cNvSpPr txBox="1"/>
          <p:nvPr/>
        </p:nvSpPr>
        <p:spPr>
          <a:xfrm>
            <a:off x="640080" y="5806440"/>
            <a:ext cx="10881360" cy="457200"/>
          </a:xfrm>
          <a:prstGeom prst="rect">
            <a:avLst/>
          </a:prstGeom>
          <a:noFill/>
        </p:spPr>
        <p:txBody>
          <a:bodyPr wrap="square" anchor="t" lIns="0" rIns="0" tIns="0" bIns="0">
            <a:spAutoFit/>
          </a:bodyPr>
          <a:lstStyle/>
          <a:p>
            <a:pPr algn="l"/>
            <a:r>
              <a:rPr sz="1700" b="0" i="0">
                <a:solidFill>
                  <a:srgbClr val="4A453D"/>
                </a:solidFill>
                <a:latin typeface="Arial"/>
              </a:rPr>
              <a:t>The whole pipeline runs silently — except the one step that's yours: the gate.</a:t>
            </a:r>
          </a:p>
        </p:txBody>
      </p:sp>
      <p:sp>
        <p:nvSpPr>
          <p:cNvPr id="35" name="TextBox 34"/>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4/19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PROPORTIONALITY TRIAGE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First, decide how hard to look.</a:t>
            </a:r>
          </a:p>
        </p:txBody>
      </p:sp>
      <p:sp>
        <p:nvSpPr>
          <p:cNvPr id="4" name="Rounded Rectangle 3"/>
          <p:cNvSpPr/>
          <p:nvPr/>
        </p:nvSpPr>
        <p:spPr>
          <a:xfrm>
            <a:off x="640080" y="1783080"/>
            <a:ext cx="672084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900" b="1" i="0">
                <a:solidFill>
                  <a:srgbClr val="4E79A6"/>
                </a:solidFill>
                <a:latin typeface="Arial"/>
              </a:rPr>
              <a:t>Runs the FULL method — the default</a:t>
            </a:r>
          </a:p>
        </p:txBody>
      </p:sp>
      <p:sp>
        <p:nvSpPr>
          <p:cNvPr id="6" name="TextBox 5"/>
          <p:cNvSpPr txBox="1"/>
          <p:nvPr/>
        </p:nvSpPr>
        <p:spPr>
          <a:xfrm>
            <a:off x="914400" y="2651760"/>
            <a:ext cx="6217920" cy="2286000"/>
          </a:xfrm>
          <a:prstGeom prst="rect">
            <a:avLst/>
          </a:prstGeom>
          <a:noFill/>
        </p:spPr>
        <p:txBody>
          <a:bodyPr wrap="square" anchor="t" lIns="0" rIns="0" tIns="0" bIns="0">
            <a:spAutoFit/>
          </a:bodyPr>
          <a:lstStyle/>
          <a:p>
            <a:pPr algn="l">
              <a:spcAft>
                <a:spcPts val="400"/>
              </a:spcAft>
            </a:pPr>
            <a:r>
              <a:rPr sz="1500" b="0" i="1">
                <a:solidFill>
                  <a:srgbClr val="4A453D"/>
                </a:solidFill>
                <a:latin typeface="Arial"/>
              </a:rPr>
              <a:t>Any one of these is enough:</a:t>
            </a:r>
          </a:p>
          <a:p>
            <a:pPr algn="l">
              <a:spcAft>
                <a:spcPts val="400"/>
              </a:spcAft>
            </a:pPr>
            <a:r>
              <a:rPr sz="1600" b="0" i="0">
                <a:solidFill>
                  <a:srgbClr val="141413"/>
                </a:solidFill>
                <a:latin typeface="Arial"/>
              </a:rPr>
              <a:t>• irreversible</a:t>
            </a:r>
          </a:p>
          <a:p>
            <a:pPr algn="l">
              <a:spcAft>
                <a:spcPts val="400"/>
              </a:spcAft>
            </a:pPr>
            <a:r>
              <a:rPr sz="1600" b="0" i="0">
                <a:solidFill>
                  <a:srgbClr val="141413"/>
                </a:solidFill>
                <a:latin typeface="Arial"/>
              </a:rPr>
              <a:t>• someone bound who isn't in the room</a:t>
            </a:r>
          </a:p>
          <a:p>
            <a:pPr algn="l">
              <a:spcAft>
                <a:spcPts val="400"/>
              </a:spcAft>
            </a:pPr>
            <a:r>
              <a:rPr sz="1600" b="0" i="0">
                <a:solidFill>
                  <a:srgbClr val="141413"/>
                </a:solidFill>
                <a:latin typeface="Arial"/>
              </a:rPr>
              <a:t>• real money or dependency</a:t>
            </a:r>
          </a:p>
          <a:p>
            <a:pPr algn="l">
              <a:spcAft>
                <a:spcPts val="400"/>
              </a:spcAft>
            </a:pPr>
            <a:r>
              <a:rPr sz="1600" b="0" i="0">
                <a:solidFill>
                  <a:srgbClr val="141413"/>
                </a:solidFill>
                <a:latin typeface="Arial"/>
              </a:rPr>
              <a:t>• legal or regulatory exposure</a:t>
            </a:r>
          </a:p>
          <a:p>
            <a:pPr algn="l">
              <a:spcAft>
                <a:spcPts val="400"/>
              </a:spcAft>
            </a:pPr>
            <a:r>
              <a:rPr sz="1600" b="0" i="0">
                <a:solidFill>
                  <a:srgbClr val="141413"/>
                </a:solidFill>
                <a:latin typeface="Arial"/>
              </a:rPr>
              <a:t>• contested values</a:t>
            </a:r>
          </a:p>
          <a:p>
            <a:pPr algn="l">
              <a:spcAft>
                <a:spcPts val="400"/>
              </a:spcAft>
            </a:pPr>
            <a:r>
              <a:rPr sz="1600" b="0" i="0">
                <a:solidFill>
                  <a:srgbClr val="141413"/>
                </a:solidFill>
                <a:latin typeface="Arial"/>
              </a:rPr>
              <a:t>• a party who benefits from light scrutiny</a:t>
            </a:r>
          </a:p>
        </p:txBody>
      </p:sp>
      <p:sp>
        <p:nvSpPr>
          <p:cNvPr id="7" name="Rounded Rectangle 6"/>
          <p:cNvSpPr/>
          <p:nvPr/>
        </p:nvSpPr>
        <p:spPr>
          <a:xfrm>
            <a:off x="7589520" y="1783080"/>
            <a:ext cx="395935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900" b="1" i="0">
                <a:solidFill>
                  <a:srgbClr val="4A453D"/>
                </a:solidFill>
                <a:latin typeface="Arial"/>
              </a:rPr>
              <a:t>A short answer — rare</a:t>
            </a:r>
          </a:p>
        </p:txBody>
      </p:sp>
      <p:sp>
        <p:nvSpPr>
          <p:cNvPr id="9" name="TextBox 8"/>
          <p:cNvSpPr txBox="1"/>
          <p:nvPr/>
        </p:nvSpPr>
        <p:spPr>
          <a:xfrm>
            <a:off x="7863840" y="2651760"/>
            <a:ext cx="3429000" cy="2194560"/>
          </a:xfrm>
          <a:prstGeom prst="rect">
            <a:avLst/>
          </a:prstGeom>
          <a:noFill/>
        </p:spPr>
        <p:txBody>
          <a:bodyPr wrap="square" anchor="t" lIns="0" rIns="0" tIns="0" bIns="0">
            <a:spAutoFit/>
          </a:bodyPr>
          <a:lstStyle/>
          <a:p>
            <a:pPr algn="l"/>
            <a:r>
              <a:rPr sz="1700" b="0" i="0">
                <a:solidFill>
                  <a:srgbClr val="4A453D"/>
                </a:solidFill>
                <a:latin typeface="Arial"/>
              </a:rPr>
              <a:t>Only when the problem is unambiguously routine, reversible, and binds nobody. Under any doubt, it runs the full method.</a:t>
            </a:r>
          </a:p>
        </p:txBody>
      </p:sp>
      <p:sp>
        <p:nvSpPr>
          <p:cNvPr id="10" name="Rounded Rectangle 9"/>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A little over-analysis is cheap.  </a:t>
            </a:r>
          </a:p>
          <a:p>
            <a:pPr algn="l"/>
            <a:r>
              <a:rPr sz="1800" b="1" i="0">
                <a:solidFill>
                  <a:srgbClr val="FAF9F5"/>
                </a:solidFill>
                <a:latin typeface="Arial"/>
              </a:rPr>
              <a:t>Treating a serious problem as routine is not.</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5/19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1 · THE PROVOCATION PASS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See what's hidden — before you verify.</a:t>
            </a:r>
          </a:p>
        </p:txBody>
      </p:sp>
      <p:sp>
        <p:nvSpPr>
          <p:cNvPr id="4" name="Rounded Rectangle 3"/>
          <p:cNvSpPr/>
          <p:nvPr/>
        </p:nvSpPr>
        <p:spPr>
          <a:xfrm>
            <a:off x="640080"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Whose voice is absent?</a:t>
            </a:r>
          </a:p>
        </p:txBody>
      </p:sp>
      <p:sp>
        <p:nvSpPr>
          <p:cNvPr id="6" name="TextBox 5"/>
          <p:cNvSpPr txBox="1"/>
          <p:nvPr/>
        </p:nvSpPr>
        <p:spPr>
          <a:xfrm>
            <a:off x="896112"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who isn't in the room</a:t>
            </a:r>
          </a:p>
        </p:txBody>
      </p:sp>
      <p:sp>
        <p:nvSpPr>
          <p:cNvPr id="7" name="Rounded Rectangle 6"/>
          <p:cNvSpPr/>
          <p:nvPr/>
        </p:nvSpPr>
        <p:spPr>
          <a:xfrm>
            <a:off x="6190488" y="1691640"/>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828800"/>
            <a:ext cx="4846320" cy="502920"/>
          </a:xfrm>
          <a:prstGeom prst="rect">
            <a:avLst/>
          </a:prstGeom>
          <a:noFill/>
        </p:spPr>
        <p:txBody>
          <a:bodyPr wrap="square" anchor="t" lIns="0" rIns="0" tIns="0" bIns="0">
            <a:spAutoFit/>
          </a:bodyPr>
          <a:lstStyle/>
          <a:p>
            <a:pPr algn="l"/>
            <a:r>
              <a:rPr sz="1800" b="1" i="0">
                <a:solidFill>
                  <a:srgbClr val="4E79A6"/>
                </a:solidFill>
                <a:latin typeface="Arial"/>
              </a:rPr>
              <a:t>Who benefits from the framing?</a:t>
            </a:r>
          </a:p>
        </p:txBody>
      </p:sp>
      <p:sp>
        <p:nvSpPr>
          <p:cNvPr id="9" name="TextBox 8"/>
          <p:cNvSpPr txBox="1"/>
          <p:nvPr/>
        </p:nvSpPr>
        <p:spPr>
          <a:xfrm>
            <a:off x="6446520" y="2331720"/>
            <a:ext cx="4846320" cy="411480"/>
          </a:xfrm>
          <a:prstGeom prst="rect">
            <a:avLst/>
          </a:prstGeom>
          <a:noFill/>
        </p:spPr>
        <p:txBody>
          <a:bodyPr wrap="square" anchor="t" lIns="0" rIns="0" tIns="0" bIns="0">
            <a:spAutoFit/>
          </a:bodyPr>
          <a:lstStyle/>
          <a:p>
            <a:pPr algn="l"/>
            <a:r>
              <a:rPr sz="1400" b="0" i="0">
                <a:solidFill>
                  <a:srgbClr val="4A453D"/>
                </a:solidFill>
                <a:latin typeface="Arial"/>
              </a:rPr>
              <a:t>cui bono</a:t>
            </a:r>
          </a:p>
        </p:txBody>
      </p:sp>
      <p:sp>
        <p:nvSpPr>
          <p:cNvPr id="10" name="Rounded Rectangle 9"/>
          <p:cNvSpPr/>
          <p:nvPr/>
        </p:nvSpPr>
        <p:spPr>
          <a:xfrm>
            <a:off x="640080" y="2990088"/>
            <a:ext cx="5303520" cy="1152144"/>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127248"/>
            <a:ext cx="4846320" cy="502920"/>
          </a:xfrm>
          <a:prstGeom prst="rect">
            <a:avLst/>
          </a:prstGeom>
          <a:noFill/>
        </p:spPr>
        <p:txBody>
          <a:bodyPr wrap="square" anchor="t" lIns="0" rIns="0" tIns="0" bIns="0">
            <a:spAutoFit/>
          </a:bodyPr>
          <a:lstStyle/>
          <a:p>
            <a:pPr algn="l"/>
            <a:r>
              <a:rPr sz="1800" b="1" i="0">
                <a:solidFill>
                  <a:srgbClr val="4E79A6"/>
                </a:solidFill>
                <a:latin typeface="Arial"/>
              </a:rPr>
              <a:t>What's normalised</a:t>
            </a:r>
          </a:p>
        </p:txBody>
      </p:sp>
      <p:sp>
        <p:nvSpPr>
          <p:cNvPr id="12" name="TextBox 11"/>
          <p:cNvSpPr txBox="1"/>
          <p:nvPr/>
        </p:nvSpPr>
        <p:spPr>
          <a:xfrm>
            <a:off x="896112"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treated as natural — but shouldn't be</a:t>
            </a:r>
          </a:p>
        </p:txBody>
      </p:sp>
      <p:sp>
        <p:nvSpPr>
          <p:cNvPr id="13" name="Rounded Rectangle 12"/>
          <p:cNvSpPr/>
          <p:nvPr/>
        </p:nvSpPr>
        <p:spPr>
          <a:xfrm>
            <a:off x="6190488" y="2990088"/>
            <a:ext cx="5303520" cy="1152144"/>
          </a:xfrm>
          <a:prstGeom prst="roundRect">
            <a:avLst>
              <a:gd name="adj" fmla="val 5500"/>
            </a:avLst>
          </a:prstGeom>
          <a:solidFill>
            <a:srgbClr val="F2DBCE"/>
          </a:solidFill>
          <a:ln w="12700">
            <a:solidFill>
              <a:srgbClr val="E890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27248"/>
            <a:ext cx="4846320" cy="502920"/>
          </a:xfrm>
          <a:prstGeom prst="rect">
            <a:avLst/>
          </a:prstGeom>
          <a:noFill/>
        </p:spPr>
        <p:txBody>
          <a:bodyPr wrap="square" anchor="t" lIns="0" rIns="0" tIns="0" bIns="0">
            <a:spAutoFit/>
          </a:bodyPr>
          <a:lstStyle/>
          <a:p>
            <a:pPr algn="l"/>
            <a:r>
              <a:rPr sz="1800" b="1" i="0">
                <a:solidFill>
                  <a:srgbClr val="7A3F28"/>
                </a:solidFill>
                <a:latin typeface="Arial"/>
              </a:rPr>
              <a:t>What's conspicuously MISSING?</a:t>
            </a:r>
          </a:p>
        </p:txBody>
      </p:sp>
      <p:sp>
        <p:nvSpPr>
          <p:cNvPr id="15" name="TextBox 14"/>
          <p:cNvSpPr txBox="1"/>
          <p:nvPr/>
        </p:nvSpPr>
        <p:spPr>
          <a:xfrm>
            <a:off x="6446520" y="3630168"/>
            <a:ext cx="4846320" cy="411480"/>
          </a:xfrm>
          <a:prstGeom prst="rect">
            <a:avLst/>
          </a:prstGeom>
          <a:noFill/>
        </p:spPr>
        <p:txBody>
          <a:bodyPr wrap="square" anchor="t" lIns="0" rIns="0" tIns="0" bIns="0">
            <a:spAutoFit/>
          </a:bodyPr>
          <a:lstStyle/>
          <a:p>
            <a:pPr algn="l"/>
            <a:r>
              <a:rPr sz="1400" b="0" i="0">
                <a:solidFill>
                  <a:srgbClr val="4A453D"/>
                </a:solidFill>
                <a:latin typeface="Arial"/>
              </a:rPr>
              <a:t>the document that isn't there; the un-asked question</a:t>
            </a:r>
          </a:p>
        </p:txBody>
      </p:sp>
      <p:sp>
        <p:nvSpPr>
          <p:cNvPr id="16" name="TextBox 15"/>
          <p:cNvSpPr txBox="1"/>
          <p:nvPr/>
        </p:nvSpPr>
        <p:spPr>
          <a:xfrm>
            <a:off x="640080" y="4407408"/>
            <a:ext cx="10881360" cy="685800"/>
          </a:xfrm>
          <a:prstGeom prst="rect">
            <a:avLst/>
          </a:prstGeom>
          <a:noFill/>
        </p:spPr>
        <p:txBody>
          <a:bodyPr wrap="square" anchor="t" lIns="0" rIns="0" tIns="0" bIns="0">
            <a:spAutoFit/>
          </a:bodyPr>
          <a:lstStyle/>
          <a:p>
            <a:pPr algn="l"/>
            <a:r>
              <a:rPr sz="1700" b="1" i="0">
                <a:solidFill>
                  <a:srgbClr val="141413"/>
                </a:solidFill>
                <a:latin typeface="Arial"/>
              </a:rPr>
              <a:t>Some is simply overlooked; some is kept out of view on purpose. Either way — make the invisible visible.</a:t>
            </a:r>
          </a:p>
        </p:txBody>
      </p:sp>
      <p:sp>
        <p:nvSpPr>
          <p:cNvPr id="17" name="Rounded Rectangle 16"/>
          <p:cNvSpPr/>
          <p:nvPr/>
        </p:nvSpPr>
        <p:spPr>
          <a:xfrm>
            <a:off x="640080" y="525780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257800"/>
            <a:ext cx="10177272" cy="1051560"/>
          </a:xfrm>
          <a:prstGeom prst="rect">
            <a:avLst/>
          </a:prstGeom>
          <a:noFill/>
        </p:spPr>
        <p:txBody>
          <a:bodyPr wrap="square" anchor="ctr" lIns="0" rIns="0" tIns="0" bIns="0">
            <a:spAutoFit/>
          </a:bodyPr>
          <a:lstStyle/>
          <a:p>
            <a:pPr algn="l"/>
            <a:r>
              <a:rPr sz="1800" b="1" i="0">
                <a:solidFill>
                  <a:srgbClr val="FFFFFF"/>
                </a:solidFill>
                <a:latin typeface="Arial"/>
              </a:rPr>
              <a:t>Then it steelmans your strongest findings and names everyone the outcome materially touches — including those not in the room.</a:t>
            </a:r>
          </a:p>
        </p:txBody>
      </p:sp>
      <p:sp>
        <p:nvSpPr>
          <p:cNvPr id="19" name="TextBox 18"/>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6/19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2 · VERIFY &amp; GRADE-LOCK</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Every claim — graded, and locked.</a:t>
            </a:r>
          </a:p>
        </p:txBody>
      </p:sp>
      <p:sp>
        <p:nvSpPr>
          <p:cNvPr id="4" name="Rounded Rectangle 3"/>
          <p:cNvSpPr/>
          <p:nvPr/>
        </p:nvSpPr>
        <p:spPr>
          <a:xfrm>
            <a:off x="640080"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1371600" cy="1051560"/>
          </a:xfrm>
          <a:prstGeom prst="rect">
            <a:avLst/>
          </a:prstGeom>
          <a:noFill/>
        </p:spPr>
        <p:txBody>
          <a:bodyPr wrap="square" anchor="ctr" lIns="0" rIns="0" tIns="0" bIns="0">
            <a:spAutoFit/>
          </a:bodyPr>
          <a:lstStyle/>
          <a:p>
            <a:pPr algn="l"/>
            <a:r>
              <a:rPr sz="3400" b="1" i="0">
                <a:solidFill>
                  <a:srgbClr val="5F7249"/>
                </a:solidFill>
                <a:latin typeface="Arial"/>
              </a:rPr>
              <a:t>[V]</a:t>
            </a:r>
          </a:p>
        </p:txBody>
      </p:sp>
      <p:sp>
        <p:nvSpPr>
          <p:cNvPr id="6" name="TextBox 5"/>
          <p:cNvSpPr txBox="1"/>
          <p:nvPr/>
        </p:nvSpPr>
        <p:spPr>
          <a:xfrm>
            <a:off x="2148840"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verified — independently corroborated</a:t>
            </a:r>
          </a:p>
        </p:txBody>
      </p:sp>
      <p:sp>
        <p:nvSpPr>
          <p:cNvPr id="7" name="Rounded Rectangle 6"/>
          <p:cNvSpPr/>
          <p:nvPr/>
        </p:nvSpPr>
        <p:spPr>
          <a:xfrm>
            <a:off x="6245352" y="1600200"/>
            <a:ext cx="5303520" cy="10515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1600200"/>
            <a:ext cx="1371600" cy="1051560"/>
          </a:xfrm>
          <a:prstGeom prst="rect">
            <a:avLst/>
          </a:prstGeom>
          <a:noFill/>
        </p:spPr>
        <p:txBody>
          <a:bodyPr wrap="square" anchor="ctr" lIns="0" rIns="0" tIns="0" bIns="0">
            <a:spAutoFit/>
          </a:bodyPr>
          <a:lstStyle/>
          <a:p>
            <a:pPr algn="l"/>
            <a:r>
              <a:rPr sz="3400" b="1" i="0">
                <a:solidFill>
                  <a:srgbClr val="D97757"/>
                </a:solidFill>
                <a:latin typeface="Arial"/>
              </a:rPr>
              <a:t>[N]</a:t>
            </a:r>
          </a:p>
        </p:txBody>
      </p:sp>
      <p:sp>
        <p:nvSpPr>
          <p:cNvPr id="9" name="TextBox 8"/>
          <p:cNvSpPr txBox="1"/>
          <p:nvPr/>
        </p:nvSpPr>
        <p:spPr>
          <a:xfrm>
            <a:off x="7754112" y="1600200"/>
            <a:ext cx="3566160" cy="1051560"/>
          </a:xfrm>
          <a:prstGeom prst="rect">
            <a:avLst/>
          </a:prstGeom>
          <a:noFill/>
        </p:spPr>
        <p:txBody>
          <a:bodyPr wrap="square" anchor="ctr" lIns="0" rIns="0" tIns="0" bIns="0">
            <a:spAutoFit/>
          </a:bodyPr>
          <a:lstStyle/>
          <a:p>
            <a:pPr algn="l"/>
            <a:r>
              <a:rPr sz="1700" b="0" i="0">
                <a:solidFill>
                  <a:srgbClr val="141413"/>
                </a:solidFill>
                <a:latin typeface="Arial"/>
              </a:rPr>
              <a:t>not — rests on an interested party</a:t>
            </a:r>
          </a:p>
        </p:txBody>
      </p:sp>
      <p:sp>
        <p:nvSpPr>
          <p:cNvPr id="10" name="Rounded Rectangle 9"/>
          <p:cNvSpPr/>
          <p:nvPr/>
        </p:nvSpPr>
        <p:spPr>
          <a:xfrm>
            <a:off x="640080"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34640"/>
            <a:ext cx="3108960" cy="777240"/>
          </a:xfrm>
          <a:prstGeom prst="rect">
            <a:avLst/>
          </a:prstGeom>
          <a:noFill/>
        </p:spPr>
        <p:txBody>
          <a:bodyPr wrap="square" anchor="ctr" lIns="0" rIns="0" tIns="0" bIns="0">
            <a:spAutoFit/>
          </a:bodyPr>
          <a:lstStyle/>
          <a:p>
            <a:pPr algn="l"/>
            <a:r>
              <a:rPr sz="1800" b="1" i="0">
                <a:solidFill>
                  <a:srgbClr val="5F7249"/>
                </a:solidFill>
                <a:latin typeface="Arial"/>
              </a:rPr>
              <a:t>[V1]  </a:t>
            </a:r>
          </a:p>
          <a:p>
            <a:pPr algn="l"/>
            <a:r>
              <a:rPr sz="1600" b="0" i="0">
                <a:solidFill>
                  <a:srgbClr val="4A453D"/>
                </a:solidFill>
                <a:latin typeface="Arial"/>
              </a:rPr>
              <a:t>primary</a:t>
            </a:r>
          </a:p>
        </p:txBody>
      </p:sp>
      <p:sp>
        <p:nvSpPr>
          <p:cNvPr id="12" name="Rounded Rectangle 11"/>
          <p:cNvSpPr/>
          <p:nvPr/>
        </p:nvSpPr>
        <p:spPr>
          <a:xfrm>
            <a:off x="4361688"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34640"/>
            <a:ext cx="3108960" cy="777240"/>
          </a:xfrm>
          <a:prstGeom prst="rect">
            <a:avLst/>
          </a:prstGeom>
          <a:noFill/>
        </p:spPr>
        <p:txBody>
          <a:bodyPr wrap="square" anchor="ctr" lIns="0" rIns="0" tIns="0" bIns="0">
            <a:spAutoFit/>
          </a:bodyPr>
          <a:lstStyle/>
          <a:p>
            <a:pPr algn="l"/>
            <a:r>
              <a:rPr sz="1800" b="1" i="0">
                <a:solidFill>
                  <a:srgbClr val="4E79A6"/>
                </a:solidFill>
                <a:latin typeface="Arial"/>
              </a:rPr>
              <a:t>[V2]  </a:t>
            </a:r>
          </a:p>
          <a:p>
            <a:pPr algn="l"/>
            <a:r>
              <a:rPr sz="1600" b="0" i="0">
                <a:solidFill>
                  <a:srgbClr val="4A453D"/>
                </a:solidFill>
                <a:latin typeface="Arial"/>
              </a:rPr>
              <a:t>secondary</a:t>
            </a:r>
          </a:p>
        </p:txBody>
      </p:sp>
      <p:sp>
        <p:nvSpPr>
          <p:cNvPr id="14" name="Rounded Rectangle 13"/>
          <p:cNvSpPr/>
          <p:nvPr/>
        </p:nvSpPr>
        <p:spPr>
          <a:xfrm>
            <a:off x="8083296" y="2834640"/>
            <a:ext cx="3474720" cy="777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2834640"/>
            <a:ext cx="3108960" cy="777240"/>
          </a:xfrm>
          <a:prstGeom prst="rect">
            <a:avLst/>
          </a:prstGeom>
          <a:noFill/>
        </p:spPr>
        <p:txBody>
          <a:bodyPr wrap="square" anchor="ctr" lIns="0" rIns="0" tIns="0" bIns="0">
            <a:spAutoFit/>
          </a:bodyPr>
          <a:lstStyle/>
          <a:p>
            <a:pPr algn="l"/>
            <a:r>
              <a:rPr sz="1800" b="1" i="0">
                <a:solidFill>
                  <a:srgbClr val="A96A45"/>
                </a:solidFill>
                <a:latin typeface="Arial"/>
              </a:rPr>
              <a:t>[V3]  </a:t>
            </a:r>
          </a:p>
          <a:p>
            <a:pPr algn="l"/>
            <a:r>
              <a:rPr sz="1600" b="0" i="0">
                <a:solidFill>
                  <a:srgbClr val="4A453D"/>
                </a:solidFill>
                <a:latin typeface="Arial"/>
              </a:rPr>
              <a:t>weak / contested</a:t>
            </a:r>
          </a:p>
        </p:txBody>
      </p:sp>
      <p:sp>
        <p:nvSpPr>
          <p:cNvPr id="16" name="Rounded Rectangle 15"/>
          <p:cNvSpPr/>
          <p:nvPr/>
        </p:nvSpPr>
        <p:spPr>
          <a:xfrm>
            <a:off x="640080" y="384048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40480"/>
            <a:ext cx="10332720" cy="1051560"/>
          </a:xfrm>
          <a:prstGeom prst="rect">
            <a:avLst/>
          </a:prstGeom>
          <a:noFill/>
        </p:spPr>
        <p:txBody>
          <a:bodyPr wrap="square" anchor="ctr" lIns="0" rIns="0" tIns="0" bIns="0">
            <a:spAutoFit/>
          </a:bodyPr>
          <a:lstStyle/>
          <a:p>
            <a:pPr algn="l"/>
            <a:r>
              <a:rPr sz="1700" b="1" i="0">
                <a:solidFill>
                  <a:srgbClr val="141413"/>
                </a:solidFill>
                <a:latin typeface="Arial"/>
              </a:rPr>
              <a:t>A tier marks how CLOSE a source is — not how much to trust it.  </a:t>
            </a:r>
          </a:p>
          <a:p>
            <a:pPr algn="l"/>
            <a:r>
              <a:rPr sz="1700" b="0" i="0">
                <a:solidFill>
                  <a:srgbClr val="4A453D"/>
                </a:solidFill>
                <a:latin typeface="Arial"/>
              </a:rPr>
              <a:t>A party's own document doesn't earn [V1] on a claim it has a stake in.</a:t>
            </a:r>
          </a:p>
        </p:txBody>
      </p:sp>
      <p:sp>
        <p:nvSpPr>
          <p:cNvPr id="18" name="Rounded Rectangle 17"/>
          <p:cNvSpPr/>
          <p:nvPr/>
        </p:nvSpPr>
        <p:spPr>
          <a:xfrm>
            <a:off x="640080" y="516636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166360"/>
            <a:ext cx="10177272" cy="1005840"/>
          </a:xfrm>
          <a:prstGeom prst="rect">
            <a:avLst/>
          </a:prstGeom>
          <a:noFill/>
        </p:spPr>
        <p:txBody>
          <a:bodyPr wrap="square" anchor="ctr" lIns="0" rIns="0" tIns="0" bIns="0">
            <a:spAutoFit/>
          </a:bodyPr>
          <a:lstStyle/>
          <a:p>
            <a:pPr algn="l"/>
            <a:r>
              <a:rPr sz="1800" b="1" i="0">
                <a:solidFill>
                  <a:srgbClr val="FFFFFF"/>
                </a:solidFill>
                <a:latin typeface="Arial"/>
              </a:rPr>
              <a:t>Set once — after disconfirmation — never changed downstream, only re-expressed.</a:t>
            </a:r>
          </a:p>
        </p:txBody>
      </p:sp>
      <p:sp>
        <p:nvSpPr>
          <p:cNvPr id="20" name="TextBox 19"/>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7/19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2 · HOW A CLAIM GETS GRADED</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Route, search, tier by independence, lock.</a:t>
            </a:r>
          </a:p>
        </p:txBody>
      </p:sp>
      <p:sp>
        <p:nvSpPr>
          <p:cNvPr id="4" name="Rounded Rectangle 3"/>
          <p:cNvSpPr/>
          <p:nvPr/>
        </p:nvSpPr>
        <p:spPr>
          <a:xfrm>
            <a:off x="640080" y="1572768"/>
            <a:ext cx="3474720" cy="11887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19072"/>
            <a:ext cx="3063240" cy="457200"/>
          </a:xfrm>
          <a:prstGeom prst="rect">
            <a:avLst/>
          </a:prstGeom>
          <a:noFill/>
        </p:spPr>
        <p:txBody>
          <a:bodyPr wrap="square" anchor="t" lIns="0" rIns="0" tIns="0" bIns="0">
            <a:spAutoFit/>
          </a:bodyPr>
          <a:lstStyle/>
          <a:p>
            <a:pPr algn="l"/>
            <a:r>
              <a:rPr sz="1700" b="1" i="0">
                <a:solidFill>
                  <a:srgbClr val="5F7249"/>
                </a:solidFill>
                <a:latin typeface="Arial"/>
              </a:rPr>
              <a:t>Public fact</a:t>
            </a:r>
          </a:p>
        </p:txBody>
      </p:sp>
      <p:sp>
        <p:nvSpPr>
          <p:cNvPr id="6" name="TextBox 5"/>
          <p:cNvSpPr txBox="1"/>
          <p:nvPr/>
        </p:nvSpPr>
        <p:spPr>
          <a:xfrm>
            <a:off x="859536" y="2194560"/>
            <a:ext cx="3063240" cy="502920"/>
          </a:xfrm>
          <a:prstGeom prst="rect">
            <a:avLst/>
          </a:prstGeom>
          <a:noFill/>
        </p:spPr>
        <p:txBody>
          <a:bodyPr wrap="square" anchor="t" lIns="0" rIns="0" tIns="0" bIns="0">
            <a:spAutoFit/>
          </a:bodyPr>
          <a:lstStyle/>
          <a:p>
            <a:pPr algn="l"/>
            <a:r>
              <a:rPr sz="1300" b="0" i="0">
                <a:solidFill>
                  <a:srgbClr val="4A453D"/>
                </a:solidFill>
                <a:latin typeface="Arial"/>
              </a:rPr>
              <a:t>searched against independent sources</a:t>
            </a:r>
          </a:p>
        </p:txBody>
      </p:sp>
      <p:sp>
        <p:nvSpPr>
          <p:cNvPr id="7" name="Rounded Rectangle 6"/>
          <p:cNvSpPr/>
          <p:nvPr/>
        </p:nvSpPr>
        <p:spPr>
          <a:xfrm>
            <a:off x="4361688"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719072"/>
            <a:ext cx="3063240" cy="457200"/>
          </a:xfrm>
          <a:prstGeom prst="rect">
            <a:avLst/>
          </a:prstGeom>
          <a:noFill/>
        </p:spPr>
        <p:txBody>
          <a:bodyPr wrap="square" anchor="t" lIns="0" rIns="0" tIns="0" bIns="0">
            <a:spAutoFit/>
          </a:bodyPr>
          <a:lstStyle/>
          <a:p>
            <a:pPr algn="l"/>
            <a:r>
              <a:rPr sz="1700" b="1" i="0">
                <a:solidFill>
                  <a:srgbClr val="4E79A6"/>
                </a:solidFill>
                <a:latin typeface="Arial"/>
              </a:rPr>
              <a:t>Party-held</a:t>
            </a:r>
          </a:p>
        </p:txBody>
      </p:sp>
      <p:sp>
        <p:nvSpPr>
          <p:cNvPr id="9" name="TextBox 8"/>
          <p:cNvSpPr txBox="1"/>
          <p:nvPr/>
        </p:nvSpPr>
        <p:spPr>
          <a:xfrm>
            <a:off x="4581144" y="2194560"/>
            <a:ext cx="3063240" cy="502920"/>
          </a:xfrm>
          <a:prstGeom prst="rect">
            <a:avLst/>
          </a:prstGeom>
          <a:noFill/>
        </p:spPr>
        <p:txBody>
          <a:bodyPr wrap="square" anchor="t" lIns="0" rIns="0" tIns="0" bIns="0">
            <a:spAutoFit/>
          </a:bodyPr>
          <a:lstStyle/>
          <a:p>
            <a:pPr algn="l"/>
            <a:r>
              <a:rPr sz="1300" b="0" i="0">
                <a:solidFill>
                  <a:srgbClr val="4A453D"/>
                </a:solidFill>
                <a:latin typeface="Arial"/>
              </a:rPr>
              <a:t>parked — name the doc that would settle it</a:t>
            </a:r>
          </a:p>
        </p:txBody>
      </p:sp>
      <p:sp>
        <p:nvSpPr>
          <p:cNvPr id="10" name="Rounded Rectangle 9"/>
          <p:cNvSpPr/>
          <p:nvPr/>
        </p:nvSpPr>
        <p:spPr>
          <a:xfrm>
            <a:off x="8083296" y="1572768"/>
            <a:ext cx="3474720" cy="11887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719072"/>
            <a:ext cx="3063240" cy="457200"/>
          </a:xfrm>
          <a:prstGeom prst="rect">
            <a:avLst/>
          </a:prstGeom>
          <a:noFill/>
        </p:spPr>
        <p:txBody>
          <a:bodyPr wrap="square" anchor="t" lIns="0" rIns="0" tIns="0" bIns="0">
            <a:spAutoFit/>
          </a:bodyPr>
          <a:lstStyle/>
          <a:p>
            <a:pPr algn="l"/>
            <a:r>
              <a:rPr sz="1700" b="1" i="0">
                <a:solidFill>
                  <a:srgbClr val="D97757"/>
                </a:solidFill>
                <a:latin typeface="Arial"/>
              </a:rPr>
              <a:t>Judgement call</a:t>
            </a:r>
          </a:p>
        </p:txBody>
      </p:sp>
      <p:sp>
        <p:nvSpPr>
          <p:cNvPr id="12" name="TextBox 11"/>
          <p:cNvSpPr txBox="1"/>
          <p:nvPr/>
        </p:nvSpPr>
        <p:spPr>
          <a:xfrm>
            <a:off x="8302752" y="2194560"/>
            <a:ext cx="3063240" cy="502920"/>
          </a:xfrm>
          <a:prstGeom prst="rect">
            <a:avLst/>
          </a:prstGeom>
          <a:noFill/>
        </p:spPr>
        <p:txBody>
          <a:bodyPr wrap="square" anchor="t" lIns="0" rIns="0" tIns="0" bIns="0">
            <a:spAutoFit/>
          </a:bodyPr>
          <a:lstStyle/>
          <a:p>
            <a:pPr algn="l"/>
            <a:r>
              <a:rPr sz="1300" b="0" i="0">
                <a:solidFill>
                  <a:srgbClr val="4A453D"/>
                </a:solidFill>
                <a:latin typeface="Arial"/>
              </a:rPr>
              <a:t>a value, framing or forecast — routed to you</a:t>
            </a:r>
          </a:p>
        </p:txBody>
      </p:sp>
      <p:sp>
        <p:nvSpPr>
          <p:cNvPr id="13" name="Rounded Rectangle 12"/>
          <p:cNvSpPr/>
          <p:nvPr/>
        </p:nvSpPr>
        <p:spPr>
          <a:xfrm>
            <a:off x="640080" y="2999232"/>
            <a:ext cx="6720840" cy="228600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82112"/>
            <a:ext cx="1051560" cy="457200"/>
          </a:xfrm>
          <a:prstGeom prst="rect">
            <a:avLst/>
          </a:prstGeom>
          <a:noFill/>
        </p:spPr>
        <p:txBody>
          <a:bodyPr wrap="square" anchor="t" lIns="0" rIns="0" tIns="0" bIns="0">
            <a:spAutoFit/>
          </a:bodyPr>
          <a:lstStyle/>
          <a:p>
            <a:pPr algn="l"/>
            <a:r>
              <a:rPr sz="1700" b="1" i="0">
                <a:solidFill>
                  <a:srgbClr val="5F7249"/>
                </a:solidFill>
                <a:latin typeface="Arial"/>
              </a:rPr>
              <a:t>[V1]</a:t>
            </a:r>
          </a:p>
        </p:txBody>
      </p:sp>
      <p:sp>
        <p:nvSpPr>
          <p:cNvPr id="15" name="TextBox 14"/>
          <p:cNvSpPr txBox="1"/>
          <p:nvPr/>
        </p:nvSpPr>
        <p:spPr>
          <a:xfrm>
            <a:off x="2011680" y="3182112"/>
            <a:ext cx="5166360" cy="502920"/>
          </a:xfrm>
          <a:prstGeom prst="rect">
            <a:avLst/>
          </a:prstGeom>
          <a:noFill/>
        </p:spPr>
        <p:txBody>
          <a:bodyPr wrap="square" anchor="ctr" lIns="0" rIns="0" tIns="0" bIns="0">
            <a:spAutoFit/>
          </a:bodyPr>
          <a:lstStyle/>
          <a:p>
            <a:pPr algn="l"/>
            <a:r>
              <a:rPr sz="1400" b="0" i="0">
                <a:solidFill>
                  <a:srgbClr val="141413"/>
                </a:solidFill>
                <a:latin typeface="Arial"/>
              </a:rPr>
              <a:t>primary — independent of any interested party</a:t>
            </a:r>
          </a:p>
        </p:txBody>
      </p:sp>
      <p:sp>
        <p:nvSpPr>
          <p:cNvPr id="16" name="TextBox 15"/>
          <p:cNvSpPr txBox="1"/>
          <p:nvPr/>
        </p:nvSpPr>
        <p:spPr>
          <a:xfrm>
            <a:off x="914400" y="3703320"/>
            <a:ext cx="1051560" cy="457200"/>
          </a:xfrm>
          <a:prstGeom prst="rect">
            <a:avLst/>
          </a:prstGeom>
          <a:noFill/>
        </p:spPr>
        <p:txBody>
          <a:bodyPr wrap="square" anchor="t" lIns="0" rIns="0" tIns="0" bIns="0">
            <a:spAutoFit/>
          </a:bodyPr>
          <a:lstStyle/>
          <a:p>
            <a:pPr algn="l"/>
            <a:r>
              <a:rPr sz="1700" b="1" i="0">
                <a:solidFill>
                  <a:srgbClr val="4E79A6"/>
                </a:solidFill>
                <a:latin typeface="Arial"/>
              </a:rPr>
              <a:t>[V2]</a:t>
            </a:r>
          </a:p>
        </p:txBody>
      </p:sp>
      <p:sp>
        <p:nvSpPr>
          <p:cNvPr id="17" name="TextBox 16"/>
          <p:cNvSpPr txBox="1"/>
          <p:nvPr/>
        </p:nvSpPr>
        <p:spPr>
          <a:xfrm>
            <a:off x="2011680" y="3703320"/>
            <a:ext cx="5166360" cy="502920"/>
          </a:xfrm>
          <a:prstGeom prst="rect">
            <a:avLst/>
          </a:prstGeom>
          <a:noFill/>
        </p:spPr>
        <p:txBody>
          <a:bodyPr wrap="square" anchor="ctr" lIns="0" rIns="0" tIns="0" bIns="0">
            <a:spAutoFit/>
          </a:bodyPr>
          <a:lstStyle/>
          <a:p>
            <a:pPr algn="l"/>
            <a:r>
              <a:rPr sz="1400" b="0" i="0">
                <a:solidFill>
                  <a:srgbClr val="141413"/>
                </a:solidFill>
                <a:latin typeface="Arial"/>
              </a:rPr>
              <a:t>reputable reporting resting on those</a:t>
            </a:r>
          </a:p>
        </p:txBody>
      </p:sp>
      <p:sp>
        <p:nvSpPr>
          <p:cNvPr id="18" name="TextBox 17"/>
          <p:cNvSpPr txBox="1"/>
          <p:nvPr/>
        </p:nvSpPr>
        <p:spPr>
          <a:xfrm>
            <a:off x="914400" y="4224528"/>
            <a:ext cx="1051560" cy="457200"/>
          </a:xfrm>
          <a:prstGeom prst="rect">
            <a:avLst/>
          </a:prstGeom>
          <a:noFill/>
        </p:spPr>
        <p:txBody>
          <a:bodyPr wrap="square" anchor="t" lIns="0" rIns="0" tIns="0" bIns="0">
            <a:spAutoFit/>
          </a:bodyPr>
          <a:lstStyle/>
          <a:p>
            <a:pPr algn="l"/>
            <a:r>
              <a:rPr sz="1700" b="1" i="0">
                <a:solidFill>
                  <a:srgbClr val="A96A45"/>
                </a:solidFill>
                <a:latin typeface="Arial"/>
              </a:rPr>
              <a:t>[V3]</a:t>
            </a:r>
          </a:p>
        </p:txBody>
      </p:sp>
      <p:sp>
        <p:nvSpPr>
          <p:cNvPr id="19" name="TextBox 18"/>
          <p:cNvSpPr txBox="1"/>
          <p:nvPr/>
        </p:nvSpPr>
        <p:spPr>
          <a:xfrm>
            <a:off x="2011680" y="4224528"/>
            <a:ext cx="5166360" cy="502920"/>
          </a:xfrm>
          <a:prstGeom prst="rect">
            <a:avLst/>
          </a:prstGeom>
          <a:noFill/>
        </p:spPr>
        <p:txBody>
          <a:bodyPr wrap="square" anchor="ctr" lIns="0" rIns="0" tIns="0" bIns="0">
            <a:spAutoFit/>
          </a:bodyPr>
          <a:lstStyle/>
          <a:p>
            <a:pPr algn="l"/>
            <a:r>
              <a:rPr sz="1400" b="0" i="0">
                <a:solidFill>
                  <a:srgbClr val="141413"/>
                </a:solidFill>
                <a:latin typeface="Arial"/>
              </a:rPr>
              <a:t>weak but independent, or credible sources disagree</a:t>
            </a:r>
          </a:p>
        </p:txBody>
      </p:sp>
      <p:sp>
        <p:nvSpPr>
          <p:cNvPr id="20" name="TextBox 19"/>
          <p:cNvSpPr txBox="1"/>
          <p:nvPr/>
        </p:nvSpPr>
        <p:spPr>
          <a:xfrm>
            <a:off x="914400" y="4745736"/>
            <a:ext cx="1051560" cy="457200"/>
          </a:xfrm>
          <a:prstGeom prst="rect">
            <a:avLst/>
          </a:prstGeom>
          <a:noFill/>
        </p:spPr>
        <p:txBody>
          <a:bodyPr wrap="square" anchor="t" lIns="0" rIns="0" tIns="0" bIns="0">
            <a:spAutoFit/>
          </a:bodyPr>
          <a:lstStyle/>
          <a:p>
            <a:pPr algn="l"/>
            <a:r>
              <a:rPr sz="1700" b="1" i="0">
                <a:solidFill>
                  <a:srgbClr val="D97757"/>
                </a:solidFill>
                <a:latin typeface="Arial"/>
              </a:rPr>
              <a:t>[N]</a:t>
            </a:r>
          </a:p>
        </p:txBody>
      </p:sp>
      <p:sp>
        <p:nvSpPr>
          <p:cNvPr id="21" name="TextBox 20"/>
          <p:cNvSpPr txBox="1"/>
          <p:nvPr/>
        </p:nvSpPr>
        <p:spPr>
          <a:xfrm>
            <a:off x="2011680" y="4745736"/>
            <a:ext cx="5166360" cy="502920"/>
          </a:xfrm>
          <a:prstGeom prst="rect">
            <a:avLst/>
          </a:prstGeom>
          <a:noFill/>
        </p:spPr>
        <p:txBody>
          <a:bodyPr wrap="square" anchor="ctr" lIns="0" rIns="0" tIns="0" bIns="0">
            <a:spAutoFit/>
          </a:bodyPr>
          <a:lstStyle/>
          <a:p>
            <a:pPr algn="l"/>
            <a:r>
              <a:rPr sz="1400" b="0" i="0">
                <a:solidFill>
                  <a:srgbClr val="141413"/>
                </a:solidFill>
                <a:latin typeface="Arial"/>
              </a:rPr>
              <a:t>nothing independent behind it, or an interested party's own account</a:t>
            </a:r>
          </a:p>
        </p:txBody>
      </p:sp>
      <p:sp>
        <p:nvSpPr>
          <p:cNvPr id="22" name="Rounded Rectangle 21"/>
          <p:cNvSpPr/>
          <p:nvPr/>
        </p:nvSpPr>
        <p:spPr>
          <a:xfrm>
            <a:off x="7589520" y="2999232"/>
            <a:ext cx="3959352" cy="228600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0" y="3246120"/>
            <a:ext cx="3429000" cy="1828800"/>
          </a:xfrm>
          <a:prstGeom prst="rect">
            <a:avLst/>
          </a:prstGeom>
          <a:noFill/>
        </p:spPr>
        <p:txBody>
          <a:bodyPr wrap="square" anchor="t" lIns="0" rIns="0" tIns="0" bIns="0">
            <a:spAutoFit/>
          </a:bodyPr>
          <a:lstStyle/>
          <a:p>
            <a:pPr algn="l">
              <a:spcAft>
                <a:spcPts val="700"/>
              </a:spcAft>
            </a:pPr>
            <a:r>
              <a:rPr sz="1600" b="1" i="0">
                <a:solidFill>
                  <a:srgbClr val="5F7249"/>
                </a:solidFill>
                <a:latin typeface="Arial"/>
              </a:rPr>
              <a:t>Graded by independence.</a:t>
            </a:r>
          </a:p>
          <a:p>
            <a:pPr algn="l">
              <a:spcAft>
                <a:spcPts val="700"/>
              </a:spcAft>
            </a:pPr>
            <a:r>
              <a:rPr sz="1500" b="0" i="0">
                <a:solidFill>
                  <a:srgbClr val="4A453D"/>
                </a:solidFill>
                <a:latin typeface="Arial"/>
              </a:rPr>
              <a:t>A party's own document doesn't earn V1 on a claim it has a stake in.</a:t>
            </a:r>
          </a:p>
        </p:txBody>
      </p:sp>
      <p:sp>
        <p:nvSpPr>
          <p:cNvPr id="24" name="Rounded Rectangle 23"/>
          <p:cNvSpPr/>
          <p:nvPr/>
        </p:nvSpPr>
        <p:spPr>
          <a:xfrm>
            <a:off x="640080" y="5440680"/>
            <a:ext cx="10908792" cy="96012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40680"/>
            <a:ext cx="10177272" cy="960120"/>
          </a:xfrm>
          <a:prstGeom prst="rect">
            <a:avLst/>
          </a:prstGeom>
          <a:noFill/>
        </p:spPr>
        <p:txBody>
          <a:bodyPr wrap="square" anchor="ctr" lIns="0" rIns="0" tIns="0" bIns="0">
            <a:spAutoFit/>
          </a:bodyPr>
          <a:lstStyle/>
          <a:p>
            <a:pPr algn="l"/>
            <a:r>
              <a:rPr sz="1800" b="1" i="0">
                <a:solidFill>
                  <a:srgbClr val="FFFFFF"/>
                </a:solidFill>
                <a:latin typeface="Arial"/>
              </a:rPr>
              <a:t>Then each claim is disconfirmed — searched at its own negation, which can downgrade — and only then does it lock.</a:t>
            </a:r>
          </a:p>
        </p:txBody>
      </p:sp>
      <p:sp>
        <p:nvSpPr>
          <p:cNvPr id="26" name="TextBox 2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8/19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STEP 2 · DISCONFIRMATION</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It tries to prove itself wrong.</a:t>
            </a:r>
          </a:p>
        </p:txBody>
      </p:sp>
      <p:sp>
        <p:nvSpPr>
          <p:cNvPr id="4" name="TextBox 3"/>
          <p:cNvSpPr txBox="1"/>
          <p:nvPr/>
        </p:nvSpPr>
        <p:spPr>
          <a:xfrm>
            <a:off x="640080" y="1645920"/>
            <a:ext cx="10881360" cy="548640"/>
          </a:xfrm>
          <a:prstGeom prst="rect">
            <a:avLst/>
          </a:prstGeom>
          <a:noFill/>
        </p:spPr>
        <p:txBody>
          <a:bodyPr wrap="square" anchor="t" lIns="0" rIns="0" tIns="0" bIns="0">
            <a:spAutoFit/>
          </a:bodyPr>
          <a:lstStyle/>
          <a:p>
            <a:pPr algn="l"/>
            <a:r>
              <a:rPr sz="1800" b="0" i="0">
                <a:solidFill>
                  <a:srgbClr val="141413"/>
                </a:solidFill>
                <a:latin typeface="Arial"/>
              </a:rPr>
              <a:t>For every claim the conclusion rests on, it runs a second search — aimed at the opposite.</a:t>
            </a:r>
          </a:p>
        </p:txBody>
      </p:sp>
      <p:sp>
        <p:nvSpPr>
          <p:cNvPr id="5" name="Rounded Rectangle 4"/>
          <p:cNvSpPr/>
          <p:nvPr/>
        </p:nvSpPr>
        <p:spPr>
          <a:xfrm>
            <a:off x="640080"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331720"/>
            <a:ext cx="3017520" cy="1234440"/>
          </a:xfrm>
          <a:prstGeom prst="rect">
            <a:avLst/>
          </a:prstGeom>
          <a:noFill/>
        </p:spPr>
        <p:txBody>
          <a:bodyPr wrap="square" anchor="ctr" lIns="0" rIns="0" tIns="0" bIns="0">
            <a:spAutoFit/>
          </a:bodyPr>
          <a:lstStyle/>
          <a:p>
            <a:pPr algn="ctr"/>
            <a:r>
              <a:rPr sz="1800" b="1" i="0">
                <a:solidFill>
                  <a:srgbClr val="4E79A6"/>
                </a:solidFill>
                <a:latin typeface="Arial"/>
              </a:rPr>
              <a:t>A load-bearing claim</a:t>
            </a:r>
          </a:p>
        </p:txBody>
      </p:sp>
      <p:sp>
        <p:nvSpPr>
          <p:cNvPr id="7" name="TextBox 6"/>
          <p:cNvSpPr txBox="1"/>
          <p:nvPr/>
        </p:nvSpPr>
        <p:spPr>
          <a:xfrm>
            <a:off x="4041648"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8" name="Rounded Rectangle 7"/>
          <p:cNvSpPr/>
          <p:nvPr/>
        </p:nvSpPr>
        <p:spPr>
          <a:xfrm>
            <a:off x="4544568"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27448" y="2331720"/>
            <a:ext cx="3017520" cy="1234440"/>
          </a:xfrm>
          <a:prstGeom prst="rect">
            <a:avLst/>
          </a:prstGeom>
          <a:noFill/>
        </p:spPr>
        <p:txBody>
          <a:bodyPr wrap="square" anchor="ctr" lIns="0" rIns="0" tIns="0" bIns="0">
            <a:spAutoFit/>
          </a:bodyPr>
          <a:lstStyle/>
          <a:p>
            <a:pPr algn="ctr"/>
            <a:r>
              <a:rPr sz="1800" b="1" i="0">
                <a:solidFill>
                  <a:srgbClr val="D97757"/>
                </a:solidFill>
                <a:latin typeface="Arial"/>
              </a:rPr>
              <a:t>Search its negation</a:t>
            </a:r>
          </a:p>
        </p:txBody>
      </p:sp>
      <p:sp>
        <p:nvSpPr>
          <p:cNvPr id="10" name="TextBox 9"/>
          <p:cNvSpPr txBox="1"/>
          <p:nvPr/>
        </p:nvSpPr>
        <p:spPr>
          <a:xfrm>
            <a:off x="7946136" y="2331720"/>
            <a:ext cx="502920" cy="1234440"/>
          </a:xfrm>
          <a:prstGeom prst="rect">
            <a:avLst/>
          </a:prstGeom>
          <a:noFill/>
        </p:spPr>
        <p:txBody>
          <a:bodyPr wrap="square" anchor="ctr" lIns="0" rIns="0" tIns="0" bIns="0">
            <a:spAutoFit/>
          </a:bodyPr>
          <a:lstStyle/>
          <a:p>
            <a:pPr algn="ctr"/>
            <a:r>
              <a:rPr sz="3000" b="0" i="0">
                <a:solidFill>
                  <a:srgbClr val="8A8578"/>
                </a:solidFill>
                <a:latin typeface="Arial"/>
              </a:rPr>
              <a:t>→</a:t>
            </a:r>
          </a:p>
        </p:txBody>
      </p:sp>
      <p:sp>
        <p:nvSpPr>
          <p:cNvPr id="11" name="Rounded Rectangle 10"/>
          <p:cNvSpPr/>
          <p:nvPr/>
        </p:nvSpPr>
        <p:spPr>
          <a:xfrm>
            <a:off x="8449055" y="2331720"/>
            <a:ext cx="3383280" cy="12344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1935" y="2331720"/>
            <a:ext cx="3017520" cy="1234440"/>
          </a:xfrm>
          <a:prstGeom prst="rect">
            <a:avLst/>
          </a:prstGeom>
          <a:noFill/>
        </p:spPr>
        <p:txBody>
          <a:bodyPr wrap="square" anchor="ctr" lIns="0" rIns="0" tIns="0" bIns="0">
            <a:spAutoFit/>
          </a:bodyPr>
          <a:lstStyle/>
          <a:p>
            <a:pPr algn="ctr"/>
            <a:r>
              <a:rPr sz="1800" b="1" i="0">
                <a:solidFill>
                  <a:srgbClr val="5F7249"/>
                </a:solidFill>
                <a:latin typeface="Arial"/>
              </a:rPr>
              <a:t>Survives, or downgrades</a:t>
            </a:r>
          </a:p>
        </p:txBody>
      </p:sp>
      <p:sp>
        <p:nvSpPr>
          <p:cNvPr id="13" name="Rounded Rectangle 12"/>
          <p:cNvSpPr/>
          <p:nvPr/>
        </p:nvSpPr>
        <p:spPr>
          <a:xfrm>
            <a:off x="640080" y="3794760"/>
            <a:ext cx="10908792" cy="105156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10332720" cy="1051560"/>
          </a:xfrm>
          <a:prstGeom prst="rect">
            <a:avLst/>
          </a:prstGeom>
          <a:noFill/>
        </p:spPr>
        <p:txBody>
          <a:bodyPr wrap="square" anchor="ctr" lIns="0" rIns="0" tIns="0" bIns="0">
            <a:spAutoFit/>
          </a:bodyPr>
          <a:lstStyle/>
          <a:p>
            <a:pPr algn="l"/>
            <a:r>
              <a:rPr sz="1700" b="1" i="0">
                <a:solidFill>
                  <a:srgbClr val="141413"/>
                </a:solidFill>
                <a:latin typeface="Arial"/>
              </a:rPr>
              <a:t>“Survived” needs two independent sources.  </a:t>
            </a:r>
          </a:p>
          <a:p>
            <a:pPr algn="l"/>
            <a:r>
              <a:rPr sz="1700" b="0" i="0">
                <a:solidFill>
                  <a:srgbClr val="4A453D"/>
                </a:solidFill>
                <a:latin typeface="Arial"/>
              </a:rPr>
              <a:t>A single origin echoed around is flagged “unopposed” — not survived.</a:t>
            </a:r>
          </a:p>
        </p:txBody>
      </p:sp>
      <p:sp>
        <p:nvSpPr>
          <p:cNvPr id="15" name="Rounded Rectangle 14"/>
          <p:cNvSpPr/>
          <p:nvPr/>
        </p:nvSpPr>
        <p:spPr>
          <a:xfrm>
            <a:off x="640080" y="512064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120640"/>
            <a:ext cx="10177272" cy="1005840"/>
          </a:xfrm>
          <a:prstGeom prst="rect">
            <a:avLst/>
          </a:prstGeom>
          <a:noFill/>
        </p:spPr>
        <p:txBody>
          <a:bodyPr wrap="square" anchor="ctr" lIns="0" rIns="0" tIns="0" bIns="0">
            <a:spAutoFit/>
          </a:bodyPr>
          <a:lstStyle/>
          <a:p>
            <a:pPr algn="l"/>
            <a:r>
              <a:rPr sz="1800" b="1" i="0">
                <a:solidFill>
                  <a:srgbClr val="FFFFFF"/>
                </a:solidFill>
                <a:latin typeface="Arial"/>
              </a:rPr>
              <a:t>The direct counter to confirmation bias — the failure mode any single-pass search invites.</a:t>
            </a:r>
          </a:p>
        </p:txBody>
      </p:sp>
      <p:sp>
        <p:nvSpPr>
          <p:cNvPr id="17" name="TextBox 16"/>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9/19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2.5 · SYSTEMS PASS · CONDITIONAL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When the problem feeds back on itself.</a:t>
            </a:r>
          </a:p>
        </p:txBody>
      </p:sp>
      <p:sp>
        <p:nvSpPr>
          <p:cNvPr id="4" name="Rounded Rectangle 3"/>
          <p:cNvSpPr/>
          <p:nvPr/>
        </p:nvSpPr>
        <p:spPr>
          <a:xfrm>
            <a:off x="640080" y="1783080"/>
            <a:ext cx="5440680"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457200"/>
          </a:xfrm>
          <a:prstGeom prst="rect">
            <a:avLst/>
          </a:prstGeom>
          <a:noFill/>
        </p:spPr>
        <p:txBody>
          <a:bodyPr wrap="square" anchor="t" lIns="0" rIns="0" tIns="0" bIns="0">
            <a:spAutoFit/>
          </a:bodyPr>
          <a:lstStyle/>
          <a:p>
            <a:pPr algn="l"/>
            <a:r>
              <a:rPr sz="1800" b="1" i="0">
                <a:solidFill>
                  <a:srgbClr val="4E79A6"/>
                </a:solidFill>
                <a:latin typeface="Arial"/>
              </a:rPr>
              <a:t>Runs only when 2+ signatures appear</a:t>
            </a:r>
          </a:p>
        </p:txBody>
      </p:sp>
      <p:sp>
        <p:nvSpPr>
          <p:cNvPr id="6" name="TextBox 5"/>
          <p:cNvSpPr txBox="1"/>
          <p:nvPr/>
        </p:nvSpPr>
        <p:spPr>
          <a:xfrm>
            <a:off x="914400" y="2697480"/>
            <a:ext cx="4937760" cy="2011680"/>
          </a:xfrm>
          <a:prstGeom prst="rect">
            <a:avLst/>
          </a:prstGeom>
          <a:noFill/>
        </p:spPr>
        <p:txBody>
          <a:bodyPr wrap="square" anchor="t" lIns="0" rIns="0" tIns="0" bIns="0">
            <a:spAutoFit/>
          </a:bodyPr>
          <a:lstStyle/>
          <a:p>
            <a:pPr algn="l">
              <a:spcAft>
                <a:spcPts val="400"/>
              </a:spcAft>
            </a:pPr>
            <a:r>
              <a:rPr sz="1600" b="0" i="0">
                <a:solidFill>
                  <a:srgbClr val="141413"/>
                </a:solidFill>
                <a:latin typeface="Arial"/>
              </a:rPr>
              <a:t>• feedback loops</a:t>
            </a:r>
          </a:p>
          <a:p>
            <a:pPr algn="l">
              <a:spcAft>
                <a:spcPts val="400"/>
              </a:spcAft>
            </a:pPr>
            <a:r>
              <a:rPr sz="1600" b="0" i="0">
                <a:solidFill>
                  <a:srgbClr val="141413"/>
                </a:solidFill>
                <a:latin typeface="Arial"/>
              </a:rPr>
              <a:t>• delays between cause and effect</a:t>
            </a:r>
          </a:p>
          <a:p>
            <a:pPr algn="l">
              <a:spcAft>
                <a:spcPts val="400"/>
              </a:spcAft>
            </a:pPr>
            <a:r>
              <a:rPr sz="1600" b="0" i="0">
                <a:solidFill>
                  <a:srgbClr val="141413"/>
                </a:solidFill>
                <a:latin typeface="Arial"/>
              </a:rPr>
              <a:t>• things that accumulate</a:t>
            </a:r>
          </a:p>
          <a:p>
            <a:pPr algn="l">
              <a:spcAft>
                <a:spcPts val="400"/>
              </a:spcAft>
            </a:pPr>
            <a:r>
              <a:rPr sz="1600" b="0" i="0">
                <a:solidFill>
                  <a:srgbClr val="141413"/>
                </a:solidFill>
                <a:latin typeface="Arial"/>
              </a:rPr>
              <a:t>• many interacting actors</a:t>
            </a:r>
          </a:p>
          <a:p>
            <a:pPr algn="l">
              <a:spcAft>
                <a:spcPts val="400"/>
              </a:spcAft>
            </a:pPr>
            <a:r>
              <a:rPr sz="1600" b="0" i="0">
                <a:solidFill>
                  <a:srgbClr val="141413"/>
                </a:solidFill>
                <a:latin typeface="Arial"/>
              </a:rPr>
              <a:t>• a possible tipping point</a:t>
            </a:r>
          </a:p>
          <a:p>
            <a:pPr algn="l">
              <a:spcAft>
                <a:spcPts val="400"/>
              </a:spcAft>
            </a:pPr>
            <a:r>
              <a:rPr sz="1600" b="0" i="0">
                <a:solidFill>
                  <a:srgbClr val="141413"/>
                </a:solidFill>
                <a:latin typeface="Arial"/>
              </a:rPr>
              <a:t>• self-fulfilling expectations</a:t>
            </a:r>
          </a:p>
        </p:txBody>
      </p:sp>
      <p:sp>
        <p:nvSpPr>
          <p:cNvPr id="7" name="Rounded Rectangle 6"/>
          <p:cNvSpPr/>
          <p:nvPr/>
        </p:nvSpPr>
        <p:spPr>
          <a:xfrm>
            <a:off x="6263640" y="1783080"/>
            <a:ext cx="528523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457200"/>
          </a:xfrm>
          <a:prstGeom prst="rect">
            <a:avLst/>
          </a:prstGeom>
          <a:noFill/>
        </p:spPr>
        <p:txBody>
          <a:bodyPr wrap="square" anchor="t" lIns="0" rIns="0" tIns="0" bIns="0">
            <a:spAutoFit/>
          </a:bodyPr>
          <a:lstStyle/>
          <a:p>
            <a:pPr algn="l"/>
            <a:r>
              <a:rPr sz="1800" b="1" i="0">
                <a:solidFill>
                  <a:srgbClr val="5F7249"/>
                </a:solidFill>
                <a:latin typeface="Arial"/>
              </a:rPr>
              <a:t>A graded hypothesis — not a simulation</a:t>
            </a:r>
          </a:p>
        </p:txBody>
      </p:sp>
      <p:sp>
        <p:nvSpPr>
          <p:cNvPr id="9" name="TextBox 8"/>
          <p:cNvSpPr txBox="1"/>
          <p:nvPr/>
        </p:nvSpPr>
        <p:spPr>
          <a:xfrm>
            <a:off x="6537960" y="2697480"/>
            <a:ext cx="4754880" cy="2011680"/>
          </a:xfrm>
          <a:prstGeom prst="rect">
            <a:avLst/>
          </a:prstGeom>
          <a:noFill/>
        </p:spPr>
        <p:txBody>
          <a:bodyPr wrap="square" anchor="t" lIns="0" rIns="0" tIns="0" bIns="0">
            <a:spAutoFit/>
          </a:bodyPr>
          <a:lstStyle/>
          <a:p>
            <a:pPr algn="l"/>
            <a:r>
              <a:rPr sz="1700" b="0" i="0">
                <a:solidFill>
                  <a:srgbClr val="4A453D"/>
                </a:solidFill>
                <a:latin typeface="Arial"/>
              </a:rPr>
              <a:t>It will tell you a loop EXISTS. It will not tell you, as fact, which loop WINS — that routes back to you. Structure can be verified; whether or when it tips cannot.</a:t>
            </a:r>
          </a:p>
        </p:txBody>
      </p:sp>
      <p:sp>
        <p:nvSpPr>
          <p:cNvPr id="10" name="Rounded Rectangle 9"/>
          <p:cNvSpPr/>
          <p:nvPr/>
        </p:nvSpPr>
        <p:spPr>
          <a:xfrm>
            <a:off x="640080" y="507492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77272" cy="1051560"/>
          </a:xfrm>
          <a:prstGeom prst="rect">
            <a:avLst/>
          </a:prstGeom>
          <a:noFill/>
        </p:spPr>
        <p:txBody>
          <a:bodyPr wrap="square" anchor="ctr" lIns="0" rIns="0" tIns="0" bIns="0">
            <a:spAutoFit/>
          </a:bodyPr>
          <a:lstStyle/>
          <a:p>
            <a:pPr algn="l"/>
            <a:r>
              <a:rPr sz="1800" b="1" i="0">
                <a:solidFill>
                  <a:srgbClr val="FFFFFF"/>
                </a:solidFill>
                <a:latin typeface="Arial"/>
              </a:rPr>
              <a:t>It states whose framing the map takes, and who's affected but missing. A tidy map that hides its blind spot is false precision.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10/19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658368" y="365760"/>
            <a:ext cx="10881360" cy="365760"/>
          </a:xfrm>
          <a:prstGeom prst="rect">
            <a:avLst/>
          </a:prstGeom>
          <a:noFill/>
        </p:spPr>
        <p:txBody>
          <a:bodyPr wrap="square" anchor="t" lIns="0" rIns="0" tIns="0" bIns="0">
            <a:spAutoFit/>
          </a:bodyPr>
          <a:lstStyle/>
          <a:p>
            <a:pPr algn="l"/>
            <a:r>
              <a:rPr sz="1500" b="1" i="0">
                <a:solidFill>
                  <a:srgbClr val="E89078"/>
                </a:solidFill>
                <a:latin typeface="Arial"/>
              </a:rPr>
              <a:t>THE FORCED GATE</a:t>
            </a:r>
          </a:p>
        </p:txBody>
      </p:sp>
      <p:sp>
        <p:nvSpPr>
          <p:cNvPr id="3" name="TextBox 2"/>
          <p:cNvSpPr txBox="1"/>
          <p:nvPr/>
        </p:nvSpPr>
        <p:spPr>
          <a:xfrm>
            <a:off x="640080" y="713232"/>
            <a:ext cx="10972800" cy="822960"/>
          </a:xfrm>
          <a:prstGeom prst="rect">
            <a:avLst/>
          </a:prstGeom>
          <a:noFill/>
        </p:spPr>
        <p:txBody>
          <a:bodyPr wrap="square" anchor="t" lIns="0" rIns="0" tIns="0" bIns="0">
            <a:spAutoFit/>
          </a:bodyPr>
          <a:lstStyle/>
          <a:p>
            <a:pPr algn="l"/>
            <a:r>
              <a:rPr sz="3000" b="1" i="0">
                <a:solidFill>
                  <a:srgbClr val="FFFFFF"/>
                </a:solidFill>
                <a:latin typeface="Arial"/>
              </a:rPr>
              <a:t>The value questions are yours to answer.</a:t>
            </a:r>
          </a:p>
        </p:txBody>
      </p:sp>
      <p:sp>
        <p:nvSpPr>
          <p:cNvPr id="4" name="Rounded Rectangle 3"/>
          <p:cNvSpPr/>
          <p:nvPr/>
        </p:nvSpPr>
        <p:spPr>
          <a:xfrm>
            <a:off x="640080" y="1691640"/>
            <a:ext cx="10908792" cy="1691640"/>
          </a:xfrm>
          <a:prstGeom prst="roundRect">
            <a:avLst>
              <a:gd name="adj" fmla="val 5500"/>
            </a:avLst>
          </a:prstGeom>
          <a:solidFill>
            <a:srgbClr val="F2D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91640"/>
            <a:ext cx="10241280" cy="1691640"/>
          </a:xfrm>
          <a:prstGeom prst="rect">
            <a:avLst/>
          </a:prstGeom>
          <a:noFill/>
        </p:spPr>
        <p:txBody>
          <a:bodyPr wrap="square" anchor="ctr" lIns="0" rIns="0" tIns="0" bIns="0">
            <a:spAutoFit/>
          </a:bodyPr>
          <a:lstStyle/>
          <a:p>
            <a:pPr algn="l"/>
            <a:r>
              <a:rPr sz="2000" b="0" i="0">
                <a:solidFill>
                  <a:srgbClr val="7A3F28"/>
                </a:solidFill>
                <a:latin typeface="Arial"/>
              </a:rPr>
              <a:t>The questions no evidence can settle — the framing, the legitimacy, the trade-offs — are handed back to you, one at a time. The analysis won't finalise until you take a position — or explicitly defer, which is logged, not ignored.</a:t>
            </a:r>
          </a:p>
        </p:txBody>
      </p:sp>
      <p:sp>
        <p:nvSpPr>
          <p:cNvPr id="6" name="TextBox 5"/>
          <p:cNvSpPr txBox="1"/>
          <p:nvPr/>
        </p:nvSpPr>
        <p:spPr>
          <a:xfrm>
            <a:off x="640080" y="3794760"/>
            <a:ext cx="10881360" cy="1371600"/>
          </a:xfrm>
          <a:prstGeom prst="rect">
            <a:avLst/>
          </a:prstGeom>
          <a:noFill/>
        </p:spPr>
        <p:txBody>
          <a:bodyPr wrap="square" anchor="t" lIns="0" rIns="0" tIns="0" bIns="0">
            <a:spAutoFit/>
          </a:bodyPr>
          <a:lstStyle/>
          <a:p>
            <a:pPr algn="l"/>
            <a:r>
              <a:rPr sz="1900" b="1" i="0">
                <a:solidFill>
                  <a:srgbClr val="E89078"/>
                </a:solidFill>
                <a:latin typeface="Arial"/>
              </a:rPr>
              <a:t>Why forced?  </a:t>
            </a:r>
          </a:p>
          <a:p>
            <a:pPr algn="l"/>
            <a:r>
              <a:rPr sz="1900" b="0" i="0">
                <a:solidFill>
                  <a:srgbClr val="FAF9F5"/>
                </a:solidFill>
                <a:latin typeface="Arial"/>
              </a:rPr>
              <a:t>Testing showed that merely showing you these questions doesn't work — attention slides to the verifiable. Being made to answer is what gets them addressed.</a:t>
            </a:r>
          </a:p>
        </p:txBody>
      </p:sp>
      <p:sp>
        <p:nvSpPr>
          <p:cNvPr id="7" name="TextBox 6"/>
          <p:cNvSpPr txBox="1"/>
          <p:nvPr/>
        </p:nvSpPr>
        <p:spPr>
          <a:xfrm>
            <a:off x="640080" y="5257800"/>
            <a:ext cx="10881360" cy="457200"/>
          </a:xfrm>
          <a:prstGeom prst="rect">
            <a:avLst/>
          </a:prstGeom>
          <a:noFill/>
        </p:spPr>
        <p:txBody>
          <a:bodyPr wrap="square" anchor="t" lIns="0" rIns="0" tIns="0" bIns="0">
            <a:spAutoFit/>
          </a:bodyPr>
          <a:lstStyle/>
          <a:p>
            <a:pPr algn="l"/>
            <a:r>
              <a:rPr sz="1700" b="0" i="0">
                <a:solidFill>
                  <a:srgbClr val="C9C6BA"/>
                </a:solidFill>
                <a:latin typeface="Arial"/>
              </a:rPr>
              <a:t>The engine surfaces the questions; you own the judgment.</a:t>
            </a:r>
          </a:p>
        </p:txBody>
      </p:sp>
      <p:sp>
        <p:nvSpPr>
          <p:cNvPr id="8" name="TextBox 7"/>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11/19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6 · THE DECISION BRIEF</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 short decision surface — not an essay.</a:t>
            </a:r>
          </a:p>
        </p:txBody>
      </p:sp>
      <p:sp>
        <p:nvSpPr>
          <p:cNvPr id="4" name="Rounded Rectangle 3"/>
          <p:cNvSpPr/>
          <p:nvPr/>
        </p:nvSpPr>
        <p:spPr>
          <a:xfrm>
            <a:off x="640080" y="178308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929384"/>
            <a:ext cx="3063240" cy="457200"/>
          </a:xfrm>
          <a:prstGeom prst="rect">
            <a:avLst/>
          </a:prstGeom>
          <a:noFill/>
        </p:spPr>
        <p:txBody>
          <a:bodyPr wrap="square" anchor="t" lIns="0" rIns="0" tIns="0" bIns="0">
            <a:spAutoFit/>
          </a:bodyPr>
          <a:lstStyle/>
          <a:p>
            <a:pPr algn="l"/>
            <a:r>
              <a:rPr sz="1700" b="1" i="0">
                <a:solidFill>
                  <a:srgbClr val="4E79A6"/>
                </a:solidFill>
                <a:latin typeface="Arial"/>
              </a:rPr>
              <a:t>The call</a:t>
            </a:r>
          </a:p>
        </p:txBody>
      </p:sp>
      <p:sp>
        <p:nvSpPr>
          <p:cNvPr id="6" name="TextBox 5"/>
          <p:cNvSpPr txBox="1"/>
          <p:nvPr/>
        </p:nvSpPr>
        <p:spPr>
          <a:xfrm>
            <a:off x="859536"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provisional stance if the problem is wicked</a:t>
            </a:r>
          </a:p>
        </p:txBody>
      </p:sp>
      <p:sp>
        <p:nvSpPr>
          <p:cNvPr id="7" name="Rounded Rectangle 6"/>
          <p:cNvSpPr/>
          <p:nvPr/>
        </p:nvSpPr>
        <p:spPr>
          <a:xfrm>
            <a:off x="4361688"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Confidence basis</a:t>
            </a:r>
          </a:p>
        </p:txBody>
      </p:sp>
      <p:sp>
        <p:nvSpPr>
          <p:cNvPr id="9" name="TextBox 8"/>
          <p:cNvSpPr txBox="1"/>
          <p:nvPr/>
        </p:nvSpPr>
        <p:spPr>
          <a:xfrm>
            <a:off x="4581144"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how solid the EVIDENCE is — the weakest grade</a:t>
            </a:r>
          </a:p>
        </p:txBody>
      </p:sp>
      <p:sp>
        <p:nvSpPr>
          <p:cNvPr id="10" name="Rounded Rectangle 9"/>
          <p:cNvSpPr/>
          <p:nvPr/>
        </p:nvSpPr>
        <p:spPr>
          <a:xfrm>
            <a:off x="8083296" y="1783080"/>
            <a:ext cx="3474720" cy="1261872"/>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929384"/>
            <a:ext cx="3063240" cy="457200"/>
          </a:xfrm>
          <a:prstGeom prst="rect">
            <a:avLst/>
          </a:prstGeom>
          <a:noFill/>
        </p:spPr>
        <p:txBody>
          <a:bodyPr wrap="square" anchor="t" lIns="0" rIns="0" tIns="0" bIns="0">
            <a:spAutoFit/>
          </a:bodyPr>
          <a:lstStyle/>
          <a:p>
            <a:pPr algn="l"/>
            <a:r>
              <a:rPr sz="1700" b="1" i="0">
                <a:solidFill>
                  <a:srgbClr val="5F7249"/>
                </a:solidFill>
                <a:latin typeface="Arial"/>
              </a:rPr>
              <a:t>Action contingency</a:t>
            </a:r>
          </a:p>
        </p:txBody>
      </p:sp>
      <p:sp>
        <p:nvSpPr>
          <p:cNvPr id="12" name="TextBox 11"/>
          <p:cNvSpPr txBox="1"/>
          <p:nvPr/>
        </p:nvSpPr>
        <p:spPr>
          <a:xfrm>
            <a:off x="8302752" y="2404872"/>
            <a:ext cx="3063240" cy="548640"/>
          </a:xfrm>
          <a:prstGeom prst="rect">
            <a:avLst/>
          </a:prstGeom>
          <a:noFill/>
        </p:spPr>
        <p:txBody>
          <a:bodyPr wrap="square" anchor="t" lIns="0" rIns="0" tIns="0" bIns="0">
            <a:spAutoFit/>
          </a:bodyPr>
          <a:lstStyle/>
          <a:p>
            <a:pPr algn="l"/>
            <a:r>
              <a:rPr sz="1400" b="0" i="0">
                <a:solidFill>
                  <a:srgbClr val="4A453D"/>
                </a:solidFill>
                <a:latin typeface="Arial"/>
              </a:rPr>
              <a:t>whether the ACTION will work — kept separate</a:t>
            </a:r>
          </a:p>
        </p:txBody>
      </p:sp>
      <p:sp>
        <p:nvSpPr>
          <p:cNvPr id="13" name="Rounded Rectangle 12"/>
          <p:cNvSpPr/>
          <p:nvPr/>
        </p:nvSpPr>
        <p:spPr>
          <a:xfrm>
            <a:off x="640080"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Dominant unknown</a:t>
            </a:r>
          </a:p>
        </p:txBody>
      </p:sp>
      <p:sp>
        <p:nvSpPr>
          <p:cNvPr id="15" name="TextBox 14"/>
          <p:cNvSpPr txBox="1"/>
          <p:nvPr/>
        </p:nvSpPr>
        <p:spPr>
          <a:xfrm>
            <a:off x="859536"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one fact that would most move it</a:t>
            </a:r>
          </a:p>
        </p:txBody>
      </p:sp>
      <p:sp>
        <p:nvSpPr>
          <p:cNvPr id="16" name="Rounded Rectangle 15"/>
          <p:cNvSpPr/>
          <p:nvPr/>
        </p:nvSpPr>
        <p:spPr>
          <a:xfrm>
            <a:off x="4361688"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Verify first</a:t>
            </a:r>
          </a:p>
        </p:txBody>
      </p:sp>
      <p:sp>
        <p:nvSpPr>
          <p:cNvPr id="18" name="TextBox 17"/>
          <p:cNvSpPr txBox="1"/>
          <p:nvPr/>
        </p:nvSpPr>
        <p:spPr>
          <a:xfrm>
            <a:off x="4581144"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the cheapest next step that cuts risk</a:t>
            </a:r>
          </a:p>
        </p:txBody>
      </p:sp>
      <p:sp>
        <p:nvSpPr>
          <p:cNvPr id="19" name="Rounded Rectangle 18"/>
          <p:cNvSpPr/>
          <p:nvPr/>
        </p:nvSpPr>
        <p:spPr>
          <a:xfrm>
            <a:off x="8083296" y="3200400"/>
            <a:ext cx="3474720" cy="1261872"/>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3346704"/>
            <a:ext cx="3063240" cy="457200"/>
          </a:xfrm>
          <a:prstGeom prst="rect">
            <a:avLst/>
          </a:prstGeom>
          <a:noFill/>
        </p:spPr>
        <p:txBody>
          <a:bodyPr wrap="square" anchor="t" lIns="0" rIns="0" tIns="0" bIns="0">
            <a:spAutoFit/>
          </a:bodyPr>
          <a:lstStyle/>
          <a:p>
            <a:pPr algn="l"/>
            <a:r>
              <a:rPr sz="1700" b="1" i="0">
                <a:solidFill>
                  <a:srgbClr val="4E79A6"/>
                </a:solidFill>
                <a:latin typeface="Arial"/>
              </a:rPr>
              <a:t>What would flip it</a:t>
            </a:r>
          </a:p>
        </p:txBody>
      </p:sp>
      <p:sp>
        <p:nvSpPr>
          <p:cNvPr id="21" name="TextBox 20"/>
          <p:cNvSpPr txBox="1"/>
          <p:nvPr/>
        </p:nvSpPr>
        <p:spPr>
          <a:xfrm>
            <a:off x="8302752" y="3822191"/>
            <a:ext cx="3063240" cy="548640"/>
          </a:xfrm>
          <a:prstGeom prst="rect">
            <a:avLst/>
          </a:prstGeom>
          <a:noFill/>
        </p:spPr>
        <p:txBody>
          <a:bodyPr wrap="square" anchor="t" lIns="0" rIns="0" tIns="0" bIns="0">
            <a:spAutoFit/>
          </a:bodyPr>
          <a:lstStyle/>
          <a:p>
            <a:pPr algn="l"/>
            <a:r>
              <a:rPr sz="1400" b="0" i="0">
                <a:solidFill>
                  <a:srgbClr val="4A453D"/>
                </a:solidFill>
                <a:latin typeface="Arial"/>
              </a:rPr>
              <a:t>“if this is false, the call reverses”</a:t>
            </a:r>
          </a:p>
        </p:txBody>
      </p:sp>
      <p:sp>
        <p:nvSpPr>
          <p:cNvPr id="22" name="Rounded Rectangle 21"/>
          <p:cNvSpPr/>
          <p:nvPr/>
        </p:nvSpPr>
        <p:spPr>
          <a:xfrm>
            <a:off x="640080" y="4983480"/>
            <a:ext cx="10908792" cy="10058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177272" cy="1005840"/>
          </a:xfrm>
          <a:prstGeom prst="rect">
            <a:avLst/>
          </a:prstGeom>
          <a:noFill/>
        </p:spPr>
        <p:txBody>
          <a:bodyPr wrap="square" anchor="ctr" lIns="0" rIns="0" tIns="0" bIns="0">
            <a:spAutoFit/>
          </a:bodyPr>
          <a:lstStyle/>
          <a:p>
            <a:pPr algn="l"/>
            <a:r>
              <a:rPr sz="1800" b="1" i="0">
                <a:solidFill>
                  <a:srgbClr val="FFFFFF"/>
                </a:solidFill>
                <a:latin typeface="Arial"/>
              </a:rPr>
              <a:t>Every hedge names what it depends on. A caveat that points at nothing isn't allowed.</a:t>
            </a:r>
          </a:p>
        </p:txBody>
      </p:sp>
      <p:sp>
        <p:nvSpPr>
          <p:cNvPr id="24" name="TextBox 23"/>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THE INTERFACE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Four commands.</a:t>
            </a:r>
          </a:p>
        </p:txBody>
      </p:sp>
      <p:sp>
        <p:nvSpPr>
          <p:cNvPr id="4" name="Rounded Rectangle 3"/>
          <p:cNvSpPr/>
          <p:nvPr/>
        </p:nvSpPr>
        <p:spPr>
          <a:xfrm>
            <a:off x="640080" y="1783080"/>
            <a:ext cx="5303520" cy="155448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2039112"/>
            <a:ext cx="4663440" cy="548640"/>
          </a:xfrm>
          <a:prstGeom prst="rect">
            <a:avLst/>
          </a:prstGeom>
          <a:noFill/>
        </p:spPr>
        <p:txBody>
          <a:bodyPr wrap="square" anchor="t" lIns="0" rIns="0" tIns="0" bIns="0">
            <a:spAutoFit/>
          </a:bodyPr>
          <a:lstStyle/>
          <a:p>
            <a:pPr algn="l"/>
            <a:r>
              <a:rPr sz="2400" b="1" i="0">
                <a:solidFill>
                  <a:srgbClr val="4E79A6"/>
                </a:solidFill>
                <a:latin typeface="Consolas"/>
              </a:rPr>
              <a:t>/analyse</a:t>
            </a:r>
          </a:p>
        </p:txBody>
      </p:sp>
      <p:sp>
        <p:nvSpPr>
          <p:cNvPr id="6" name="TextBox 5"/>
          <p:cNvSpPr txBox="1"/>
          <p:nvPr/>
        </p:nvSpPr>
        <p:spPr>
          <a:xfrm>
            <a:off x="960119" y="2651760"/>
            <a:ext cx="4663440" cy="594360"/>
          </a:xfrm>
          <a:prstGeom prst="rect">
            <a:avLst/>
          </a:prstGeom>
          <a:noFill/>
        </p:spPr>
        <p:txBody>
          <a:bodyPr wrap="square" anchor="t" lIns="0" rIns="0" tIns="0" bIns="0">
            <a:spAutoFit/>
          </a:bodyPr>
          <a:lstStyle/>
          <a:p>
            <a:pPr algn="l"/>
            <a:r>
              <a:rPr sz="1600" b="0" i="0">
                <a:solidFill>
                  <a:srgbClr val="4A453D"/>
                </a:solidFill>
                <a:latin typeface="Arial"/>
              </a:rPr>
              <a:t>Runs the whole pipeline, end to end.</a:t>
            </a:r>
          </a:p>
        </p:txBody>
      </p:sp>
      <p:sp>
        <p:nvSpPr>
          <p:cNvPr id="7" name="Rounded Rectangle 6"/>
          <p:cNvSpPr/>
          <p:nvPr/>
        </p:nvSpPr>
        <p:spPr>
          <a:xfrm>
            <a:off x="6190488" y="1783080"/>
            <a:ext cx="5303520" cy="155448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0528" y="2039112"/>
            <a:ext cx="4663440" cy="548640"/>
          </a:xfrm>
          <a:prstGeom prst="rect">
            <a:avLst/>
          </a:prstGeom>
          <a:noFill/>
        </p:spPr>
        <p:txBody>
          <a:bodyPr wrap="square" anchor="t" lIns="0" rIns="0" tIns="0" bIns="0">
            <a:spAutoFit/>
          </a:bodyPr>
          <a:lstStyle/>
          <a:p>
            <a:pPr algn="l"/>
            <a:r>
              <a:rPr sz="2400" b="1" i="0">
                <a:solidFill>
                  <a:srgbClr val="4E79A6"/>
                </a:solidFill>
                <a:latin typeface="Consolas"/>
              </a:rPr>
              <a:t>/verify</a:t>
            </a:r>
          </a:p>
        </p:txBody>
      </p:sp>
      <p:sp>
        <p:nvSpPr>
          <p:cNvPr id="9" name="TextBox 8"/>
          <p:cNvSpPr txBox="1"/>
          <p:nvPr/>
        </p:nvSpPr>
        <p:spPr>
          <a:xfrm>
            <a:off x="6510528" y="2651760"/>
            <a:ext cx="4663440" cy="594360"/>
          </a:xfrm>
          <a:prstGeom prst="rect">
            <a:avLst/>
          </a:prstGeom>
          <a:noFill/>
        </p:spPr>
        <p:txBody>
          <a:bodyPr wrap="square" anchor="t" lIns="0" rIns="0" tIns="0" bIns="0">
            <a:spAutoFit/>
          </a:bodyPr>
          <a:lstStyle/>
          <a:p>
            <a:pPr algn="l"/>
            <a:r>
              <a:rPr sz="1600" b="0" i="0">
                <a:solidFill>
                  <a:srgbClr val="4A453D"/>
                </a:solidFill>
                <a:latin typeface="Arial"/>
              </a:rPr>
              <a:t>Fact-checks a set of claims, or a single premise.</a:t>
            </a:r>
          </a:p>
        </p:txBody>
      </p:sp>
      <p:sp>
        <p:nvSpPr>
          <p:cNvPr id="10" name="Rounded Rectangle 9"/>
          <p:cNvSpPr/>
          <p:nvPr/>
        </p:nvSpPr>
        <p:spPr>
          <a:xfrm>
            <a:off x="640080" y="3566160"/>
            <a:ext cx="5303520" cy="155448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822191"/>
            <a:ext cx="4663440" cy="548640"/>
          </a:xfrm>
          <a:prstGeom prst="rect">
            <a:avLst/>
          </a:prstGeom>
          <a:noFill/>
        </p:spPr>
        <p:txBody>
          <a:bodyPr wrap="square" anchor="t" lIns="0" rIns="0" tIns="0" bIns="0">
            <a:spAutoFit/>
          </a:bodyPr>
          <a:lstStyle/>
          <a:p>
            <a:pPr algn="l"/>
            <a:r>
              <a:rPr sz="2400" b="1" i="0">
                <a:solidFill>
                  <a:srgbClr val="4E79A6"/>
                </a:solidFill>
                <a:latin typeface="Consolas"/>
              </a:rPr>
              <a:t>/render</a:t>
            </a:r>
          </a:p>
        </p:txBody>
      </p:sp>
      <p:sp>
        <p:nvSpPr>
          <p:cNvPr id="12" name="TextBox 11"/>
          <p:cNvSpPr txBox="1"/>
          <p:nvPr/>
        </p:nvSpPr>
        <p:spPr>
          <a:xfrm>
            <a:off x="960119" y="4434840"/>
            <a:ext cx="4663440" cy="594360"/>
          </a:xfrm>
          <a:prstGeom prst="rect">
            <a:avLst/>
          </a:prstGeom>
          <a:noFill/>
        </p:spPr>
        <p:txBody>
          <a:bodyPr wrap="square" anchor="t" lIns="0" rIns="0" tIns="0" bIns="0">
            <a:spAutoFit/>
          </a:bodyPr>
          <a:lstStyle/>
          <a:p>
            <a:pPr algn="l"/>
            <a:r>
              <a:rPr sz="1600" b="0" i="0">
                <a:solidFill>
                  <a:srgbClr val="4A453D"/>
                </a:solidFill>
                <a:latin typeface="Arial"/>
              </a:rPr>
              <a:t>Re-voices a finished analysis for a reader — never changing a grade.</a:t>
            </a:r>
          </a:p>
        </p:txBody>
      </p:sp>
      <p:sp>
        <p:nvSpPr>
          <p:cNvPr id="13" name="Rounded Rectangle 12"/>
          <p:cNvSpPr/>
          <p:nvPr/>
        </p:nvSpPr>
        <p:spPr>
          <a:xfrm>
            <a:off x="6190488" y="3566160"/>
            <a:ext cx="5303520" cy="155448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0528" y="3822191"/>
            <a:ext cx="4663440" cy="548640"/>
          </a:xfrm>
          <a:prstGeom prst="rect">
            <a:avLst/>
          </a:prstGeom>
          <a:noFill/>
        </p:spPr>
        <p:txBody>
          <a:bodyPr wrap="square" anchor="t" lIns="0" rIns="0" tIns="0" bIns="0">
            <a:spAutoFit/>
          </a:bodyPr>
          <a:lstStyle/>
          <a:p>
            <a:pPr algn="l"/>
            <a:r>
              <a:rPr sz="2400" b="1" i="0">
                <a:solidFill>
                  <a:srgbClr val="4E79A6"/>
                </a:solidFill>
                <a:latin typeface="Consolas"/>
              </a:rPr>
              <a:t>/track</a:t>
            </a:r>
          </a:p>
        </p:txBody>
      </p:sp>
      <p:sp>
        <p:nvSpPr>
          <p:cNvPr id="15" name="TextBox 14"/>
          <p:cNvSpPr txBox="1"/>
          <p:nvPr/>
        </p:nvSpPr>
        <p:spPr>
          <a:xfrm>
            <a:off x="6510528" y="4434840"/>
            <a:ext cx="4663440" cy="594360"/>
          </a:xfrm>
          <a:prstGeom prst="rect">
            <a:avLst/>
          </a:prstGeom>
          <a:noFill/>
        </p:spPr>
        <p:txBody>
          <a:bodyPr wrap="square" anchor="t" lIns="0" rIns="0" tIns="0" bIns="0">
            <a:spAutoFit/>
          </a:bodyPr>
          <a:lstStyle/>
          <a:p>
            <a:pPr algn="l"/>
            <a:r>
              <a:rPr sz="1600" b="0" i="0">
                <a:solidFill>
                  <a:srgbClr val="4A453D"/>
                </a:solidFill>
                <a:latin typeface="Arial"/>
              </a:rPr>
              <a:t>Keeps an investigation live as new facts arrive.</a:t>
            </a:r>
          </a:p>
        </p:txBody>
      </p:sp>
      <p:sp>
        <p:nvSpPr>
          <p:cNvPr id="16" name="TextBox 1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13/19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OPERATING GUIDE · MODEL CHOICE</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Which model, and when.</a:t>
            </a:r>
          </a:p>
        </p:txBody>
      </p:sp>
      <p:sp>
        <p:nvSpPr>
          <p:cNvPr id="4" name="Rounded Rectangle 3"/>
          <p:cNvSpPr/>
          <p:nvPr/>
        </p:nvSpPr>
        <p:spPr>
          <a:xfrm>
            <a:off x="640080" y="1783080"/>
            <a:ext cx="5440680" cy="27889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4937760" cy="822960"/>
          </a:xfrm>
          <a:prstGeom prst="rect">
            <a:avLst/>
          </a:prstGeom>
          <a:noFill/>
        </p:spPr>
        <p:txBody>
          <a:bodyPr wrap="square" anchor="t" lIns="0" rIns="0" tIns="0" bIns="0">
            <a:spAutoFit/>
          </a:bodyPr>
          <a:lstStyle/>
          <a:p>
            <a:pPr algn="l"/>
            <a:r>
              <a:rPr sz="1900" b="1" i="0">
                <a:solidFill>
                  <a:srgbClr val="4E79A6"/>
                </a:solidFill>
                <a:latin typeface="Arial"/>
              </a:rPr>
              <a:t>Execution — a top-tier frontier model</a:t>
            </a:r>
          </a:p>
        </p:txBody>
      </p:sp>
      <p:sp>
        <p:nvSpPr>
          <p:cNvPr id="6" name="TextBox 5"/>
          <p:cNvSpPr txBox="1"/>
          <p:nvPr/>
        </p:nvSpPr>
        <p:spPr>
          <a:xfrm>
            <a:off x="914400" y="3246120"/>
            <a:ext cx="493776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Nearly every step leans on the model's own reasoning.</a:t>
            </a:r>
          </a:p>
          <a:p>
            <a:pPr algn="l">
              <a:spcAft>
                <a:spcPts val="600"/>
              </a:spcAft>
            </a:pPr>
            <a:r>
              <a:rPr sz="1600" b="1" i="0">
                <a:solidFill>
                  <a:srgbClr val="4E79A6"/>
                </a:solidFill>
                <a:latin typeface="Arial"/>
              </a:rPr>
              <a:t>We ran the engine on Opus 4.8.</a:t>
            </a:r>
          </a:p>
        </p:txBody>
      </p:sp>
      <p:sp>
        <p:nvSpPr>
          <p:cNvPr id="7" name="Rounded Rectangle 6"/>
          <p:cNvSpPr/>
          <p:nvPr/>
        </p:nvSpPr>
        <p:spPr>
          <a:xfrm>
            <a:off x="6263640" y="1783080"/>
            <a:ext cx="5285232" cy="278892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011680"/>
            <a:ext cx="4754880" cy="822960"/>
          </a:xfrm>
          <a:prstGeom prst="rect">
            <a:avLst/>
          </a:prstGeom>
          <a:noFill/>
        </p:spPr>
        <p:txBody>
          <a:bodyPr wrap="square" anchor="t" lIns="0" rIns="0" tIns="0" bIns="0">
            <a:spAutoFit/>
          </a:bodyPr>
          <a:lstStyle/>
          <a:p>
            <a:pPr algn="l"/>
            <a:r>
              <a:rPr sz="1900" b="1" i="0">
                <a:solidFill>
                  <a:srgbClr val="5F7249"/>
                </a:solidFill>
                <a:latin typeface="Arial"/>
              </a:rPr>
              <a:t>High-stakes adjudication — a second, independent frontier model</a:t>
            </a:r>
          </a:p>
        </p:txBody>
      </p:sp>
      <p:sp>
        <p:nvSpPr>
          <p:cNvPr id="9" name="TextBox 8"/>
          <p:cNvSpPr txBox="1"/>
          <p:nvPr/>
        </p:nvSpPr>
        <p:spPr>
          <a:xfrm>
            <a:off x="6537960" y="3246120"/>
            <a:ext cx="4754880" cy="1280160"/>
          </a:xfrm>
          <a:prstGeom prst="rect">
            <a:avLst/>
          </a:prstGeom>
          <a:noFill/>
        </p:spPr>
        <p:txBody>
          <a:bodyPr wrap="square" anchor="t" lIns="0" rIns="0" tIns="0" bIns="0">
            <a:spAutoFit/>
          </a:bodyPr>
          <a:lstStyle/>
          <a:p>
            <a:pPr algn="l">
              <a:spcAft>
                <a:spcPts val="600"/>
              </a:spcAft>
            </a:pPr>
            <a:r>
              <a:rPr sz="1600" b="0" i="0">
                <a:solidFill>
                  <a:srgbClr val="141413"/>
                </a:solidFill>
                <a:latin typeface="Arial"/>
              </a:rPr>
              <a:t>For legal exposure, contested blame, decisions that bind people.</a:t>
            </a:r>
          </a:p>
          <a:p>
            <a:pPr algn="l">
              <a:spcAft>
                <a:spcPts val="600"/>
              </a:spcAft>
            </a:pPr>
            <a:r>
              <a:rPr sz="1600" b="1" i="0">
                <a:solidFill>
                  <a:srgbClr val="5F7249"/>
                </a:solidFill>
                <a:latin typeface="Arial"/>
              </a:rPr>
              <a:t>We used Fable 5 — run blind, then adversarial.</a:t>
            </a:r>
          </a:p>
        </p:txBody>
      </p:sp>
      <p:sp>
        <p:nvSpPr>
          <p:cNvPr id="10" name="Rounded Rectangle 9"/>
          <p:cNvSpPr/>
          <p:nvPr/>
        </p:nvSpPr>
        <p:spPr>
          <a:xfrm>
            <a:off x="640080" y="4754880"/>
            <a:ext cx="10908792" cy="12344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754880"/>
            <a:ext cx="10177272" cy="1234440"/>
          </a:xfrm>
          <a:prstGeom prst="rect">
            <a:avLst/>
          </a:prstGeom>
          <a:noFill/>
        </p:spPr>
        <p:txBody>
          <a:bodyPr wrap="square" anchor="ctr" lIns="0" rIns="0" tIns="0" bIns="0">
            <a:spAutoFit/>
          </a:bodyPr>
          <a:lstStyle/>
          <a:p>
            <a:pPr algn="l"/>
            <a:r>
              <a:rPr sz="1800" b="1" i="0">
                <a:solidFill>
                  <a:srgbClr val="FFFFFF"/>
                </a:solidFill>
                <a:latin typeface="Arial"/>
              </a:rPr>
              <a:t>A rigour-and-defensibility check, not a safety net: it sharpens a sound analysis, safely — but catching what the disciplined first pass missed is unproven.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14/19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STEP 6.5 · RUNNING THE ADJUDICATOR</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Run it as a subagent — blind, then adversarial.</a:t>
            </a:r>
          </a:p>
        </p:txBody>
      </p:sp>
      <p:sp>
        <p:nvSpPr>
          <p:cNvPr id="4" name="Rounded Rectangle 3"/>
          <p:cNvSpPr/>
          <p:nvPr/>
        </p:nvSpPr>
        <p:spPr>
          <a:xfrm>
            <a:off x="640080" y="1691640"/>
            <a:ext cx="5440680"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01952"/>
            <a:ext cx="4937760" cy="457200"/>
          </a:xfrm>
          <a:prstGeom prst="rect">
            <a:avLst/>
          </a:prstGeom>
          <a:noFill/>
        </p:spPr>
        <p:txBody>
          <a:bodyPr wrap="square" anchor="t" lIns="0" rIns="0" tIns="0" bIns="0">
            <a:spAutoFit/>
          </a:bodyPr>
          <a:lstStyle/>
          <a:p>
            <a:pPr algn="l"/>
            <a:r>
              <a:rPr sz="1800" b="1" i="0">
                <a:solidFill>
                  <a:srgbClr val="4E79A6"/>
                </a:solidFill>
                <a:latin typeface="Arial"/>
              </a:rPr>
              <a:t>The mechanism</a:t>
            </a:r>
          </a:p>
        </p:txBody>
      </p:sp>
      <p:sp>
        <p:nvSpPr>
          <p:cNvPr id="6" name="TextBox 5"/>
          <p:cNvSpPr txBox="1"/>
          <p:nvPr/>
        </p:nvSpPr>
        <p:spPr>
          <a:xfrm>
            <a:off x="914400" y="2514600"/>
            <a:ext cx="4937760" cy="2377440"/>
          </a:xfrm>
          <a:prstGeom prst="rect">
            <a:avLst/>
          </a:prstGeom>
          <a:noFill/>
        </p:spPr>
        <p:txBody>
          <a:bodyPr wrap="square" anchor="t" lIns="0" rIns="0" tIns="0" bIns="0">
            <a:spAutoFit/>
          </a:bodyPr>
          <a:lstStyle/>
          <a:p>
            <a:pPr algn="l">
              <a:spcAft>
                <a:spcPts val="700"/>
              </a:spcAft>
            </a:pPr>
            <a:r>
              <a:rPr sz="1500" b="0" i="0">
                <a:solidFill>
                  <a:srgbClr val="141413"/>
                </a:solidFill>
                <a:latin typeface="Arial"/>
              </a:rPr>
              <a:t>• a separate subagent, its own isolated context</a:t>
            </a:r>
          </a:p>
          <a:p>
            <a:pPr algn="l">
              <a:spcAft>
                <a:spcPts val="700"/>
              </a:spcAft>
            </a:pPr>
            <a:r>
              <a:rPr sz="1500" b="0" i="0">
                <a:solidFill>
                  <a:srgbClr val="141413"/>
                </a:solidFill>
                <a:latin typeface="Arial"/>
              </a:rPr>
              <a:t>• fed the facts + the grade-locked spine — not the first model's reasoning</a:t>
            </a:r>
          </a:p>
          <a:p>
            <a:pPr algn="l">
              <a:spcAft>
                <a:spcPts val="700"/>
              </a:spcAft>
            </a:pPr>
            <a:r>
              <a:rPr sz="1500" b="0" i="0">
                <a:solidFill>
                  <a:srgbClr val="141413"/>
                </a:solidFill>
                <a:latin typeface="Arial"/>
              </a:rPr>
              <a:t>• Pass 1 · blind — re-derive: same call?</a:t>
            </a:r>
          </a:p>
          <a:p>
            <a:pPr algn="l">
              <a:spcAft>
                <a:spcPts val="700"/>
              </a:spcAft>
            </a:pPr>
            <a:r>
              <a:rPr sz="1500" b="0" i="0">
                <a:solidFill>
                  <a:srgbClr val="141413"/>
                </a:solidFill>
                <a:latin typeface="Arial"/>
              </a:rPr>
              <a:t>• Pass 2 · adversarial — try to break it</a:t>
            </a:r>
          </a:p>
          <a:p>
            <a:pPr algn="l">
              <a:spcAft>
                <a:spcPts val="700"/>
              </a:spcAft>
            </a:pPr>
            <a:r>
              <a:rPr sz="1500" b="0" i="0">
                <a:solidFill>
                  <a:srgbClr val="141413"/>
                </a:solidFill>
                <a:latin typeface="Arial"/>
              </a:rPr>
              <a:t>• discrepancies fold in under grade-lock; you own the call</a:t>
            </a:r>
          </a:p>
        </p:txBody>
      </p:sp>
      <p:sp>
        <p:nvSpPr>
          <p:cNvPr id="7" name="Rounded Rectangle 6"/>
          <p:cNvSpPr/>
          <p:nvPr/>
        </p:nvSpPr>
        <p:spPr>
          <a:xfrm>
            <a:off x="6263640" y="1691640"/>
            <a:ext cx="5285232" cy="324612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01952"/>
            <a:ext cx="4754880" cy="457200"/>
          </a:xfrm>
          <a:prstGeom prst="rect">
            <a:avLst/>
          </a:prstGeom>
          <a:noFill/>
        </p:spPr>
        <p:txBody>
          <a:bodyPr wrap="square" anchor="t" lIns="0" rIns="0" tIns="0" bIns="0">
            <a:spAutoFit/>
          </a:bodyPr>
          <a:lstStyle/>
          <a:p>
            <a:pPr algn="l"/>
            <a:r>
              <a:rPr sz="1800" b="1" i="0">
                <a:solidFill>
                  <a:srgbClr val="D97757"/>
                </a:solidFill>
                <a:latin typeface="Arial"/>
              </a:rPr>
              <a:t>Which independent adjudicator (strongest first)</a:t>
            </a:r>
          </a:p>
        </p:txBody>
      </p:sp>
      <p:sp>
        <p:nvSpPr>
          <p:cNvPr id="9" name="TextBox 8"/>
          <p:cNvSpPr txBox="1"/>
          <p:nvPr/>
        </p:nvSpPr>
        <p:spPr>
          <a:xfrm>
            <a:off x="6537960" y="2432304"/>
            <a:ext cx="4754880" cy="2468880"/>
          </a:xfrm>
          <a:prstGeom prst="rect">
            <a:avLst/>
          </a:prstGeom>
          <a:noFill/>
        </p:spPr>
        <p:txBody>
          <a:bodyPr wrap="square" anchor="t" lIns="0" rIns="0" tIns="0" bIns="0">
            <a:spAutoFit/>
          </a:bodyPr>
          <a:lstStyle/>
          <a:p>
            <a:pPr algn="l">
              <a:spcAft>
                <a:spcPts val="700"/>
              </a:spcAft>
            </a:pPr>
            <a:r>
              <a:rPr sz="1300" b="0" i="0">
                <a:solidFill>
                  <a:srgbClr val="141413"/>
                </a:solidFill>
                <a:latin typeface="Arial"/>
              </a:rPr>
              <a:t>A · different-LAB model (GPT-5.6 Sol; interim GPT-5.5) — strongest. </a:t>
            </a:r>
            <a:r>
              <a:rPr sz="1300" b="0" i="1">
                <a:solidFill>
                  <a:srgbClr val="7A3F28"/>
                </a:solidFill>
                <a:latin typeface="Arial"/>
              </a:rPr>
              <a:t>Built + live-verified as a harness; opt-in, off by default; data leaves the boundary, off for confidential/legal matters.</a:t>
            </a:r>
          </a:p>
          <a:p>
            <a:pPr algn="l">
              <a:spcAft>
                <a:spcPts val="700"/>
              </a:spcAft>
            </a:pPr>
            <a:r>
              <a:rPr sz="1300" b="0" i="0">
                <a:solidFill>
                  <a:srgbClr val="141413"/>
                </a:solidFill>
                <a:latin typeface="Arial"/>
              </a:rPr>
              <a:t>B · a different in-house model (Fable 5)</a:t>
            </a:r>
          </a:p>
          <a:p>
            <a:pPr algn="l">
              <a:spcAft>
                <a:spcPts val="700"/>
              </a:spcAft>
            </a:pPr>
            <a:r>
              <a:rPr sz="1300" b="0" i="0">
                <a:solidFill>
                  <a:srgbClr val="141413"/>
                </a:solidFill>
                <a:latin typeface="Arial"/>
              </a:rPr>
              <a:t>C · a panel of 2+ blind Opus instances — divergence is the signal</a:t>
            </a:r>
          </a:p>
          <a:p>
            <a:pPr algn="l">
              <a:spcAft>
                <a:spcPts val="700"/>
              </a:spcAft>
            </a:pPr>
            <a:r>
              <a:rPr sz="1300" b="0" i="0">
                <a:solidFill>
                  <a:srgbClr val="141413"/>
                </a:solidFill>
                <a:latin typeface="Arial"/>
              </a:rPr>
              <a:t>D · a self-adversarial reset (weakest)</a:t>
            </a:r>
          </a:p>
        </p:txBody>
      </p:sp>
      <p:sp>
        <p:nvSpPr>
          <p:cNvPr id="10" name="Rounded Rectangle 9"/>
          <p:cNvSpPr/>
          <p:nvPr/>
        </p:nvSpPr>
        <p:spPr>
          <a:xfrm>
            <a:off x="640080" y="5120640"/>
            <a:ext cx="10908792" cy="105156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20640"/>
            <a:ext cx="10177272" cy="1051560"/>
          </a:xfrm>
          <a:prstGeom prst="rect">
            <a:avLst/>
          </a:prstGeom>
          <a:noFill/>
        </p:spPr>
        <p:txBody>
          <a:bodyPr wrap="square" anchor="ctr" lIns="0" rIns="0" tIns="0" bIns="0">
            <a:spAutoFit/>
          </a:bodyPr>
          <a:lstStyle/>
          <a:p>
            <a:pPr algn="l"/>
            <a:r>
              <a:rPr sz="1700" b="1" i="0">
                <a:solidFill>
                  <a:srgbClr val="FFFFFF"/>
                </a:solidFill>
                <a:latin typeface="Arial"/>
              </a:rPr>
              <a:t>Declare the rung reached.  </a:t>
            </a:r>
          </a:p>
          <a:p>
            <a:pPr algn="l"/>
            <a:r>
              <a:rPr sz="1700" b="1" i="0">
                <a:solidFill>
                  <a:srgbClr val="E89078"/>
                </a:solidFill>
                <a:latin typeface="Arial"/>
              </a:rPr>
              <a:t>Same-model agreement is stability, not proof — only a different model catches shared blind spots.</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15/19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WHERE IT ATTACHES</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Spend the frontier model where judgment decides.</a:t>
            </a:r>
          </a:p>
        </p:txBody>
      </p:sp>
      <p:sp>
        <p:nvSpPr>
          <p:cNvPr id="4" name="Rounded Rectangle 3"/>
          <p:cNvSpPr/>
          <p:nvPr/>
        </p:nvSpPr>
        <p:spPr>
          <a:xfrm>
            <a:off x="640080" y="1783080"/>
            <a:ext cx="6720840" cy="30632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11680"/>
            <a:ext cx="6217920" cy="457200"/>
          </a:xfrm>
          <a:prstGeom prst="rect">
            <a:avLst/>
          </a:prstGeom>
          <a:noFill/>
        </p:spPr>
        <p:txBody>
          <a:bodyPr wrap="square" anchor="t" lIns="0" rIns="0" tIns="0" bIns="0">
            <a:spAutoFit/>
          </a:bodyPr>
          <a:lstStyle/>
          <a:p>
            <a:pPr algn="l"/>
            <a:r>
              <a:rPr sz="1800" b="1" i="0">
                <a:solidFill>
                  <a:srgbClr val="5F7249"/>
                </a:solidFill>
                <a:latin typeface="Arial"/>
              </a:rPr>
              <a:t>Sharpens the contested judgments</a:t>
            </a:r>
          </a:p>
        </p:txBody>
      </p:sp>
      <p:sp>
        <p:nvSpPr>
          <p:cNvPr id="6" name="TextBox 5"/>
          <p:cNvSpPr txBox="1"/>
          <p:nvPr/>
        </p:nvSpPr>
        <p:spPr>
          <a:xfrm>
            <a:off x="914400" y="2651760"/>
            <a:ext cx="6217920" cy="210312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load-bearing claims graded weak or uncorroborated</a:t>
            </a:r>
          </a:p>
          <a:p>
            <a:pPr algn="l">
              <a:spcAft>
                <a:spcPts val="500"/>
              </a:spcAft>
            </a:pPr>
            <a:r>
              <a:rPr sz="1600" b="0" i="0">
                <a:solidFill>
                  <a:srgbClr val="141413"/>
                </a:solidFill>
                <a:latin typeface="Arial"/>
              </a:rPr>
              <a:t>• the disconfirmation verdicts</a:t>
            </a:r>
          </a:p>
          <a:p>
            <a:pPr algn="l">
              <a:spcAft>
                <a:spcPts val="500"/>
              </a:spcAft>
            </a:pPr>
            <a:r>
              <a:rPr sz="1600" b="0" i="0">
                <a:solidFill>
                  <a:srgbClr val="141413"/>
                </a:solidFill>
                <a:latin typeface="Arial"/>
              </a:rPr>
              <a:t>• any allocation of blame — where legal cases turn</a:t>
            </a:r>
          </a:p>
          <a:p>
            <a:pPr algn="l">
              <a:spcAft>
                <a:spcPts val="500"/>
              </a:spcAft>
            </a:pPr>
            <a:r>
              <a:rPr sz="1600" b="0" i="0">
                <a:solidFill>
                  <a:srgbClr val="141413"/>
                </a:solidFill>
                <a:latin typeface="Arial"/>
              </a:rPr>
              <a:t>• the value questions at the gate</a:t>
            </a:r>
          </a:p>
          <a:p>
            <a:pPr algn="l">
              <a:spcAft>
                <a:spcPts val="500"/>
              </a:spcAft>
            </a:pPr>
            <a:r>
              <a:rPr sz="1600" b="0" i="0">
                <a:solidFill>
                  <a:srgbClr val="141413"/>
                </a:solidFill>
                <a:latin typeface="Arial"/>
              </a:rPr>
              <a:t>• which loop dominates, in a systems map</a:t>
            </a:r>
          </a:p>
        </p:txBody>
      </p:sp>
      <p:sp>
        <p:nvSpPr>
          <p:cNvPr id="7" name="Rounded Rectangle 6"/>
          <p:cNvSpPr/>
          <p:nvPr/>
        </p:nvSpPr>
        <p:spPr>
          <a:xfrm>
            <a:off x="7589520" y="1783080"/>
            <a:ext cx="3959352" cy="306324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11680"/>
            <a:ext cx="3429000" cy="457200"/>
          </a:xfrm>
          <a:prstGeom prst="rect">
            <a:avLst/>
          </a:prstGeom>
          <a:noFill/>
        </p:spPr>
        <p:txBody>
          <a:bodyPr wrap="square" anchor="t" lIns="0" rIns="0" tIns="0" bIns="0">
            <a:spAutoFit/>
          </a:bodyPr>
          <a:lstStyle/>
          <a:p>
            <a:pPr algn="l"/>
            <a:r>
              <a:rPr sz="1800" b="1" i="0">
                <a:solidFill>
                  <a:srgbClr val="4A453D"/>
                </a:solidFill>
                <a:latin typeface="Arial"/>
              </a:rPr>
              <a:t>Adds little on</a:t>
            </a:r>
          </a:p>
        </p:txBody>
      </p:sp>
      <p:sp>
        <p:nvSpPr>
          <p:cNvPr id="9" name="TextBox 8"/>
          <p:cNvSpPr txBox="1"/>
          <p:nvPr/>
        </p:nvSpPr>
        <p:spPr>
          <a:xfrm>
            <a:off x="7863840" y="2651760"/>
            <a:ext cx="3429000" cy="1828800"/>
          </a:xfrm>
          <a:prstGeom prst="rect">
            <a:avLst/>
          </a:prstGeom>
          <a:noFill/>
        </p:spPr>
        <p:txBody>
          <a:bodyPr wrap="square" anchor="t" lIns="0" rIns="0" tIns="0" bIns="0">
            <a:spAutoFit/>
          </a:bodyPr>
          <a:lstStyle/>
          <a:p>
            <a:pPr algn="l"/>
            <a:r>
              <a:rPr sz="1700" b="0" i="0">
                <a:solidFill>
                  <a:srgbClr val="4A453D"/>
                </a:solidFill>
                <a:latin typeface="Arial"/>
              </a:rPr>
              <a:t>the [V1] facts already confirmed against a primary source — those are settled.</a:t>
            </a:r>
          </a:p>
        </p:txBody>
      </p:sp>
      <p:sp>
        <p:nvSpPr>
          <p:cNvPr id="10" name="Rounded Rectangle 9"/>
          <p:cNvSpPr/>
          <p:nvPr/>
        </p:nvSpPr>
        <p:spPr>
          <a:xfrm>
            <a:off x="640080" y="5029200"/>
            <a:ext cx="10908792" cy="114300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29200"/>
            <a:ext cx="10177272" cy="1143000"/>
          </a:xfrm>
          <a:prstGeom prst="rect">
            <a:avLst/>
          </a:prstGeom>
          <a:noFill/>
        </p:spPr>
        <p:txBody>
          <a:bodyPr wrap="square" anchor="ctr" lIns="0" rIns="0" tIns="0" bIns="0">
            <a:spAutoFit/>
          </a:bodyPr>
          <a:lstStyle/>
          <a:p>
            <a:pPr algn="l"/>
            <a:r>
              <a:rPr sz="1800" b="1" i="0">
                <a:solidFill>
                  <a:srgbClr val="FFFFFF"/>
                </a:solidFill>
                <a:latin typeface="Arial"/>
              </a:rPr>
              <a:t>It reliably sharpens the contested judgments — safely, without reversing a sound call. Rank its objections to the few that change the decision.</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16/19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D97757"/>
                </a:solidFill>
                <a:latin typeface="Arial"/>
              </a:rPr>
              <a:t>MODEL CHOICE · A WEAKER MODEL</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The engine disciplines the model — it doesn't rescue it.</a:t>
            </a:r>
          </a:p>
        </p:txBody>
      </p:sp>
      <p:sp>
        <p:nvSpPr>
          <p:cNvPr id="4" name="Rounded Rectangle 3"/>
          <p:cNvSpPr/>
          <p:nvPr/>
        </p:nvSpPr>
        <p:spPr>
          <a:xfrm>
            <a:off x="640080" y="1783080"/>
            <a:ext cx="5440680" cy="2377440"/>
          </a:xfrm>
          <a:prstGeom prst="roundRect">
            <a:avLst>
              <a:gd name="adj" fmla="val 5500"/>
            </a:avLst>
          </a:prstGeom>
          <a:solidFill>
            <a:srgbClr val="EBEEE2"/>
          </a:solidFill>
          <a:ln w="12700">
            <a:solidFill>
              <a:srgbClr val="5F72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93392"/>
            <a:ext cx="4937760" cy="457200"/>
          </a:xfrm>
          <a:prstGeom prst="rect">
            <a:avLst/>
          </a:prstGeom>
          <a:noFill/>
        </p:spPr>
        <p:txBody>
          <a:bodyPr wrap="square" anchor="t" lIns="0" rIns="0" tIns="0" bIns="0">
            <a:spAutoFit/>
          </a:bodyPr>
          <a:lstStyle/>
          <a:p>
            <a:pPr algn="l"/>
            <a:r>
              <a:rPr sz="1800" b="1" i="0">
                <a:solidFill>
                  <a:srgbClr val="5F7249"/>
                </a:solidFill>
                <a:latin typeface="Arial"/>
              </a:rPr>
              <a:t>Survives — the scaffolding</a:t>
            </a:r>
          </a:p>
        </p:txBody>
      </p:sp>
      <p:sp>
        <p:nvSpPr>
          <p:cNvPr id="6" name="TextBox 5"/>
          <p:cNvSpPr txBox="1"/>
          <p:nvPr/>
        </p:nvSpPr>
        <p:spPr>
          <a:xfrm>
            <a:off x="914400" y="2606040"/>
            <a:ext cx="493776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the forced gate</a:t>
            </a:r>
          </a:p>
          <a:p>
            <a:pPr algn="l">
              <a:spcAft>
                <a:spcPts val="500"/>
              </a:spcAft>
            </a:pPr>
            <a:r>
              <a:rPr sz="1600" b="0" i="0">
                <a:solidFill>
                  <a:srgbClr val="141413"/>
                </a:solidFill>
                <a:latin typeface="Arial"/>
              </a:rPr>
              <a:t>• grades &amp; caveats still travel</a:t>
            </a:r>
          </a:p>
          <a:p>
            <a:pPr algn="l">
              <a:spcAft>
                <a:spcPts val="500"/>
              </a:spcAft>
            </a:pPr>
            <a:r>
              <a:rPr sz="1600" b="0" i="0">
                <a:solidFill>
                  <a:srgbClr val="141413"/>
                </a:solidFill>
                <a:latin typeface="Arial"/>
              </a:rPr>
              <a:t>• audience rendering</a:t>
            </a:r>
          </a:p>
        </p:txBody>
      </p:sp>
      <p:sp>
        <p:nvSpPr>
          <p:cNvPr id="7" name="Rounded Rectangle 6"/>
          <p:cNvSpPr/>
          <p:nvPr/>
        </p:nvSpPr>
        <p:spPr>
          <a:xfrm>
            <a:off x="6263640" y="1783080"/>
            <a:ext cx="5285232" cy="2377440"/>
          </a:xfrm>
          <a:prstGeom prst="roundRect">
            <a:avLst>
              <a:gd name="adj" fmla="val 5500"/>
            </a:avLst>
          </a:prstGeom>
          <a:solidFill>
            <a:srgbClr val="F2DBCE"/>
          </a:solid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993392"/>
            <a:ext cx="4754880" cy="457200"/>
          </a:xfrm>
          <a:prstGeom prst="rect">
            <a:avLst/>
          </a:prstGeom>
          <a:noFill/>
        </p:spPr>
        <p:txBody>
          <a:bodyPr wrap="square" anchor="t" lIns="0" rIns="0" tIns="0" bIns="0">
            <a:spAutoFit/>
          </a:bodyPr>
          <a:lstStyle/>
          <a:p>
            <a:pPr algn="l"/>
            <a:r>
              <a:rPr sz="1800" b="1" i="0">
                <a:solidFill>
                  <a:srgbClr val="D97757"/>
                </a:solidFill>
                <a:latin typeface="Arial"/>
              </a:rPr>
              <a:t>Degrades — what fills it</a:t>
            </a:r>
          </a:p>
        </p:txBody>
      </p:sp>
      <p:sp>
        <p:nvSpPr>
          <p:cNvPr id="9" name="TextBox 8"/>
          <p:cNvSpPr txBox="1"/>
          <p:nvPr/>
        </p:nvSpPr>
        <p:spPr>
          <a:xfrm>
            <a:off x="6537960" y="2606040"/>
            <a:ext cx="4754880" cy="1463040"/>
          </a:xfrm>
          <a:prstGeom prst="rect">
            <a:avLst/>
          </a:prstGeom>
          <a:noFill/>
        </p:spPr>
        <p:txBody>
          <a:bodyPr wrap="square" anchor="t" lIns="0" rIns="0" tIns="0" bIns="0">
            <a:spAutoFit/>
          </a:bodyPr>
          <a:lstStyle/>
          <a:p>
            <a:pPr algn="l">
              <a:spcAft>
                <a:spcPts val="500"/>
              </a:spcAft>
            </a:pPr>
            <a:r>
              <a:rPr sz="1600" b="0" i="0">
                <a:solidFill>
                  <a:srgbClr val="141413"/>
                </a:solidFill>
                <a:latin typeface="Arial"/>
              </a:rPr>
              <a:t>• source tiers less reliable</a:t>
            </a:r>
          </a:p>
          <a:p>
            <a:pPr algn="l">
              <a:spcAft>
                <a:spcPts val="500"/>
              </a:spcAft>
            </a:pPr>
            <a:r>
              <a:rPr sz="1600" b="0" i="0">
                <a:solidFill>
                  <a:srgbClr val="141413"/>
                </a:solidFill>
                <a:latin typeface="Arial"/>
              </a:rPr>
              <a:t>• thinner counter-evidence search</a:t>
            </a:r>
          </a:p>
          <a:p>
            <a:pPr algn="l">
              <a:spcAft>
                <a:spcPts val="500"/>
              </a:spcAft>
            </a:pPr>
            <a:r>
              <a:rPr sz="1600" b="0" i="0">
                <a:solidFill>
                  <a:srgbClr val="141413"/>
                </a:solidFill>
                <a:latin typeface="Arial"/>
              </a:rPr>
              <a:t>• more confident errors, worse at catching them</a:t>
            </a:r>
          </a:p>
        </p:txBody>
      </p:sp>
      <p:sp>
        <p:nvSpPr>
          <p:cNvPr id="10" name="Rounded Rectangle 9"/>
          <p:cNvSpPr/>
          <p:nvPr/>
        </p:nvSpPr>
        <p:spPr>
          <a:xfrm>
            <a:off x="640080" y="4434840"/>
            <a:ext cx="10908792" cy="1463040"/>
          </a:xfrm>
          <a:prstGeom prst="roundRect">
            <a:avLst>
              <a:gd name="adj" fmla="val 55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34840"/>
            <a:ext cx="10177272" cy="1463040"/>
          </a:xfrm>
          <a:prstGeom prst="rect">
            <a:avLst/>
          </a:prstGeom>
          <a:noFill/>
        </p:spPr>
        <p:txBody>
          <a:bodyPr wrap="square" anchor="ctr" lIns="0" rIns="0" tIns="0" bIns="0">
            <a:spAutoFit/>
          </a:bodyPr>
          <a:lstStyle/>
          <a:p>
            <a:pPr algn="l"/>
            <a:r>
              <a:rPr sz="1700" b="1" i="0">
                <a:solidFill>
                  <a:srgbClr val="FFFFFF"/>
                </a:solidFill>
                <a:latin typeface="Arial"/>
              </a:rPr>
              <a:t>The polish is itself a risk — grades and caveats can make a weak answer look more defensible than it is. </a:t>
            </a:r>
          </a:p>
          <a:p>
            <a:pPr algn="l"/>
            <a:r>
              <a:rPr sz="1700" b="1" i="0">
                <a:solidFill>
                  <a:srgbClr val="E89078"/>
                </a:solidFill>
                <a:latin typeface="Arial"/>
              </a:rPr>
              <a:t>The assurance is only as good as the model underneath.</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17/19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658368" y="329184"/>
            <a:ext cx="10881360" cy="365760"/>
          </a:xfrm>
          <a:prstGeom prst="rect">
            <a:avLst/>
          </a:prstGeom>
          <a:noFill/>
        </p:spPr>
        <p:txBody>
          <a:bodyPr wrap="square" anchor="t" lIns="0" rIns="0" tIns="0" bIns="0">
            <a:spAutoFit/>
          </a:bodyPr>
          <a:lstStyle/>
          <a:p>
            <a:pPr algn="l"/>
            <a:r>
              <a:rPr sz="1500" b="1" i="0">
                <a:solidFill>
                  <a:srgbClr val="5F7249"/>
                </a:solidFill>
                <a:latin typeface="Arial"/>
              </a:rPr>
              <a:t>POSITIONING · ICD 203</a:t>
            </a:r>
          </a:p>
        </p:txBody>
      </p:sp>
      <p:sp>
        <p:nvSpPr>
          <p:cNvPr id="3" name="TextBox 2"/>
          <p:cNvSpPr txBox="1"/>
          <p:nvPr/>
        </p:nvSpPr>
        <p:spPr>
          <a:xfrm>
            <a:off x="640080" y="676656"/>
            <a:ext cx="10908792" cy="914400"/>
          </a:xfrm>
          <a:prstGeom prst="rect">
            <a:avLst/>
          </a:prstGeom>
          <a:noFill/>
        </p:spPr>
        <p:txBody>
          <a:bodyPr wrap="square" anchor="t" lIns="0" rIns="0" tIns="0" bIns="0">
            <a:spAutoFit/>
          </a:bodyPr>
          <a:lstStyle/>
          <a:p>
            <a:pPr algn="l"/>
            <a:r>
              <a:rPr sz="3000" b="1" i="0">
                <a:solidFill>
                  <a:srgbClr val="141413"/>
                </a:solidFill>
                <a:latin typeface="Arial"/>
              </a:rPr>
              <a:t>Architected around ICD 203.</a:t>
            </a:r>
          </a:p>
        </p:txBody>
      </p:sp>
      <p:sp>
        <p:nvSpPr>
          <p:cNvPr id="4" name="TextBox 3"/>
          <p:cNvSpPr txBox="1"/>
          <p:nvPr/>
        </p:nvSpPr>
        <p:spPr>
          <a:xfrm>
            <a:off x="640080" y="1965960"/>
            <a:ext cx="6309360" cy="2377440"/>
          </a:xfrm>
          <a:prstGeom prst="rect">
            <a:avLst/>
          </a:prstGeom>
          <a:noFill/>
        </p:spPr>
        <p:txBody>
          <a:bodyPr wrap="square" anchor="t" lIns="0" rIns="0" tIns="0" bIns="0">
            <a:spAutoFit/>
          </a:bodyPr>
          <a:lstStyle/>
          <a:p>
            <a:pPr algn="l"/>
            <a:r>
              <a:rPr sz="1900" b="0" i="0">
                <a:solidFill>
                  <a:srgbClr val="141413"/>
                </a:solidFill>
                <a:latin typeface="Arial"/>
              </a:rPr>
              <a:t>ICD 203 is the U.S. intelligence community's Analytic Standards directive. The engine is built around its nine analytic tradecraft standards — describing source quality, expressing uncertainty, separating evidence from judgment, weighing alternatives.</a:t>
            </a:r>
          </a:p>
        </p:txBody>
      </p:sp>
      <p:sp>
        <p:nvSpPr>
          <p:cNvPr id="5" name="TextBox 4"/>
          <p:cNvSpPr txBox="1"/>
          <p:nvPr/>
        </p:nvSpPr>
        <p:spPr>
          <a:xfrm>
            <a:off x="640080" y="3977639"/>
            <a:ext cx="6309360" cy="1371600"/>
          </a:xfrm>
          <a:prstGeom prst="rect">
            <a:avLst/>
          </a:prstGeom>
          <a:noFill/>
        </p:spPr>
        <p:txBody>
          <a:bodyPr wrap="square" anchor="t" lIns="0" rIns="0" tIns="0" bIns="0">
            <a:spAutoFit/>
          </a:bodyPr>
          <a:lstStyle/>
          <a:p>
            <a:pPr algn="l"/>
            <a:r>
              <a:rPr sz="1600" b="0" i="1">
                <a:solidFill>
                  <a:srgbClr val="4A453D"/>
                </a:solidFill>
                <a:latin typeface="Arial"/>
              </a:rPr>
              <a:t>Architected around the standards and assessed once — not a formal certification. A signal, not a seal.</a:t>
            </a:r>
          </a:p>
        </p:txBody>
      </p:sp>
      <p:sp>
        <p:nvSpPr>
          <p:cNvPr id="6" name="Rounded Rectangle 5"/>
          <p:cNvSpPr/>
          <p:nvPr/>
        </p:nvSpPr>
        <p:spPr>
          <a:xfrm>
            <a:off x="7406640" y="1737360"/>
            <a:ext cx="4142232" cy="4023360"/>
          </a:xfrm>
          <a:prstGeom prst="roundRect">
            <a:avLst>
              <a:gd name="adj" fmla="val 5500"/>
            </a:avLst>
          </a:prstGeom>
          <a:solidFill>
            <a:srgbClr val="FFFFFF"/>
          </a:solidFill>
          <a:ln w="12700">
            <a:solidFill>
              <a:srgbClr val="E4E1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35240" y="2011680"/>
            <a:ext cx="3703320" cy="457200"/>
          </a:xfrm>
          <a:prstGeom prst="rect">
            <a:avLst/>
          </a:prstGeom>
          <a:noFill/>
        </p:spPr>
        <p:txBody>
          <a:bodyPr wrap="square" anchor="t" lIns="0" rIns="0" tIns="0" bIns="0">
            <a:spAutoFit/>
          </a:bodyPr>
          <a:lstStyle/>
          <a:p>
            <a:pPr algn="l"/>
            <a:r>
              <a:rPr sz="1400" b="1" i="0">
                <a:solidFill>
                  <a:srgbClr val="4A453D"/>
                </a:solidFill>
                <a:latin typeface="Arial"/>
              </a:rPr>
              <a:t>BLIND ASSESSMENT · ICD 203</a:t>
            </a:r>
          </a:p>
        </p:txBody>
      </p:sp>
      <p:sp>
        <p:nvSpPr>
          <p:cNvPr id="8" name="TextBox 7"/>
          <p:cNvSpPr txBox="1"/>
          <p:nvPr/>
        </p:nvSpPr>
        <p:spPr>
          <a:xfrm>
            <a:off x="7635240" y="2423160"/>
            <a:ext cx="3703320" cy="1188720"/>
          </a:xfrm>
          <a:prstGeom prst="rect">
            <a:avLst/>
          </a:prstGeom>
          <a:noFill/>
        </p:spPr>
        <p:txBody>
          <a:bodyPr wrap="square" anchor="t" lIns="0" rIns="0" tIns="0" bIns="0">
            <a:spAutoFit/>
          </a:bodyPr>
          <a:lstStyle/>
          <a:p>
            <a:pPr algn="l"/>
            <a:r>
              <a:rPr sz="7200" b="1" i="0">
                <a:solidFill>
                  <a:srgbClr val="5F7249"/>
                </a:solidFill>
                <a:latin typeface="Arial"/>
              </a:rPr>
              <a:t>92%</a:t>
            </a:r>
          </a:p>
        </p:txBody>
      </p:sp>
      <p:sp>
        <p:nvSpPr>
          <p:cNvPr id="9" name="TextBox 8"/>
          <p:cNvSpPr txBox="1"/>
          <p:nvPr/>
        </p:nvSpPr>
        <p:spPr>
          <a:xfrm>
            <a:off x="7635240" y="3611880"/>
            <a:ext cx="3703320" cy="365760"/>
          </a:xfrm>
          <a:prstGeom prst="rect">
            <a:avLst/>
          </a:prstGeom>
          <a:noFill/>
        </p:spPr>
        <p:txBody>
          <a:bodyPr wrap="square" anchor="t" lIns="0" rIns="0" tIns="0" bIns="0">
            <a:spAutoFit/>
          </a:bodyPr>
          <a:lstStyle/>
          <a:p>
            <a:pPr algn="l"/>
            <a:r>
              <a:rPr sz="1600" b="0" i="0">
                <a:solidFill>
                  <a:srgbClr val="141413"/>
                </a:solidFill>
                <a:latin typeface="Arial"/>
              </a:rPr>
              <a:t>the Insight Engine</a:t>
            </a:r>
          </a:p>
        </p:txBody>
      </p:sp>
      <p:sp>
        <p:nvSpPr>
          <p:cNvPr id="10" name="TextBox 9"/>
          <p:cNvSpPr txBox="1"/>
          <p:nvPr/>
        </p:nvSpPr>
        <p:spPr>
          <a:xfrm>
            <a:off x="7635240" y="4297680"/>
            <a:ext cx="3703320" cy="822960"/>
          </a:xfrm>
          <a:prstGeom prst="rect">
            <a:avLst/>
          </a:prstGeom>
          <a:noFill/>
        </p:spPr>
        <p:txBody>
          <a:bodyPr wrap="square" anchor="t" lIns="0" rIns="0" tIns="0" bIns="0">
            <a:spAutoFit/>
          </a:bodyPr>
          <a:lstStyle/>
          <a:p>
            <a:pPr algn="l"/>
            <a:r>
              <a:rPr sz="4000" b="1" i="0">
                <a:solidFill>
                  <a:srgbClr val="4A453D"/>
                </a:solidFill>
                <a:latin typeface="Arial"/>
              </a:rPr>
              <a:t>75%</a:t>
            </a:r>
          </a:p>
        </p:txBody>
      </p:sp>
      <p:sp>
        <p:nvSpPr>
          <p:cNvPr id="11" name="TextBox 10"/>
          <p:cNvSpPr txBox="1"/>
          <p:nvPr/>
        </p:nvSpPr>
        <p:spPr>
          <a:xfrm>
            <a:off x="7635240" y="5074920"/>
            <a:ext cx="3703320" cy="365760"/>
          </a:xfrm>
          <a:prstGeom prst="rect">
            <a:avLst/>
          </a:prstGeom>
          <a:noFill/>
        </p:spPr>
        <p:txBody>
          <a:bodyPr wrap="square" anchor="t" lIns="0" rIns="0" tIns="0" bIns="0">
            <a:spAutoFit/>
          </a:bodyPr>
          <a:lstStyle/>
          <a:p>
            <a:pPr algn="l"/>
            <a:r>
              <a:rPr sz="1600" b="0" i="0">
                <a:solidFill>
                  <a:srgbClr val="4A453D"/>
                </a:solidFill>
                <a:latin typeface="Arial"/>
              </a:rPr>
              <a:t>a strong model unaided</a:t>
            </a:r>
          </a:p>
        </p:txBody>
      </p:sp>
      <p:sp>
        <p:nvSpPr>
          <p:cNvPr id="12" name="TextBox 11"/>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8A8578"/>
                </a:solidFill>
                <a:latin typeface="Arial"/>
              </a:rPr>
              <a:t>18/19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413"/>
        </a:solidFill>
        <a:effectLst/>
      </p:bgPr>
    </p:bg>
    <p:spTree>
      <p:nvGrpSpPr>
        <p:cNvPr id="1" name=""/>
        <p:cNvGrpSpPr/>
        <p:nvPr/>
      </p:nvGrpSpPr>
      <p:grpSpPr/>
      <p:sp>
        <p:nvSpPr>
          <p:cNvPr id="2" name="TextBox 1"/>
          <p:cNvSpPr txBox="1"/>
          <p:nvPr/>
        </p:nvSpPr>
        <p:spPr>
          <a:xfrm>
            <a:off x="822960" y="1920240"/>
            <a:ext cx="10515600" cy="1005840"/>
          </a:xfrm>
          <a:prstGeom prst="rect">
            <a:avLst/>
          </a:prstGeom>
          <a:noFill/>
        </p:spPr>
        <p:txBody>
          <a:bodyPr wrap="square" anchor="t" lIns="0" rIns="0" tIns="0" bIns="0">
            <a:spAutoFit/>
          </a:bodyPr>
          <a:lstStyle/>
          <a:p>
            <a:pPr algn="l"/>
            <a:r>
              <a:rPr sz="4800" b="1" i="0">
                <a:solidFill>
                  <a:srgbClr val="FFFFFF"/>
                </a:solidFill>
                <a:latin typeface="Arial"/>
              </a:rPr>
              <a:t>Bring it your hardest problem.</a:t>
            </a:r>
          </a:p>
        </p:txBody>
      </p:sp>
      <p:sp>
        <p:nvSpPr>
          <p:cNvPr id="3" name="TextBox 2"/>
          <p:cNvSpPr txBox="1"/>
          <p:nvPr/>
        </p:nvSpPr>
        <p:spPr>
          <a:xfrm>
            <a:off x="841248" y="3154680"/>
            <a:ext cx="10058400" cy="1188720"/>
          </a:xfrm>
          <a:prstGeom prst="rect">
            <a:avLst/>
          </a:prstGeom>
          <a:noFill/>
        </p:spPr>
        <p:txBody>
          <a:bodyPr wrap="square" anchor="t" lIns="0" rIns="0" tIns="0" bIns="0">
            <a:spAutoFit/>
          </a:bodyPr>
          <a:lstStyle/>
          <a:p>
            <a:pPr algn="l"/>
            <a:r>
              <a:rPr sz="2000" b="0" i="0">
                <a:solidFill>
                  <a:srgbClr val="FAF9F5"/>
                </a:solidFill>
                <a:latin typeface="Arial"/>
              </a:rPr>
              <a:t>An open plugin for Claude Code &amp; Cowork. Hand it a real problem, let the gate make you take a position — and get back an analysis you can defend.</a:t>
            </a:r>
          </a:p>
        </p:txBody>
      </p:sp>
      <p:sp>
        <p:nvSpPr>
          <p:cNvPr id="4" name="TextBox 3"/>
          <p:cNvSpPr txBox="1"/>
          <p:nvPr/>
        </p:nvSpPr>
        <p:spPr>
          <a:xfrm>
            <a:off x="841248" y="4709160"/>
            <a:ext cx="7315200" cy="548640"/>
          </a:xfrm>
          <a:prstGeom prst="rect">
            <a:avLst/>
          </a:prstGeom>
          <a:noFill/>
        </p:spPr>
        <p:txBody>
          <a:bodyPr wrap="square" anchor="t" lIns="0" rIns="0" tIns="0" bIns="0">
            <a:spAutoFit/>
          </a:bodyPr>
          <a:lstStyle/>
          <a:p>
            <a:pPr algn="l"/>
            <a:r>
              <a:rPr sz="1800" b="1" i="0">
                <a:solidFill>
                  <a:srgbClr val="FFFFFF"/>
                </a:solidFill>
                <a:latin typeface="Consolas"/>
              </a:rPr>
              <a:t>github.com/ComplexAR/Insight-Engine</a:t>
            </a:r>
          </a:p>
        </p:txBody>
      </p:sp>
      <p:sp>
        <p:nvSpPr>
          <p:cNvPr id="5" name="TextBox 4"/>
          <p:cNvSpPr txBox="1"/>
          <p:nvPr/>
        </p:nvSpPr>
        <p:spPr>
          <a:xfrm>
            <a:off x="841248" y="5943600"/>
            <a:ext cx="10424160" cy="457200"/>
          </a:xfrm>
          <a:prstGeom prst="rect">
            <a:avLst/>
          </a:prstGeom>
          <a:noFill/>
        </p:spPr>
        <p:txBody>
          <a:bodyPr wrap="square" anchor="t" lIns="0" rIns="0" tIns="0" bIns="0">
            <a:spAutoFit/>
          </a:bodyPr>
          <a:lstStyle/>
          <a:p>
            <a:pPr algn="l"/>
            <a:r>
              <a:rPr sz="1700" b="0" i="0">
                <a:solidFill>
                  <a:srgbClr val="C9C6BA"/>
                </a:solidFill>
                <a:latin typeface="Arial"/>
              </a:rPr>
              <a:t>The large language model provides the insight; the engine makes it verified, defensible, and audience-ready.</a:t>
            </a:r>
          </a:p>
        </p:txBody>
      </p:sp>
      <p:sp>
        <p:nvSpPr>
          <p:cNvPr id="6" name="TextBox 5"/>
          <p:cNvSpPr txBox="1"/>
          <p:nvPr/>
        </p:nvSpPr>
        <p:spPr>
          <a:xfrm>
            <a:off x="10817352" y="6419088"/>
            <a:ext cx="1005840" cy="301752"/>
          </a:xfrm>
          <a:prstGeom prst="rect">
            <a:avLst/>
          </a:prstGeom>
          <a:noFill/>
        </p:spPr>
        <p:txBody>
          <a:bodyPr wrap="square" anchor="t" lIns="0" rIns="0" tIns="0" bIns="0">
            <a:spAutoFit/>
          </a:bodyPr>
          <a:lstStyle/>
          <a:p>
            <a:pPr algn="r"/>
            <a:r>
              <a:rPr sz="1100" b="0" i="0">
                <a:solidFill>
                  <a:srgbClr val="C9C6BA"/>
                </a:solidFill>
                <a:latin typeface="Arial"/>
              </a:rPr>
              <a:t>19/19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