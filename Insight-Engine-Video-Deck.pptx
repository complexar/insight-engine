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188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Engine</a:t>
            </a:r>
            <a:endParaRPr lang="en-US" sz="5000" dirty="0"/>
          </a:p>
        </p:txBody>
      </p:sp>
      <p:sp>
        <p:nvSpPr>
          <p:cNvPr id="3" name="Text 1"/>
          <p:cNvSpPr/>
          <p:nvPr/>
        </p:nvSpPr>
        <p:spPr>
          <a:xfrm>
            <a:off x="841248" y="21488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you can defend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841248" y="26974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when investigating Complex Scenarios and Wicked Problems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841248" y="352044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B6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stands on · how it's built · how it runs · how you steer it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43434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99A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a Claude Code &amp; Claude Cowork plugin    ·    v0.1.7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966960" y="51755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C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+ ENGINE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part of the name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303520" cy="2542032"/>
          </a:xfrm>
          <a:prstGeom prst="roundRect">
            <a:avLst>
              <a:gd name="adj" fmla="val 2878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27632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— the seeing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14400" y="2157984"/>
            <a:ext cx="4800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out what is actually happening — the cost moved out of view, the party with no say, the assumption no one questions any more. On a capable LLM, most of this comes from the LLM; the engine's fixed questioning aims it where attention does not naturally go.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181344" y="1481328"/>
            <a:ext cx="5367528" cy="2542032"/>
          </a:xfrm>
          <a:prstGeom prst="roundRect">
            <a:avLst>
              <a:gd name="adj" fmla="val 2878"/>
            </a:avLst>
          </a:prstGeom>
          <a:solidFill>
            <a:srgbClr val="E9F5EE"/>
          </a:solidFill>
          <a:ln w="12700">
            <a:solidFill>
              <a:srgbClr val="A9CBB6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55664" y="1627632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 — the processing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55664" y="2157984"/>
            <a:ext cx="48463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Puts each finding through the same steps every time: verify each claim against an outside source, search for what would prove it wrong, separate fact from value, and return the judgement calls to you — then assemble a graded, defensible brief.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10908792" cy="1060704"/>
          </a:xfrm>
          <a:prstGeom prst="roundRect">
            <a:avLst>
              <a:gd name="adj" fmla="val 6897"/>
            </a:avLst>
          </a:prstGeom>
          <a:solidFill>
            <a:srgbClr val="1B2A4A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60120" y="4160520"/>
            <a:ext cx="1024128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establishes what is true and important.  The Engine establishes how strongly it is known — and turns it into an analysis you can defend.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9966960" y="51755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PURPOSE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Insight Engine is built to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828800"/>
            <a:ext cx="310896" cy="310896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78308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the hidden — the material things that sit where attention doesn't go.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31520" y="2697480"/>
            <a:ext cx="310896" cy="310896"/>
          </a:xfrm>
          <a:prstGeom prst="ellipse">
            <a:avLst/>
          </a:prstGeom>
          <a:solidFill>
            <a:srgbClr val="2F7A5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697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65176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conventional analysis misses on complex, ill-defined problems.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31520" y="3566160"/>
            <a:ext cx="310896" cy="310896"/>
          </a:xfrm>
          <a:prstGeom prst="ellipse">
            <a:avLst/>
          </a:prstGeom>
          <a:solidFill>
            <a:srgbClr val="C4781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566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52044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the field for the non-specialist — expert-grade rigour, applied for you.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31520" y="4434840"/>
            <a:ext cx="310896" cy="310896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4434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438912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first, then assurance — every finding verified, graded, and defensible.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9966960" y="51755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APPLIES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scenarios &amp; wicked problems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81328"/>
            <a:ext cx="5303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96112" y="16002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Post-incident &amp; failure reviews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96112" y="1938528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really went wrong, beneath the official account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81344" y="1481328"/>
            <a:ext cx="5303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37376" y="16002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Regulatory, contract &amp; compliance disputes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37376" y="1938528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contested obligations and exposure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395728"/>
            <a:ext cx="5303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96112" y="25146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incidents &amp; threats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6112" y="2852928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reached — and what is still exposed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81344" y="2395728"/>
            <a:ext cx="5303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37376" y="25146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&amp; investment under deep uncertainty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37376" y="2852928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high-stakes calls with mixed, interested evidence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310128"/>
            <a:ext cx="5303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96112" y="34290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Healthcare, infrastructure &amp; policy decisions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96112" y="3767328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third parties are bound by the outcome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81344" y="3310128"/>
            <a:ext cx="5303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37376" y="34290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Financial-crime &amp; AML scoping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37376" y="3767328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 scope, and what is being assumed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4224528"/>
            <a:ext cx="5303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96112" y="43434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Geopolitical &amp; security assessments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96112" y="4681728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forecasts that must not over-claim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181344" y="4224528"/>
            <a:ext cx="530352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437376" y="4343400"/>
            <a:ext cx="4800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&amp; interpersonal conflict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37376" y="4681728"/>
            <a:ext cx="4800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interests and harms beneath the dispute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966960" y="51755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PRINCIPLES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engine stands 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554480"/>
            <a:ext cx="310896" cy="310896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5544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80160" y="1508760"/>
            <a:ext cx="9875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provides the insight; the engine assures it.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31520" y="2322576"/>
            <a:ext cx="310896" cy="310896"/>
          </a:xfrm>
          <a:prstGeom prst="ellipse">
            <a:avLst/>
          </a:prstGeom>
          <a:solidFill>
            <a:srgbClr val="2F7A52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280160" y="2276856"/>
            <a:ext cx="9875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Grade-lock — every claim marked [V] or [N], set once, never silently changed.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31520" y="3090672"/>
            <a:ext cx="310896" cy="310896"/>
          </a:xfrm>
          <a:prstGeom prst="ellipse">
            <a:avLst/>
          </a:prstGeom>
          <a:solidFill>
            <a:srgbClr val="2F7A5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906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3044952"/>
            <a:ext cx="9875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Disconfirmation — it searches for what would prove each claim wrong.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31520" y="3858768"/>
            <a:ext cx="310896" cy="310896"/>
          </a:xfrm>
          <a:prstGeom prst="ellipse">
            <a:avLst/>
          </a:prstGeom>
          <a:solidFill>
            <a:srgbClr val="C4781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858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3813048"/>
            <a:ext cx="9875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separated from value — and the value calls routed to you.</a:t>
            </a:r>
            <a:endParaRPr lang="en-US" sz="1900" dirty="0"/>
          </a:p>
        </p:txBody>
      </p:sp>
      <p:sp>
        <p:nvSpPr>
          <p:cNvPr id="16" name="Shape 14"/>
          <p:cNvSpPr/>
          <p:nvPr/>
        </p:nvSpPr>
        <p:spPr>
          <a:xfrm>
            <a:off x="731520" y="4626864"/>
            <a:ext cx="310896" cy="310896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6268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80160" y="4581144"/>
            <a:ext cx="98755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Proportionate — light by default, deep only when the problem demands it.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966960" y="51755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engine is built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818120" y="384048"/>
            <a:ext cx="3703320" cy="475488"/>
          </a:xfrm>
          <a:prstGeom prst="roundRect">
            <a:avLst>
              <a:gd name="adj" fmla="val 50000"/>
            </a:avLst>
          </a:prstGeom>
          <a:solidFill>
            <a:srgbClr val="EEF4FF"/>
          </a:solidFill>
          <a:ln w="12700">
            <a:solidFill>
              <a:srgbClr val="9CC0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18120" y="384048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Architected to ICD-203 · 9 standards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0908792" cy="457200"/>
          </a:xfrm>
          <a:prstGeom prst="roundRect">
            <a:avLst>
              <a:gd name="adj" fmla="val 50000"/>
            </a:avLst>
          </a:prstGeom>
          <a:solidFill>
            <a:srgbClr val="FDF1DF"/>
          </a:solidFill>
          <a:ln w="12700">
            <a:solidFill>
              <a:srgbClr val="E9C0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A4F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⚑  PROPORTIONALITY TRIAGE  —  decides how much machinery to run at all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057400"/>
            <a:ext cx="10908792" cy="2788920"/>
          </a:xfrm>
          <a:prstGeom prst="roundRect">
            <a:avLst>
              <a:gd name="adj" fmla="val 2623"/>
            </a:avLst>
          </a:prstGeom>
          <a:solidFill>
            <a:srgbClr val="FBFCFE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68680" y="197510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 ENGINE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286000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87552" y="2350008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2C5282"/>
          </a:solidFill>
          <a:ln/>
        </p:spPr>
      </p:sp>
      <p:sp>
        <p:nvSpPr>
          <p:cNvPr id="12" name="Text 10"/>
          <p:cNvSpPr/>
          <p:nvPr/>
        </p:nvSpPr>
        <p:spPr>
          <a:xfrm>
            <a:off x="987552" y="235000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664208" y="2286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Provocation page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914400" y="2834640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E9F5EE"/>
          </a:solidFill>
          <a:ln w="12700">
            <a:solidFill>
              <a:srgbClr val="C9D4E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" y="2898648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2C5282"/>
          </a:solidFill>
          <a:ln/>
        </p:spPr>
      </p:sp>
      <p:sp>
        <p:nvSpPr>
          <p:cNvPr id="16" name="Text 14"/>
          <p:cNvSpPr/>
          <p:nvPr/>
        </p:nvSpPr>
        <p:spPr>
          <a:xfrm>
            <a:off x="987552" y="289864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664208" y="28346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914400" y="3383280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FDF1DF"/>
          </a:solidFill>
          <a:ln w="12700">
            <a:solidFill>
              <a:srgbClr val="C9D4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87552" y="3447288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2C5282"/>
          </a:solidFill>
          <a:ln/>
        </p:spPr>
      </p:sp>
      <p:sp>
        <p:nvSpPr>
          <p:cNvPr id="20" name="Text 18"/>
          <p:cNvSpPr/>
          <p:nvPr/>
        </p:nvSpPr>
        <p:spPr>
          <a:xfrm>
            <a:off x="987552" y="344728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L2.5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64208" y="3383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pass  · conditional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914400" y="3931920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7552" y="3995928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2C5282"/>
          </a:solidFill>
          <a:ln/>
        </p:spPr>
      </p:sp>
      <p:sp>
        <p:nvSpPr>
          <p:cNvPr id="24" name="Text 22"/>
          <p:cNvSpPr/>
          <p:nvPr/>
        </p:nvSpPr>
        <p:spPr>
          <a:xfrm>
            <a:off x="987552" y="399592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664208" y="3931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Deep-core routing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6263640" y="2286000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FDF1DF"/>
          </a:solidFill>
          <a:ln w="19050">
            <a:solidFill>
              <a:srgbClr val="C4781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336792" y="2350008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C4781A"/>
          </a:solidFill>
          <a:ln/>
        </p:spPr>
      </p:sp>
      <p:sp>
        <p:nvSpPr>
          <p:cNvPr id="28" name="Text 26"/>
          <p:cNvSpPr/>
          <p:nvPr/>
        </p:nvSpPr>
        <p:spPr>
          <a:xfrm>
            <a:off x="6336792" y="235000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013448" y="228600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8A4F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forced gate  · YOU</a:t>
            </a:r>
            <a:endParaRPr lang="en-US" sz="1450" dirty="0"/>
          </a:p>
        </p:txBody>
      </p:sp>
      <p:sp>
        <p:nvSpPr>
          <p:cNvPr id="30" name="Shape 28"/>
          <p:cNvSpPr/>
          <p:nvPr/>
        </p:nvSpPr>
        <p:spPr>
          <a:xfrm>
            <a:off x="6263640" y="2834640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336792" y="2898648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2C5282"/>
          </a:solidFill>
          <a:ln/>
        </p:spPr>
      </p:sp>
      <p:sp>
        <p:nvSpPr>
          <p:cNvPr id="32" name="Text 30"/>
          <p:cNvSpPr/>
          <p:nvPr/>
        </p:nvSpPr>
        <p:spPr>
          <a:xfrm>
            <a:off x="6336792" y="289864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013448" y="283464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— the brief</a:t>
            </a:r>
            <a:endParaRPr lang="en-US" sz="1450" dirty="0"/>
          </a:p>
        </p:txBody>
      </p:sp>
      <p:sp>
        <p:nvSpPr>
          <p:cNvPr id="34" name="Shape 32"/>
          <p:cNvSpPr/>
          <p:nvPr/>
        </p:nvSpPr>
        <p:spPr>
          <a:xfrm>
            <a:off x="6263640" y="3383280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36792" y="3447288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2C5282"/>
          </a:solidFill>
          <a:ln/>
        </p:spPr>
      </p:sp>
      <p:sp>
        <p:nvSpPr>
          <p:cNvPr id="36" name="Text 34"/>
          <p:cNvSpPr/>
          <p:nvPr/>
        </p:nvSpPr>
        <p:spPr>
          <a:xfrm>
            <a:off x="6336792" y="344728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013448" y="33832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Rendering</a:t>
            </a:r>
            <a:endParaRPr lang="en-US" sz="1450" dirty="0"/>
          </a:p>
        </p:txBody>
      </p:sp>
      <p:sp>
        <p:nvSpPr>
          <p:cNvPr id="38" name="Shape 36"/>
          <p:cNvSpPr/>
          <p:nvPr/>
        </p:nvSpPr>
        <p:spPr>
          <a:xfrm>
            <a:off x="6263640" y="3931920"/>
            <a:ext cx="507492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336792" y="3995928"/>
            <a:ext cx="566928" cy="329184"/>
          </a:xfrm>
          <a:prstGeom prst="roundRect">
            <a:avLst>
              <a:gd name="adj" fmla="val 13889"/>
            </a:avLst>
          </a:prstGeom>
          <a:solidFill>
            <a:srgbClr val="2C5282"/>
          </a:solidFill>
          <a:ln/>
        </p:spPr>
      </p:sp>
      <p:sp>
        <p:nvSpPr>
          <p:cNvPr id="40" name="Text 38"/>
          <p:cNvSpPr/>
          <p:nvPr/>
        </p:nvSpPr>
        <p:spPr>
          <a:xfrm>
            <a:off x="6336792" y="3995928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L6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013448" y="393192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1450" dirty="0"/>
          </a:p>
        </p:txBody>
      </p:sp>
      <p:sp>
        <p:nvSpPr>
          <p:cNvPr id="42" name="Shape 40"/>
          <p:cNvSpPr/>
          <p:nvPr/>
        </p:nvSpPr>
        <p:spPr>
          <a:xfrm>
            <a:off x="914400" y="4498848"/>
            <a:ext cx="9692640" cy="274320"/>
          </a:xfrm>
          <a:prstGeom prst="roundRect">
            <a:avLst>
              <a:gd name="adj" fmla="val 16667"/>
            </a:avLst>
          </a:prstGeom>
          <a:solidFill>
            <a:srgbClr val="EEF1F5"/>
          </a:solidFill>
          <a:ln w="12700">
            <a:solidFill>
              <a:srgbClr val="BCC7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14400" y="4480560"/>
            <a:ext cx="9692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47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L0  · Strong model — the substrate that provides the insight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40080" y="493776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dirty="0">
                <a:solidFill>
                  <a:srgbClr val="2F7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 together by one invariant: the GRADE-LOCK SPINE — grades set once, never silently changed.</a:t>
            </a:r>
            <a:endParaRPr lang="en-US" sz="1450" dirty="0"/>
          </a:p>
        </p:txBody>
      </p:sp>
      <p:sp>
        <p:nvSpPr>
          <p:cNvPr id="45" name="Text 43"/>
          <p:cNvSpPr/>
          <p:nvPr/>
        </p:nvSpPr>
        <p:spPr>
          <a:xfrm>
            <a:off x="9966960" y="51755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runtime, step by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76479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76856"/>
            <a:ext cx="2249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right-size the effort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505456" y="1746504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2C5282"/>
          </a:solidFill>
          <a:ln/>
        </p:spPr>
      </p:sp>
      <p:sp>
        <p:nvSpPr>
          <p:cNvPr id="8" name="Text 6"/>
          <p:cNvSpPr/>
          <p:nvPr/>
        </p:nvSpPr>
        <p:spPr>
          <a:xfrm>
            <a:off x="2505456" y="17465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36976" y="1600200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‣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547872" y="160020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730752" y="176479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Provocation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730752" y="2276856"/>
            <a:ext cx="2249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what hides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13248" y="1746504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2C5282"/>
          </a:solidFill>
          <a:ln/>
        </p:spPr>
      </p:sp>
      <p:sp>
        <p:nvSpPr>
          <p:cNvPr id="14" name="Text 12"/>
          <p:cNvSpPr/>
          <p:nvPr/>
        </p:nvSpPr>
        <p:spPr>
          <a:xfrm>
            <a:off x="5413248" y="17465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144768" y="1600200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‣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55664" y="160020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E9F5EE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38544" y="176479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38544" y="2276856"/>
            <a:ext cx="2249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every claim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8321040" y="1746504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2C5282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17465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052560" y="1600200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‣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9363456" y="1600200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DF1D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9546336" y="1764792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pass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546336" y="2276856"/>
            <a:ext cx="2249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it's dynamic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11228832" y="1746504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2C5282"/>
          </a:solidFill>
          <a:ln/>
        </p:spPr>
      </p:sp>
      <p:sp>
        <p:nvSpPr>
          <p:cNvPr id="26" name="Text 24"/>
          <p:cNvSpPr/>
          <p:nvPr/>
        </p:nvSpPr>
        <p:spPr>
          <a:xfrm>
            <a:off x="11228832" y="1746504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L2.5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40080" y="3355848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2960" y="352044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Deep-core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2960" y="4032504"/>
            <a:ext cx="2249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aside the un-answerable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2505456" y="3502152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2C5282"/>
          </a:solidFill>
          <a:ln/>
        </p:spPr>
      </p:sp>
      <p:sp>
        <p:nvSpPr>
          <p:cNvPr id="31" name="Text 29"/>
          <p:cNvSpPr/>
          <p:nvPr/>
        </p:nvSpPr>
        <p:spPr>
          <a:xfrm>
            <a:off x="2505456" y="35021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36976" y="3355848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‣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3547872" y="3355848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E9F5EE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3730752" y="352044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Grade-lock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730752" y="4032504"/>
            <a:ext cx="2249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+ stress-test</a:t>
            </a:r>
            <a:endParaRPr lang="en-US" sz="1350" dirty="0"/>
          </a:p>
        </p:txBody>
      </p:sp>
      <p:sp>
        <p:nvSpPr>
          <p:cNvPr id="36" name="Shape 34"/>
          <p:cNvSpPr/>
          <p:nvPr/>
        </p:nvSpPr>
        <p:spPr>
          <a:xfrm>
            <a:off x="5413248" y="3502152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2C5282"/>
          </a:solidFill>
          <a:ln/>
        </p:spPr>
      </p:sp>
      <p:sp>
        <p:nvSpPr>
          <p:cNvPr id="37" name="Text 35"/>
          <p:cNvSpPr/>
          <p:nvPr/>
        </p:nvSpPr>
        <p:spPr>
          <a:xfrm>
            <a:off x="5413248" y="35021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spine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144768" y="3355848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‣</a:t>
            </a:r>
            <a:endParaRPr lang="en-US" sz="2000" dirty="0"/>
          </a:p>
        </p:txBody>
      </p:sp>
      <p:sp>
        <p:nvSpPr>
          <p:cNvPr id="39" name="Shape 37"/>
          <p:cNvSpPr/>
          <p:nvPr/>
        </p:nvSpPr>
        <p:spPr>
          <a:xfrm>
            <a:off x="6455664" y="3355848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DF1DF"/>
          </a:solidFill>
          <a:ln w="25400">
            <a:solidFill>
              <a:srgbClr val="C4781A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638544" y="352044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4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GATE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638544" y="4032504"/>
            <a:ext cx="2249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judgment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8321040" y="3502152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C4781A"/>
          </a:solidFill>
          <a:ln/>
        </p:spPr>
      </p:sp>
      <p:sp>
        <p:nvSpPr>
          <p:cNvPr id="43" name="Text 41"/>
          <p:cNvSpPr/>
          <p:nvPr/>
        </p:nvSpPr>
        <p:spPr>
          <a:xfrm>
            <a:off x="8321040" y="35021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9052560" y="3355848"/>
            <a:ext cx="29260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‣</a:t>
            </a:r>
            <a:endParaRPr lang="en-US" sz="2000" dirty="0"/>
          </a:p>
        </p:txBody>
      </p:sp>
      <p:sp>
        <p:nvSpPr>
          <p:cNvPr id="45" name="Shape 43"/>
          <p:cNvSpPr/>
          <p:nvPr/>
        </p:nvSpPr>
        <p:spPr>
          <a:xfrm>
            <a:off x="9363456" y="3355848"/>
            <a:ext cx="2615184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9546336" y="3520440"/>
            <a:ext cx="17465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brief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546336" y="4032504"/>
            <a:ext cx="224942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  · what flips it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11228832" y="3502152"/>
            <a:ext cx="640080" cy="292608"/>
          </a:xfrm>
          <a:prstGeom prst="roundRect">
            <a:avLst>
              <a:gd name="adj" fmla="val 18750"/>
            </a:avLst>
          </a:prstGeom>
          <a:solidFill>
            <a:srgbClr val="2C5282"/>
          </a:solidFill>
          <a:ln/>
        </p:spPr>
      </p:sp>
      <p:sp>
        <p:nvSpPr>
          <p:cNvPr id="49" name="Text 47"/>
          <p:cNvSpPr/>
          <p:nvPr/>
        </p:nvSpPr>
        <p:spPr>
          <a:xfrm>
            <a:off x="11228832" y="3502152"/>
            <a:ext cx="640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L4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40080" y="5029200"/>
            <a:ext cx="109087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 tags map to the architecture layers (L1–L4); the triage, spine and gate sit alongside them.</a:t>
            </a:r>
            <a:endParaRPr lang="en-US" sz="1500" dirty="0"/>
          </a:p>
        </p:txBody>
      </p:sp>
      <p:sp>
        <p:nvSpPr>
          <p:cNvPr id="51" name="Text 49"/>
          <p:cNvSpPr/>
          <p:nvPr/>
        </p:nvSpPr>
        <p:spPr>
          <a:xfrm>
            <a:off x="9966960" y="51755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478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GATE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questions it puts to you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FDF1DF"/>
          </a:solidFill>
          <a:ln w="12700">
            <a:solidFill>
              <a:srgbClr val="E9C089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70078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4F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1214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really being decided here?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181344" y="155448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FDF1DF"/>
          </a:solidFill>
          <a:ln w="12700">
            <a:solidFill>
              <a:srgbClr val="E9C089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55664" y="170078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4F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Legitimacy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55664" y="212140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bound by this without a say?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288036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FDF1DF"/>
          </a:solidFill>
          <a:ln w="12700">
            <a:solidFill>
              <a:srgbClr val="E9C089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302666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4F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 cost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34472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roads not taken — what is given up?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181344" y="2880360"/>
            <a:ext cx="5303520" cy="1143000"/>
          </a:xfrm>
          <a:prstGeom prst="roundRect">
            <a:avLst>
              <a:gd name="adj" fmla="val 6400"/>
            </a:avLst>
          </a:prstGeom>
          <a:solidFill>
            <a:srgbClr val="FDF1DF"/>
          </a:solidFill>
          <a:ln w="12700">
            <a:solidFill>
              <a:srgbClr val="E9C089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55664" y="3026664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4F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55664" y="3447288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value is being traded against which?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40080" y="4343400"/>
            <a:ext cx="10908792" cy="9144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" y="434340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take a one-line position on each — or defer — and you may override its framing. It will not finalise until you do.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9966960" y="51755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603504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 — and how you steer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53035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C9D4E2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554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brief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2084832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</a:t>
            </a:r>
            <a:endParaRPr lang="en-US" sz="15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— how sure, what changes it</a:t>
            </a:r>
            <a:endParaRPr lang="en-US" sz="15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dominant unknown</a:t>
            </a:r>
            <a:endParaRPr lang="en-US" sz="15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verify first</a:t>
            </a:r>
            <a:endParaRPr lang="en-US" sz="15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would flip the call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181344" y="1417320"/>
            <a:ext cx="5367528" cy="2743200"/>
          </a:xfrm>
          <a:prstGeom prst="roundRect">
            <a:avLst>
              <a:gd name="adj" fmla="val 2667"/>
            </a:avLst>
          </a:prstGeom>
          <a:solidFill>
            <a:srgbClr val="FDF1DF"/>
          </a:solidFill>
          <a:ln w="12700">
            <a:solidFill>
              <a:srgbClr val="E9C089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55664" y="1554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A4F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steer it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55664" y="2084832"/>
            <a:ext cx="48463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the framing at the gate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on any weak grade ([V3] or [N])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— keep it live as new facts arrive</a:t>
            </a:r>
            <a:endParaRPr lang="en-US" sz="155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55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— re-voice for any audience, grades intact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4315968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EEF4FF"/>
          </a:solidFill>
          <a:ln w="12700">
            <a:solidFill>
              <a:srgbClr val="C2D4F0"/>
            </a:solidFill>
            <a:prstDash val="solid"/>
          </a:ln>
          <a:effectLst>
            <a:outerShdw sx="100000" sy="100000" kx="0" ky="0" algn="bl" rotWithShape="0" blurRad="88900" dist="25400" dir="5400000">
              <a:srgbClr val="1B2A4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914400" y="4425696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for a specific reader: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4736592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Adviser / Advocate     ·     Board     ·     Regulator     ·     Counsel     ·     Family     ·     Adversarial opponent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966960" y="51755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5544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Verified. Defensible. Yours to steer.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41248" y="2606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free, open plugin for Claude Code &amp; Cowork.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41248" y="33375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6C2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download from the GitHub repo: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41248" y="3886200"/>
            <a:ext cx="5852160" cy="566928"/>
          </a:xfrm>
          <a:prstGeom prst="roundRect">
            <a:avLst>
              <a:gd name="adj" fmla="val 50000"/>
            </a:avLst>
          </a:prstGeom>
          <a:solidFill>
            <a:srgbClr val="2C5282"/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388620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github.com/ComplexAR/Insight-Engine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966960" y="517550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C97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Insight Engine</dc:creator>
  <cp:lastModifiedBy>Insight Engine</cp:lastModifiedBy>
  <cp:revision>1</cp:revision>
  <dcterms:created xsi:type="dcterms:W3CDTF">2026-06-30T10:45:40Z</dcterms:created>
  <dcterms:modified xsi:type="dcterms:W3CDTF">2026-06-30T10:45:40Z</dcterms:modified>
</cp:coreProperties>
</file>